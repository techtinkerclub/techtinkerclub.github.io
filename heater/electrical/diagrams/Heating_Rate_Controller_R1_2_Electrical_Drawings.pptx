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17"/>
    <p:sldId id="268" r:id="rId18"/>
    <p:sldId id="269" r:id="rId19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5119350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57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5.xml"/><Relationship Id="rId4" Type="http://schemas.openxmlformats.org/officeDocument/2006/relationships/slide" Target="slides/slide6.xml"/><Relationship Id="rId5" Type="http://schemas.openxmlformats.org/officeDocument/2006/relationships/slide" Target="slides/slide7.xml"/><Relationship Id="rId6" Type="http://schemas.openxmlformats.org/officeDocument/2006/relationships/slide" Target="slides/slide8.xml"/><Relationship Id="rId7" Type="http://schemas.openxmlformats.org/officeDocument/2006/relationships/slide" Target="slides/slide9.xml"/><Relationship Id="rId8" Type="http://schemas.openxmlformats.org/officeDocument/2006/relationships/slide" Target="slides/slide10.xml"/><Relationship Id="rId9" Type="http://schemas.openxmlformats.org/officeDocument/2006/relationships/slide" Target="slides/slide11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slide" Target="slides/slide14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hoenixcontact.com/en-gb/products/distributor-terminal-block-ptfix-6x25-ns35-bn-3273010" TargetMode="External"/><Relationship Id="rId3" Type="http://schemas.openxmlformats.org/officeDocument/2006/relationships/hyperlink" Target="https://www.phoenixcontact.com/en-gb/products/distributor-terminal-block-ptfix-6x25-ns35-bu-3273002" TargetMode="External"/><Relationship Id="rId4" Type="http://schemas.openxmlformats.org/officeDocument/2006/relationships/hyperlink" Target="https://www.wago.com/gb/rail-mount-terminal-blocks/4-conductor-ground-terminal-block/p/2002-1407" TargetMode="External"/><Relationship Id="rId5" Type="http://schemas.openxmlformats.org/officeDocument/2006/relationships/hyperlink" Target="https://www.phoenixcontact.com/en-gb/products/distributor-terminal-block-ptfix-6x25-ns35-rd-3273004" TargetMode="External"/><Relationship Id="rId6" Type="http://schemas.openxmlformats.org/officeDocument/2006/relationships/hyperlink" Target="https://www.phoenixcontact.com/en-gb/products/distributor-terminal-block-ptfix-12x25-ns35-gy-3273022" TargetMode="External"/><Relationship Id="rId7" Type="http://schemas.openxmlformats.org/officeDocument/2006/relationships/hyperlink" Target="https://www.phoenixcontact.com/en-gb/products/distributor-terminal-block-ptfix-6x25-ns35-og-3273018" TargetMode="External"/><Relationship Id="rId8" Type="http://schemas.openxmlformats.org/officeDocument/2006/relationships/hyperlink" Target="https://www.phoenixcontact.com/en-gb/products/distributor-terminal-block-ptfix-6x25-ns35-vt-3273016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7.xml"/><Relationship Id="rId3" Type="http://schemas.openxmlformats.org/officeDocument/2006/relationships/hyperlink" Target="https://www.schurter.com/en/pdf/english/typ_dd11.pdf" TargetMode="External"/><Relationship Id="rId4" Type="http://schemas.openxmlformats.org/officeDocument/2006/relationships/hyperlink" Target="https://www.meanwell.co.uk/assets/pdf/XDR-120E.pdf" TargetMode="External"/><Relationship Id="rId5" Type="http://schemas.openxmlformats.org/officeDocument/2006/relationships/hyperlink" Target="https://www.se.com/uk/en/product/XB5AD23/harmony-xb5-selector-switch-plastic-black-%C3%B822-2-positions-stay-put-2-no/" TargetMode="External"/><Relationship Id="rId6" Type="http://schemas.openxmlformats.org/officeDocument/2006/relationships/hyperlink" Target="https://industrial.omron.eu/en/products/E5CC-TQX3A5M-000.pdf" TargetMode="External"/><Relationship Id="rId7" Type="http://schemas.openxmlformats.org/officeDocument/2006/relationships/hyperlink" Target="https://industrial.omron.eu/en/products/E5CC-TQX3A5M-003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eanwell.co.uk/assets/pdf/XDR-120E.pdf" TargetMode="External"/><Relationship Id="rId3" Type="http://schemas.openxmlformats.org/officeDocument/2006/relationships/hyperlink" Target="https://www.se.com/uk/en/product/XB5AD23/harmony-xb5-selector-switch-plastic-black-%C3%B822-2-positions-stay-put-2-no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eao.com/component/82-4151.1134/en/illuminated-pushbutton-16mmsilvercontact" TargetMode="External"/><Relationship Id="rId3" Type="http://schemas.openxmlformats.org/officeDocument/2006/relationships/hyperlink" Target="https://cdn.findernet.com/app/uploads/ZDPENXX1361.pdf" TargetMode="External"/><Relationship Id="rId4" Type="http://schemas.openxmlformats.org/officeDocument/2006/relationships/hyperlink" Target="https://www.cse-distributors.co.uk/sites/admin/plugins/elfinder/files/cse/ExtraDocs/Finder%2062%20Series/Finder%2062%20Series%20Report.pdf" TargetMode="External"/><Relationship Id="rId5" Type="http://schemas.openxmlformats.org/officeDocument/2006/relationships/hyperlink" Target="https://cdn.findernet.com/app/uploads/S62EN.pdf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eao.com/component/82-4151.1134/en/illuminated-pushbutton-16mmsilvercontact" TargetMode="External"/><Relationship Id="rId3" Type="http://schemas.openxmlformats.org/officeDocument/2006/relationships/hyperlink" Target="https://cdn.findernet.com/app/uploads/ZDPENXX1361.pdf" TargetMode="External"/><Relationship Id="rId4" Type="http://schemas.openxmlformats.org/officeDocument/2006/relationships/hyperlink" Target="https://www.cse-distributors.co.uk/sites/admin/plugins/elfinder/files/cse/ExtraDocs/Finder%2062%20Series/Finder%2062%20Series%20Report.pdf" TargetMode="External"/><Relationship Id="rId5" Type="http://schemas.openxmlformats.org/officeDocument/2006/relationships/hyperlink" Target="https://cdn.findernet.com/app/uploads/S62EN.pdf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ndustrial.omron.co.uk/en/products/E5CC-TQX3A5M-000" TargetMode="External"/><Relationship Id="rId3" Type="http://schemas.openxmlformats.org/officeDocument/2006/relationships/hyperlink" Target="https://eshop.weidmueller.com/en/top-12vdc48vdc-01a/p/8950770000" TargetMode="External"/><Relationship Id="rId4" Type="http://schemas.openxmlformats.org/officeDocument/2006/relationships/hyperlink" Target="https://www.sensata.com/sites/default/files/a/sensata-dr22-series-dc-output-din-rail-mount-datasheet.pdf" TargetMode="External"/><Relationship Id="rId5" Type="http://schemas.openxmlformats.org/officeDocument/2006/relationships/hyperlink" Target="https://uk.rs-online.com/web/p/panel-mount-indicators/1301086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ndustrial.omron.co.uk/en/products/E5CC-TQX3A5M-003" TargetMode="External"/><Relationship Id="rId3" Type="http://schemas.openxmlformats.org/officeDocument/2006/relationships/hyperlink" Target="https://eshop.weidmueller.com/en/top-12vdc48vdc-01a/p/8950770000" TargetMode="External"/><Relationship Id="rId4" Type="http://schemas.openxmlformats.org/officeDocument/2006/relationships/hyperlink" Target="https://www.sensata.com/sites/default/files/a/sensata-dr22-series-dc-output-din-rail-mount-datasheet.pdf" TargetMode="External"/><Relationship Id="rId5" Type="http://schemas.openxmlformats.org/officeDocument/2006/relationships/hyperlink" Target="https://uk.rs-online.com/web/p/panel-mount-indicators/1301086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atasheet.lovatoelectric.com/Miniature_and_residual_circuit_breakers/ENG/P1MB1PC16.pdf" TargetMode="External"/><Relationship Id="rId3" Type="http://schemas.openxmlformats.org/officeDocument/2006/relationships/hyperlink" Target="https://cdn.findernet.com/app/uploads/S62EN.pdf" TargetMode="External"/><Relationship Id="rId4" Type="http://schemas.openxmlformats.org/officeDocument/2006/relationships/hyperlink" Target="https://www.sensata.com/sites/default/files/a/sensata-dr22-series-dc-output-din-rail-mount-datasheet.pdf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atasheet.lovatoelectric.com/Miniature_and_residual_circuit_breakers/ENG/P1MB1PC16.pdf" TargetMode="External"/><Relationship Id="rId3" Type="http://schemas.openxmlformats.org/officeDocument/2006/relationships/hyperlink" Target="https://cdn.findernet.com/app/uploads/S62EN.pdf" TargetMode="External"/><Relationship Id="rId4" Type="http://schemas.openxmlformats.org/officeDocument/2006/relationships/hyperlink" Target="https://www.sensata.com/sites/default/files/a/sensata-dr22-series-dc-output-din-rail-mount-datasheet.pdf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churter.com/en/pdf/english/typ_dd11.pdf" TargetMode="External"/><Relationship Id="rId3" Type="http://schemas.openxmlformats.org/officeDocument/2006/relationships/hyperlink" Target="https://www.meanwell.co.uk/assets/pdf/XDR-120E.pdf" TargetMode="External"/><Relationship Id="rId4" Type="http://schemas.openxmlformats.org/officeDocument/2006/relationships/hyperlink" Target="https://www.se.com/uk/en/product/XB5AD23/harmony-xb5-selector-switch-plastic-black-%C3%B822-2-positions-stay-put-2-no/" TargetMode="External"/><Relationship Id="rId5" Type="http://schemas.openxmlformats.org/officeDocument/2006/relationships/hyperlink" Target="https://industrial.omron.co.uk/en/products/E5CC-TQX3A5M-000" TargetMode="External"/><Relationship Id="rId6" Type="http://schemas.openxmlformats.org/officeDocument/2006/relationships/hyperlink" Target="https://www.eao.com/component/82-4151.1134/en/illuminated-pushbutton-16mmsilvercontact" TargetMode="External"/><Relationship Id="rId7" Type="http://schemas.openxmlformats.org/officeDocument/2006/relationships/hyperlink" Target="https://cdn.findernet.com/app/uploads/ZDPENXX1361.pdf" TargetMode="External"/><Relationship Id="rId8" Type="http://schemas.openxmlformats.org/officeDocument/2006/relationships/hyperlink" Target="https://www.cse-distributors.co.uk/sites/admin/plugins/elfinder/files/cse/ExtraDocs/Finder%2062%20Series/Finder%2062%20Series%20Report.pdf" TargetMode="External"/><Relationship Id="rId9" Type="http://schemas.openxmlformats.org/officeDocument/2006/relationships/hyperlink" Target="https://eshop.weidmueller.com/en/top-12vdc48vdc-01a/p/8950770000" TargetMode="External"/><Relationship Id="rId10" Type="http://schemas.openxmlformats.org/officeDocument/2006/relationships/hyperlink" Target="https://www.sensata.com/sites/default/files/a/sensata-dr22-series-dc-output-din-rail-mount-datasheet.pdf" TargetMode="External"/><Relationship Id="rId11" Type="http://schemas.openxmlformats.org/officeDocument/2006/relationships/hyperlink" Target="https://datasheet.lovatoelectric.com/Miniature_and_residual_circuit_breakers/ENG/P1MB1PC16.pdf" TargetMode="External"/><Relationship Id="rId12" Type="http://schemas.openxmlformats.org/officeDocument/2006/relationships/hyperlink" Target="https://cdn.findernet.com/app/uploads/S62EN.pdf" TargetMode="External"/><Relationship Id="rId13" Type="http://schemas.openxmlformats.org/officeDocument/2006/relationships/hyperlink" Target="https://docs.rs-online.com/9e66/0900766b8159e8d3.pdf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15032" cy="10689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3898880" cy="4754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2200" b="1">
                <a:solidFill>
                  <a:srgbClr val="1F344E"/>
                </a:solidFill>
                <a:latin typeface="Aptos"/>
              </a:rPr>
              <a:t>01  /  DISTRIBUTION REQUIREMENTS / PTFIX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380744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60" b="0">
                <a:solidFill>
                  <a:srgbClr val="607084"/>
                </a:solidFill>
                <a:latin typeface="Aptos"/>
              </a:rPr>
              <a:t>Terminal capacity for a complete two-channel installation. Every conductor gets its own connection position.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98448"/>
            <a:ext cx="13551408" cy="36576"/>
          </a:xfrm>
          <a:prstGeom prst="rect">
            <a:avLst/>
          </a:prstGeom>
          <a:solidFill>
            <a:srgbClr val="1D599B"/>
          </a:solidFill>
          <a:ln w="12700">
            <a:solidFill>
              <a:srgbClr val="1D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1490472"/>
            <a:ext cx="13551408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D599B"/>
                </a:solidFill>
                <a:latin typeface="Aptos"/>
              </a:rPr>
              <a:t>ELEVEN SEPARATE GROUPS    /    48 OCCUPIED TERMINALS    /    22 SPARE POSITIONS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9518904"/>
            <a:ext cx="13597128" cy="9144"/>
          </a:xfrm>
          <a:prstGeom prst="rect">
            <a:avLst/>
          </a:prstGeom>
          <a:solidFill>
            <a:srgbClr val="D8E2E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802368"/>
            <a:ext cx="1161288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HEATING RATE CONTROLLER   /   REFERENCE ELECTRICAL WIRING   /   R1.2  ·  26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0" y="9802368"/>
            <a:ext cx="118872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/>
            <a:r>
              <a:rPr sz="860" b="1">
                <a:solidFill>
                  <a:srgbClr val="607084"/>
                </a:solidFill>
                <a:latin typeface="Aptos"/>
              </a:rPr>
              <a:t>SHEET 01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1920240"/>
            <a:ext cx="13222224" cy="393192"/>
          </a:xfrm>
          <a:prstGeom prst="roundRect">
            <a:avLst>
              <a:gd name="adj" fmla="val 6000"/>
            </a:avLst>
          </a:prstGeom>
          <a:solidFill>
            <a:srgbClr val="1F344E"/>
          </a:solidFill>
          <a:ln w="12700">
            <a:solidFill>
              <a:srgbClr val="1F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975104"/>
            <a:ext cx="123444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9696" y="1975104"/>
            <a:ext cx="1993392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975104"/>
            <a:ext cx="4041648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REQUIRED CONNECTIONS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1975104"/>
            <a:ext cx="114300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USED/PORTS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65792" y="1975104"/>
            <a:ext cx="4050791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SPECIFIED DIN DISTRIBUTOR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" y="2350008"/>
            <a:ext cx="13222224" cy="493776"/>
          </a:xfrm>
          <a:prstGeom prst="rect">
            <a:avLst/>
          </a:prstGeom>
          <a:solidFill>
            <a:srgbClr val="F4F7FA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441448"/>
            <a:ext cx="1069848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F344E"/>
                </a:solidFill>
                <a:latin typeface="Aptos"/>
              </a:rPr>
              <a:t>X1-L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39696" y="2441448"/>
            <a:ext cx="201168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80" b="0">
                <a:solidFill>
                  <a:srgbClr val="30465F"/>
                </a:solidFill>
                <a:latin typeface="Aptos"/>
              </a:rPr>
              <a:t>Mains 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441448"/>
            <a:ext cx="3977639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1 inlet + 3 outgoing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441448"/>
            <a:ext cx="100584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F344E"/>
                </a:solidFill>
                <a:latin typeface="Aptos"/>
              </a:rPr>
              <a:t>4 /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65792" y="2441448"/>
            <a:ext cx="3986784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9" b="1">
                <a:solidFill>
                  <a:srgbClr val="1D599B"/>
                </a:solidFill>
                <a:latin typeface="Aptos"/>
                <a:hlinkClick r:id="rId2"/>
              </a:rPr>
              <a:t>6X2.5 NS35 BN · 3273010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" y="2873044"/>
            <a:ext cx="1322222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2964484"/>
            <a:ext cx="1069848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F344E"/>
                </a:solidFill>
                <a:latin typeface="Aptos"/>
              </a:rPr>
              <a:t>X1-N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9696" y="2964484"/>
            <a:ext cx="201168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80" b="0">
                <a:solidFill>
                  <a:srgbClr val="30465F"/>
                </a:solidFill>
                <a:latin typeface="Aptos"/>
              </a:rPr>
              <a:t>Mains 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2964484"/>
            <a:ext cx="3977639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1 inlet + 3 outgoing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964484"/>
            <a:ext cx="100584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F344E"/>
                </a:solidFill>
                <a:latin typeface="Aptos"/>
              </a:rPr>
              <a:t>4 /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2964484"/>
            <a:ext cx="3986784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9" b="1">
                <a:solidFill>
                  <a:srgbClr val="1D599B"/>
                </a:solidFill>
                <a:latin typeface="Aptos"/>
                <a:hlinkClick r:id="rId3"/>
              </a:rPr>
              <a:t>6X2.5 NS35 BU · 3273002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" y="3396081"/>
            <a:ext cx="13222224" cy="493776"/>
          </a:xfrm>
          <a:prstGeom prst="rect">
            <a:avLst/>
          </a:prstGeom>
          <a:solidFill>
            <a:srgbClr val="F4F7FA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3487521"/>
            <a:ext cx="1069848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F344E"/>
                </a:solidFill>
                <a:latin typeface="Aptos"/>
              </a:rPr>
              <a:t>X1-PE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39696" y="3487521"/>
            <a:ext cx="201168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80" b="0">
                <a:solidFill>
                  <a:srgbClr val="30465F"/>
                </a:solidFill>
                <a:latin typeface="Aptos"/>
              </a:rPr>
              <a:t>Protective earth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3487521"/>
            <a:ext cx="3977639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Inlet, PSU, body, door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487521"/>
            <a:ext cx="100584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F344E"/>
                </a:solidFill>
                <a:latin typeface="Aptos"/>
              </a:rPr>
              <a:t>4 /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65792" y="3487521"/>
            <a:ext cx="3986784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9" b="1">
                <a:solidFill>
                  <a:srgbClr val="1D599B"/>
                </a:solidFill>
                <a:latin typeface="Aptos"/>
                <a:hlinkClick r:id="rId4"/>
              </a:rPr>
              <a:t>WAGO 2002-1407 (PE)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" y="3919118"/>
            <a:ext cx="1322222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4010558"/>
            <a:ext cx="1069848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F344E"/>
                </a:solidFill>
                <a:latin typeface="Aptos"/>
              </a:rPr>
              <a:t>X2-24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39696" y="4010558"/>
            <a:ext cx="201168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80" b="0">
                <a:solidFill>
                  <a:srgbClr val="30465F"/>
                </a:solidFill>
                <a:latin typeface="Aptos"/>
              </a:rPr>
              <a:t>Common +24 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4010558"/>
            <a:ext cx="3977639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PSU + two selectors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4010558"/>
            <a:ext cx="100584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F344E"/>
                </a:solidFill>
                <a:latin typeface="Aptos"/>
              </a:rPr>
              <a:t>3 /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65792" y="4010558"/>
            <a:ext cx="3986784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9" b="1">
                <a:solidFill>
                  <a:srgbClr val="1D599B"/>
                </a:solidFill>
                <a:latin typeface="Aptos"/>
                <a:hlinkClick r:id="rId5"/>
              </a:rPr>
              <a:t>6X2.5 NS35 RD · 3273004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6384" y="4442155"/>
            <a:ext cx="13222224" cy="493776"/>
          </a:xfrm>
          <a:prstGeom prst="rect">
            <a:avLst/>
          </a:prstGeom>
          <a:solidFill>
            <a:srgbClr val="F4F7FA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4533595"/>
            <a:ext cx="1069848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F344E"/>
                </a:solidFill>
                <a:latin typeface="Aptos"/>
              </a:rPr>
              <a:t>X2-0V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39696" y="4533595"/>
            <a:ext cx="201168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80" b="0">
                <a:solidFill>
                  <a:srgbClr val="30465F"/>
                </a:solidFill>
                <a:latin typeface="Aptos"/>
              </a:rPr>
              <a:t>Common 0 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400" y="4533595"/>
            <a:ext cx="3977639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PSU + eight returns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4533595"/>
            <a:ext cx="100584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F344E"/>
                </a:solidFill>
                <a:latin typeface="Aptos"/>
              </a:rPr>
              <a:t>9 / 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65792" y="4533595"/>
            <a:ext cx="3986784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9" b="1">
                <a:solidFill>
                  <a:srgbClr val="1D599B"/>
                </a:solidFill>
                <a:latin typeface="Aptos"/>
                <a:hlinkClick r:id="rId6"/>
              </a:rPr>
              <a:t>12X2.5 NS35 GY · 3273022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6384" y="4965192"/>
            <a:ext cx="1322222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" y="5056631"/>
            <a:ext cx="1069848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F344E"/>
                </a:solidFill>
                <a:latin typeface="Aptos"/>
              </a:rPr>
              <a:t>X3-24G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39696" y="5056631"/>
            <a:ext cx="201168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80" b="0">
                <a:solidFill>
                  <a:srgbClr val="30465F"/>
                </a:solidFill>
                <a:latin typeface="Aptos"/>
              </a:rPr>
              <a:t>CH1 gated +24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43400" y="5056631"/>
            <a:ext cx="3977639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S1-B output + 3 loads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5056631"/>
            <a:ext cx="100584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F344E"/>
                </a:solidFill>
                <a:latin typeface="Aptos"/>
              </a:rPr>
              <a:t>4 / 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65792" y="5056631"/>
            <a:ext cx="3986784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9" b="1">
                <a:solidFill>
                  <a:srgbClr val="1D599B"/>
                </a:solidFill>
                <a:latin typeface="Aptos"/>
                <a:hlinkClick r:id="rId5"/>
              </a:rPr>
              <a:t>6X2.5 NS35 RD · 3273004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6384" y="5488228"/>
            <a:ext cx="13222224" cy="493776"/>
          </a:xfrm>
          <a:prstGeom prst="rect">
            <a:avLst/>
          </a:prstGeom>
          <a:solidFill>
            <a:srgbClr val="F4F7FA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6112" y="5579668"/>
            <a:ext cx="1069848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F344E"/>
                </a:solidFill>
                <a:latin typeface="Aptos"/>
              </a:rPr>
              <a:t>X3-EN1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39696" y="5579668"/>
            <a:ext cx="201168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80" b="0">
                <a:solidFill>
                  <a:srgbClr val="30465F"/>
                </a:solidFill>
                <a:latin typeface="Aptos"/>
              </a:rPr>
              <a:t>CH1 enable +24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43400" y="5579668"/>
            <a:ext cx="3977639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Finder 14 + 4 loads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5579668"/>
            <a:ext cx="100584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F344E"/>
                </a:solidFill>
                <a:latin typeface="Aptos"/>
              </a:rPr>
              <a:t>5 / 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65792" y="5579668"/>
            <a:ext cx="3986784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9" b="1">
                <a:solidFill>
                  <a:srgbClr val="1D599B"/>
                </a:solidFill>
                <a:latin typeface="Aptos"/>
                <a:hlinkClick r:id="rId7"/>
              </a:rPr>
              <a:t>6X2.5 NS35 OG · 3273018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6384" y="6011265"/>
            <a:ext cx="1322222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6112" y="6102705"/>
            <a:ext cx="1069848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F344E"/>
                </a:solidFill>
                <a:latin typeface="Aptos"/>
              </a:rPr>
              <a:t>X3-DRV1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39696" y="6102705"/>
            <a:ext cx="201168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80" b="0">
                <a:solidFill>
                  <a:srgbClr val="30465F"/>
                </a:solidFill>
                <a:latin typeface="Aptos"/>
              </a:rPr>
              <a:t>CH1 drive return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43400" y="6102705"/>
            <a:ext cx="3977639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Weidmüller 13 + 2 loads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03920" y="6102705"/>
            <a:ext cx="100584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F344E"/>
                </a:solidFill>
                <a:latin typeface="Aptos"/>
              </a:rPr>
              <a:t>3 / 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65792" y="6102705"/>
            <a:ext cx="3986784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9" b="1">
                <a:solidFill>
                  <a:srgbClr val="1D599B"/>
                </a:solidFill>
                <a:latin typeface="Aptos"/>
                <a:hlinkClick r:id="rId8"/>
              </a:rPr>
              <a:t>6X2.5 NS35 VT · 3273016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6384" y="6534302"/>
            <a:ext cx="13222224" cy="493776"/>
          </a:xfrm>
          <a:prstGeom prst="rect">
            <a:avLst/>
          </a:prstGeom>
          <a:solidFill>
            <a:srgbClr val="F4F7FA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6112" y="6625742"/>
            <a:ext cx="1069848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F344E"/>
                </a:solidFill>
                <a:latin typeface="Aptos"/>
              </a:rPr>
              <a:t>X4-24G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39696" y="6625742"/>
            <a:ext cx="201168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80" b="0">
                <a:solidFill>
                  <a:srgbClr val="30465F"/>
                </a:solidFill>
                <a:latin typeface="Aptos"/>
              </a:rPr>
              <a:t>CH2 gated +24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43400" y="6625742"/>
            <a:ext cx="3977639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S2-B output + 3 loads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03920" y="6625742"/>
            <a:ext cx="100584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F344E"/>
                </a:solidFill>
                <a:latin typeface="Aptos"/>
              </a:rPr>
              <a:t>4 / 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65792" y="6625742"/>
            <a:ext cx="3986784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9" b="1">
                <a:solidFill>
                  <a:srgbClr val="1D599B"/>
                </a:solidFill>
                <a:latin typeface="Aptos"/>
                <a:hlinkClick r:id="rId5"/>
              </a:rPr>
              <a:t>6X2.5 NS35 RD · 3273004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86384" y="7057339"/>
            <a:ext cx="1322222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96112" y="7148779"/>
            <a:ext cx="1069848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F344E"/>
                </a:solidFill>
                <a:latin typeface="Aptos"/>
              </a:rPr>
              <a:t>X4-EN2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39696" y="7148779"/>
            <a:ext cx="201168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80" b="0">
                <a:solidFill>
                  <a:srgbClr val="30465F"/>
                </a:solidFill>
                <a:latin typeface="Aptos"/>
              </a:rPr>
              <a:t>CH2 enable +24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43400" y="7148779"/>
            <a:ext cx="3977639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Finder 14 + 4 loads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03920" y="7148779"/>
            <a:ext cx="100584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F344E"/>
                </a:solidFill>
                <a:latin typeface="Aptos"/>
              </a:rPr>
              <a:t>5 / 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765792" y="7148779"/>
            <a:ext cx="3986784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9" b="1">
                <a:solidFill>
                  <a:srgbClr val="1D599B"/>
                </a:solidFill>
                <a:latin typeface="Aptos"/>
                <a:hlinkClick r:id="rId7"/>
              </a:rPr>
              <a:t>6X2.5 NS35 OG · 3273018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86384" y="7580375"/>
            <a:ext cx="13222224" cy="493776"/>
          </a:xfrm>
          <a:prstGeom prst="rect">
            <a:avLst/>
          </a:prstGeom>
          <a:solidFill>
            <a:srgbClr val="F4F7FA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96112" y="7671815"/>
            <a:ext cx="1069848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F344E"/>
                </a:solidFill>
                <a:latin typeface="Aptos"/>
              </a:rPr>
              <a:t>X4-DRV2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39696" y="7671815"/>
            <a:ext cx="201168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80" b="0">
                <a:solidFill>
                  <a:srgbClr val="30465F"/>
                </a:solidFill>
                <a:latin typeface="Aptos"/>
              </a:rPr>
              <a:t>CH2 drive return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43400" y="7671815"/>
            <a:ext cx="3977639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Weidmüller 13 + 2 loads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03920" y="7671815"/>
            <a:ext cx="100584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F344E"/>
                </a:solidFill>
                <a:latin typeface="Aptos"/>
              </a:rPr>
              <a:t>3 / 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65792" y="7671815"/>
            <a:ext cx="3986784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9" b="1">
                <a:solidFill>
                  <a:srgbClr val="1D599B"/>
                </a:solidFill>
                <a:latin typeface="Aptos"/>
                <a:hlinkClick r:id="rId8"/>
              </a:rPr>
              <a:t>6X2.5 NS35 VT · 3273016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32104" y="8330183"/>
            <a:ext cx="13094208" cy="786384"/>
          </a:xfrm>
          <a:prstGeom prst="roundRect">
            <a:avLst>
              <a:gd name="adj" fmla="val 6000"/>
            </a:avLst>
          </a:prstGeom>
          <a:solidFill>
            <a:srgbClr val="FDF2E3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78408" y="8412480"/>
            <a:ext cx="30175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40" b="1">
                <a:solidFill>
                  <a:srgbClr val="A35B1B"/>
                </a:solidFill>
                <a:latin typeface="Aptos"/>
              </a:rPr>
              <a:t>SPECIFIED DISTRIBUTOR QUANTITIES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886200" y="8394192"/>
            <a:ext cx="9729216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40" b="1">
                <a:solidFill>
                  <a:srgbClr val="1F344E"/>
                </a:solidFill>
                <a:latin typeface="Aptos"/>
              </a:rPr>
              <a:t>PTFIX 6-way: BN ×1; BU ×1; RD ×3; OG ×2; VT ×2.   PTFIX 12-way: GY ×1.   WAGO PE 4-way: ×1.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69264" y="8750808"/>
            <a:ext cx="12545568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40" b="0">
                <a:solidFill>
                  <a:srgbClr val="607084"/>
                </a:solidFill>
                <a:latin typeface="Aptos"/>
              </a:rPr>
              <a:t>Quantities are reference-design pieces, not supplier pack sizes. Separate mains, PE and 24 V wiring.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15032" cy="10689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3898880" cy="4754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2200" b="1">
                <a:solidFill>
                  <a:srgbClr val="1F344E"/>
                </a:solidFill>
                <a:latin typeface="Aptos"/>
              </a:rPr>
              <a:t>02  /  TERMINAL ASSIGNMENTS / MAINS + COMMON DC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380744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60" b="0">
                <a:solidFill>
                  <a:srgbClr val="607084"/>
                </a:solidFill>
                <a:latin typeface="Aptos"/>
              </a:rPr>
              <a:t>Logical identification for the specified DIN terminals. Wire labels are unique within each block.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98448"/>
            <a:ext cx="13551408" cy="36576"/>
          </a:xfrm>
          <a:prstGeom prst="rect">
            <a:avLst/>
          </a:prstGeom>
          <a:solidFill>
            <a:srgbClr val="1D599B"/>
          </a:solidFill>
          <a:ln w="12700">
            <a:solidFill>
              <a:srgbClr val="1D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1490472"/>
            <a:ext cx="13551408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D599B"/>
                </a:solidFill>
                <a:latin typeface="Aptos"/>
              </a:rPr>
              <a:t>X1 = MAINS / PE    •    X2 = COMMON CONTROL SUPPLY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9518904"/>
            <a:ext cx="13597128" cy="9144"/>
          </a:xfrm>
          <a:prstGeom prst="rect">
            <a:avLst/>
          </a:prstGeom>
          <a:solidFill>
            <a:srgbClr val="D8E2E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802368"/>
            <a:ext cx="1161288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HEATING RATE CONTROLLER   /   REFERENCE ELECTRICAL WIRING   /   R1.2  ·  26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0" y="9802368"/>
            <a:ext cx="118872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/>
            <a:r>
              <a:rPr sz="860" b="1">
                <a:solidFill>
                  <a:srgbClr val="607084"/>
                </a:solidFill>
                <a:latin typeface="Aptos"/>
              </a:rPr>
              <a:t>SHEET 02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1874519"/>
            <a:ext cx="6446520" cy="2020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" y="1874519"/>
            <a:ext cx="6446520" cy="384048"/>
          </a:xfrm>
          <a:prstGeom prst="roundRect">
            <a:avLst>
              <a:gd name="adj" fmla="val 6000"/>
            </a:avLst>
          </a:prstGeom>
          <a:solidFill>
            <a:srgbClr val="EEF5FA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911095"/>
            <a:ext cx="2578608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19" b="1">
                <a:solidFill>
                  <a:srgbClr val="1F344E"/>
                </a:solidFill>
                <a:latin typeface="Aptos"/>
              </a:rPr>
              <a:t>X1-L  /  MAINS 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8786" y="1920239"/>
            <a:ext cx="3545586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084"/>
                </a:solidFill>
                <a:latin typeface="Aptos"/>
              </a:rPr>
              <a:t>6 terminals, 4 used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" y="2313432"/>
            <a:ext cx="6245352" cy="363473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2322575"/>
            <a:ext cx="585216" cy="34518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1">
                <a:solidFill>
                  <a:srgbClr val="1D599B"/>
                </a:solidFill>
                <a:latin typeface="Aptos"/>
              </a:rPr>
              <a:t>L.1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9072" y="2322575"/>
            <a:ext cx="5413248" cy="34518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40" b="0">
                <a:solidFill>
                  <a:srgbClr val="30465F"/>
                </a:solidFill>
                <a:latin typeface="Aptos"/>
              </a:rPr>
              <a:t>J1 switched/fused AC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" y="2686049"/>
            <a:ext cx="585216" cy="34518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1">
                <a:solidFill>
                  <a:srgbClr val="1D599B"/>
                </a:solidFill>
                <a:latin typeface="Aptos"/>
              </a:rPr>
              <a:t>L.2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2686049"/>
            <a:ext cx="5413248" cy="34518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40" b="0">
                <a:solidFill>
                  <a:srgbClr val="30465F"/>
                </a:solidFill>
                <a:latin typeface="Aptos"/>
              </a:rPr>
              <a:t>PS1:C1 (L)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" y="3040379"/>
            <a:ext cx="6245352" cy="363473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3049523"/>
            <a:ext cx="585216" cy="34518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1">
                <a:solidFill>
                  <a:srgbClr val="1D599B"/>
                </a:solidFill>
                <a:latin typeface="Aptos"/>
              </a:rPr>
              <a:t>L.3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19072" y="3049523"/>
            <a:ext cx="5413248" cy="34518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40" b="0">
                <a:solidFill>
                  <a:srgbClr val="30465F"/>
                </a:solidFill>
                <a:latin typeface="Aptos"/>
              </a:rPr>
              <a:t>S1-A:13, Omron E1 feed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" y="3412997"/>
            <a:ext cx="585216" cy="34518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1">
                <a:solidFill>
                  <a:srgbClr val="1D599B"/>
                </a:solidFill>
                <a:latin typeface="Aptos"/>
              </a:rPr>
              <a:t>L.4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19072" y="3412997"/>
            <a:ext cx="5413248" cy="34518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40" b="0">
                <a:solidFill>
                  <a:srgbClr val="30465F"/>
                </a:solidFill>
                <a:latin typeface="Aptos"/>
              </a:rPr>
              <a:t>S2-A:13, Omron E2 feed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34072" y="1874519"/>
            <a:ext cx="6446520" cy="2020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34072" y="1874519"/>
            <a:ext cx="6446520" cy="384048"/>
          </a:xfrm>
          <a:prstGeom prst="roundRect">
            <a:avLst>
              <a:gd name="adj" fmla="val 6000"/>
            </a:avLst>
          </a:prstGeom>
          <a:solidFill>
            <a:srgbClr val="EEF5FA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52944" y="1911095"/>
            <a:ext cx="2578608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19" b="1">
                <a:solidFill>
                  <a:srgbClr val="1F344E"/>
                </a:solidFill>
                <a:latin typeface="Aptos"/>
              </a:rPr>
              <a:t>X1-N  /  MAINS NEUTRAL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1610" y="1920239"/>
            <a:ext cx="3545586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084"/>
                </a:solidFill>
                <a:latin typeface="Aptos"/>
              </a:rPr>
              <a:t>6 terminals, 4 used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34656" y="2313432"/>
            <a:ext cx="6245352" cy="363473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2322575"/>
            <a:ext cx="585216" cy="34518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1">
                <a:solidFill>
                  <a:srgbClr val="1D599B"/>
                </a:solidFill>
                <a:latin typeface="Aptos"/>
              </a:rPr>
              <a:t>N.1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1896" y="2322575"/>
            <a:ext cx="5413248" cy="34518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40" b="0">
                <a:solidFill>
                  <a:srgbClr val="30465F"/>
                </a:solidFill>
                <a:latin typeface="Aptos"/>
              </a:rPr>
              <a:t>J1 switched AC neutral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2686049"/>
            <a:ext cx="585216" cy="34518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1">
                <a:solidFill>
                  <a:srgbClr val="1D599B"/>
                </a:solidFill>
                <a:latin typeface="Aptos"/>
              </a:rPr>
              <a:t>N.2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1896" y="2686049"/>
            <a:ext cx="5413248" cy="34518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40" b="0">
                <a:solidFill>
                  <a:srgbClr val="30465F"/>
                </a:solidFill>
                <a:latin typeface="Aptos"/>
              </a:rPr>
              <a:t>PS1:C2 (N)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34656" y="3040379"/>
            <a:ext cx="6245352" cy="363473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0" y="3049523"/>
            <a:ext cx="585216" cy="34518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1">
                <a:solidFill>
                  <a:srgbClr val="1D599B"/>
                </a:solidFill>
                <a:latin typeface="Aptos"/>
              </a:rPr>
              <a:t>N.3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1896" y="3049523"/>
            <a:ext cx="5413248" cy="34518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40" b="0">
                <a:solidFill>
                  <a:srgbClr val="30465F"/>
                </a:solidFill>
                <a:latin typeface="Aptos"/>
              </a:rPr>
              <a:t>Omron E1:12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3412997"/>
            <a:ext cx="585216" cy="34518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1">
                <a:solidFill>
                  <a:srgbClr val="1D599B"/>
                </a:solidFill>
                <a:latin typeface="Aptos"/>
              </a:rPr>
              <a:t>N.4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1896" y="3412997"/>
            <a:ext cx="5413248" cy="34518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40" b="0">
                <a:solidFill>
                  <a:srgbClr val="30465F"/>
                </a:solidFill>
                <a:latin typeface="Aptos"/>
              </a:rPr>
              <a:t>Omron E2:12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1248" y="4078224"/>
            <a:ext cx="6446520" cy="2029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41248" y="4078224"/>
            <a:ext cx="6446520" cy="384048"/>
          </a:xfrm>
          <a:prstGeom prst="roundRect">
            <a:avLst>
              <a:gd name="adj" fmla="val 6000"/>
            </a:avLst>
          </a:prstGeom>
          <a:solidFill>
            <a:srgbClr val="EEF5FA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4114800"/>
            <a:ext cx="2578608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19" b="1">
                <a:solidFill>
                  <a:srgbClr val="1F344E"/>
                </a:solidFill>
                <a:latin typeface="Aptos"/>
              </a:rPr>
              <a:t>X1-PE  /  PROTECTIVE EARTH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48786" y="4123944"/>
            <a:ext cx="3545586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084"/>
                </a:solidFill>
                <a:latin typeface="Aptos"/>
              </a:rPr>
              <a:t>4 positions, 4 used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1832" y="4517136"/>
            <a:ext cx="6245352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6696" y="4526279"/>
            <a:ext cx="585216" cy="3474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1">
                <a:solidFill>
                  <a:srgbClr val="1D599B"/>
                </a:solidFill>
                <a:latin typeface="Aptos"/>
              </a:rPr>
              <a:t>PE.1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19072" y="4526279"/>
            <a:ext cx="5413248" cy="3474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40" b="0">
                <a:solidFill>
                  <a:srgbClr val="30465F"/>
                </a:solidFill>
                <a:latin typeface="Aptos"/>
              </a:rPr>
              <a:t>J1 inlet PE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" y="4892040"/>
            <a:ext cx="585216" cy="3474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1">
                <a:solidFill>
                  <a:srgbClr val="1D599B"/>
                </a:solidFill>
                <a:latin typeface="Aptos"/>
              </a:rPr>
              <a:t>PE.2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19072" y="4892040"/>
            <a:ext cx="5413248" cy="3474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40" b="0">
                <a:solidFill>
                  <a:srgbClr val="30465F"/>
                </a:solidFill>
                <a:latin typeface="Aptos"/>
              </a:rPr>
              <a:t>PS1:C3 (PE)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1832" y="5248655"/>
            <a:ext cx="6245352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696" y="5257799"/>
            <a:ext cx="585216" cy="3474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1">
                <a:solidFill>
                  <a:srgbClr val="1D599B"/>
                </a:solidFill>
                <a:latin typeface="Aptos"/>
              </a:rPr>
              <a:t>PE.3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19072" y="5257799"/>
            <a:ext cx="5413248" cy="3474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40" b="0">
                <a:solidFill>
                  <a:srgbClr val="30465F"/>
                </a:solidFill>
                <a:latin typeface="Aptos"/>
              </a:rPr>
              <a:t>Cabinet metalwork bonding lead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696" y="5623559"/>
            <a:ext cx="585216" cy="3474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1">
                <a:solidFill>
                  <a:srgbClr val="1D599B"/>
                </a:solidFill>
                <a:latin typeface="Aptos"/>
              </a:rPr>
              <a:t>PE.4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19072" y="5623559"/>
            <a:ext cx="5413248" cy="3474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40" b="0">
                <a:solidFill>
                  <a:srgbClr val="30465F"/>
                </a:solidFill>
                <a:latin typeface="Aptos"/>
              </a:rPr>
              <a:t>Flexible door bonding strap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34072" y="4078224"/>
            <a:ext cx="6446520" cy="2029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434072" y="4078224"/>
            <a:ext cx="6446520" cy="384048"/>
          </a:xfrm>
          <a:prstGeom prst="roundRect">
            <a:avLst>
              <a:gd name="adj" fmla="val 6000"/>
            </a:avLst>
          </a:prstGeom>
          <a:solidFill>
            <a:srgbClr val="EEF5FA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52944" y="4114800"/>
            <a:ext cx="2578608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19" b="1">
                <a:solidFill>
                  <a:srgbClr val="1F344E"/>
                </a:solidFill>
                <a:latin typeface="Aptos"/>
              </a:rPr>
              <a:t>X2-24  /  UNSWITCHED +24 V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41610" y="4123944"/>
            <a:ext cx="3545586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084"/>
                </a:solidFill>
                <a:latin typeface="Aptos"/>
              </a:rPr>
              <a:t>6 terminals, 3 used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34656" y="4517136"/>
            <a:ext cx="6245352" cy="4876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89520" y="4526279"/>
            <a:ext cx="585216" cy="4693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1">
                <a:solidFill>
                  <a:srgbClr val="1D599B"/>
                </a:solidFill>
                <a:latin typeface="Aptos"/>
              </a:rPr>
              <a:t>24.1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11896" y="4526279"/>
            <a:ext cx="5413248" cy="4693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40" b="0">
                <a:solidFill>
                  <a:srgbClr val="30465F"/>
                </a:solidFill>
                <a:latin typeface="Aptos"/>
              </a:rPr>
              <a:t>PS1:A1 (+Vo)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89520" y="5013959"/>
            <a:ext cx="585216" cy="4693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1">
                <a:solidFill>
                  <a:srgbClr val="1D599B"/>
                </a:solidFill>
                <a:latin typeface="Aptos"/>
              </a:rPr>
              <a:t>24.2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11896" y="5013959"/>
            <a:ext cx="5413248" cy="4693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40" b="0">
                <a:solidFill>
                  <a:srgbClr val="30465F"/>
                </a:solidFill>
                <a:latin typeface="Aptos"/>
              </a:rPr>
              <a:t>S1-B:23 (CH1 selector)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34656" y="5492495"/>
            <a:ext cx="6245352" cy="4876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89520" y="5501639"/>
            <a:ext cx="585216" cy="4693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1">
                <a:solidFill>
                  <a:srgbClr val="1D599B"/>
                </a:solidFill>
                <a:latin typeface="Aptos"/>
              </a:rPr>
              <a:t>24.3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11896" y="5501639"/>
            <a:ext cx="5413248" cy="4693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40" b="0">
                <a:solidFill>
                  <a:srgbClr val="30465F"/>
                </a:solidFill>
                <a:latin typeface="Aptos"/>
              </a:rPr>
              <a:t>S2-B:23 (CH2 selector)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41248" y="6300216"/>
            <a:ext cx="13039344" cy="2660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41248" y="6300216"/>
            <a:ext cx="13039344" cy="384048"/>
          </a:xfrm>
          <a:prstGeom prst="roundRect">
            <a:avLst>
              <a:gd name="adj" fmla="val 6000"/>
            </a:avLst>
          </a:prstGeom>
          <a:solidFill>
            <a:srgbClr val="EEF5FA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0120" y="6336792"/>
            <a:ext cx="5215737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19" b="1">
                <a:solidFill>
                  <a:srgbClr val="1F344E"/>
                </a:solidFill>
                <a:latin typeface="Aptos"/>
              </a:rPr>
              <a:t>X2-0V  /  COMMON 0 V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17772" y="6345936"/>
            <a:ext cx="7171639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084"/>
                </a:solidFill>
                <a:latin typeface="Aptos"/>
              </a:rPr>
              <a:t>12 terminals, 9 used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1832" y="6739127"/>
            <a:ext cx="12838176" cy="232664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96696" y="6748271"/>
            <a:ext cx="585216" cy="2143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1">
                <a:solidFill>
                  <a:srgbClr val="1D599B"/>
                </a:solidFill>
                <a:latin typeface="Aptos"/>
              </a:rPr>
              <a:t>0V.1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19072" y="6748271"/>
            <a:ext cx="12006072" cy="2143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40" b="0">
                <a:solidFill>
                  <a:srgbClr val="30465F"/>
                </a:solidFill>
                <a:latin typeface="Aptos"/>
              </a:rPr>
              <a:t>PS1:A2 or A3 (−Vo)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96696" y="6980935"/>
            <a:ext cx="585216" cy="2143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1">
                <a:solidFill>
                  <a:srgbClr val="1D599B"/>
                </a:solidFill>
                <a:latin typeface="Aptos"/>
              </a:rPr>
              <a:t>0V.2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719072" y="6980935"/>
            <a:ext cx="12006072" cy="2143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40" b="0">
                <a:solidFill>
                  <a:srgbClr val="30465F"/>
                </a:solidFill>
                <a:latin typeface="Aptos"/>
              </a:rPr>
              <a:t>K1:N/−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41832" y="7204455"/>
            <a:ext cx="12838176" cy="232664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96696" y="7213599"/>
            <a:ext cx="585216" cy="2143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1">
                <a:solidFill>
                  <a:srgbClr val="1D599B"/>
                </a:solidFill>
                <a:latin typeface="Aptos"/>
              </a:rPr>
              <a:t>0V.3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719072" y="7213599"/>
            <a:ext cx="12006072" cy="2143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40" b="0">
                <a:solidFill>
                  <a:srgbClr val="30465F"/>
                </a:solidFill>
                <a:latin typeface="Aptos"/>
              </a:rPr>
              <a:t>SK3:A2 (62.31 coil)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6696" y="7446263"/>
            <a:ext cx="585216" cy="2143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1">
                <a:solidFill>
                  <a:srgbClr val="1D599B"/>
                </a:solidFill>
                <a:latin typeface="Aptos"/>
              </a:rPr>
              <a:t>0V.4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719072" y="7446263"/>
            <a:ext cx="12006072" cy="2143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40" b="0">
                <a:solidFill>
                  <a:srgbClr val="30465F"/>
                </a:solidFill>
                <a:latin typeface="Aptos"/>
              </a:rPr>
              <a:t>SB1:LED−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41832" y="7669784"/>
            <a:ext cx="12838176" cy="232664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96696" y="7678928"/>
            <a:ext cx="585216" cy="2143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1">
                <a:solidFill>
                  <a:srgbClr val="1D599B"/>
                </a:solidFill>
                <a:latin typeface="Aptos"/>
              </a:rPr>
              <a:t>0V.5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719072" y="7678928"/>
            <a:ext cx="12006072" cy="2143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40" b="0">
                <a:solidFill>
                  <a:srgbClr val="30465F"/>
                </a:solidFill>
                <a:latin typeface="Aptos"/>
              </a:rPr>
              <a:t>W1:14(−)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96696" y="7911591"/>
            <a:ext cx="585216" cy="2143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1">
                <a:solidFill>
                  <a:srgbClr val="1D599B"/>
                </a:solidFill>
                <a:latin typeface="Aptos"/>
              </a:rPr>
              <a:t>0V.6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719072" y="7911591"/>
            <a:ext cx="12006072" cy="2143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40" b="0">
                <a:solidFill>
                  <a:srgbClr val="30465F"/>
                </a:solidFill>
                <a:latin typeface="Aptos"/>
              </a:rPr>
              <a:t>K2:N/−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41832" y="8135112"/>
            <a:ext cx="12838176" cy="232664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96696" y="8144256"/>
            <a:ext cx="585216" cy="2143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1">
                <a:solidFill>
                  <a:srgbClr val="1D599B"/>
                </a:solidFill>
                <a:latin typeface="Aptos"/>
              </a:rPr>
              <a:t>0V.7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719072" y="8144256"/>
            <a:ext cx="12006072" cy="2143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40" b="0">
                <a:solidFill>
                  <a:srgbClr val="30465F"/>
                </a:solidFill>
                <a:latin typeface="Aptos"/>
              </a:rPr>
              <a:t>SK4:A2 (62.31 coil)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96696" y="8376919"/>
            <a:ext cx="585216" cy="2143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1">
                <a:solidFill>
                  <a:srgbClr val="1D599B"/>
                </a:solidFill>
                <a:latin typeface="Aptos"/>
              </a:rPr>
              <a:t>0V.8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719072" y="8376919"/>
            <a:ext cx="12006072" cy="2143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40" b="0">
                <a:solidFill>
                  <a:srgbClr val="30465F"/>
                </a:solidFill>
                <a:latin typeface="Aptos"/>
              </a:rPr>
              <a:t>SB2:LED−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41832" y="8600440"/>
            <a:ext cx="12838176" cy="232664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96696" y="8609584"/>
            <a:ext cx="585216" cy="2143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1">
                <a:solidFill>
                  <a:srgbClr val="1D599B"/>
                </a:solidFill>
                <a:latin typeface="Aptos"/>
              </a:rPr>
              <a:t>0V.9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719072" y="8609584"/>
            <a:ext cx="12006072" cy="2143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40" b="0">
                <a:solidFill>
                  <a:srgbClr val="30465F"/>
                </a:solidFill>
                <a:latin typeface="Aptos"/>
              </a:rPr>
              <a:t>W2:14(−)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32688" y="6729984"/>
            <a:ext cx="1284732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1024128" y="6821424"/>
            <a:ext cx="4096512" cy="5029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124712" y="6903720"/>
            <a:ext cx="804672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D599B"/>
                </a:solidFill>
                <a:latin typeface="Aptos"/>
              </a:rPr>
              <a:t>0V.1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984248" y="6903720"/>
            <a:ext cx="2953512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60" b="0">
                <a:solidFill>
                  <a:srgbClr val="30465F"/>
                </a:solidFill>
                <a:latin typeface="Aptos"/>
              </a:rPr>
              <a:t>PS1:A2 (−Vo)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024128" y="7397496"/>
            <a:ext cx="4096512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24712" y="7479792"/>
            <a:ext cx="804672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D599B"/>
                </a:solidFill>
                <a:latin typeface="Aptos"/>
              </a:rPr>
              <a:t>0V.2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984248" y="7479792"/>
            <a:ext cx="2953512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60" b="0">
                <a:solidFill>
                  <a:srgbClr val="30465F"/>
                </a:solidFill>
                <a:latin typeface="Aptos"/>
              </a:rPr>
              <a:t>K1:N/−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024128" y="7973568"/>
            <a:ext cx="4096512" cy="5029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124712" y="8055864"/>
            <a:ext cx="804672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D599B"/>
                </a:solidFill>
                <a:latin typeface="Aptos"/>
              </a:rPr>
              <a:t>0V.3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984248" y="8055864"/>
            <a:ext cx="2953512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60" b="0">
                <a:solidFill>
                  <a:srgbClr val="30465F"/>
                </a:solidFill>
                <a:latin typeface="Aptos"/>
              </a:rPr>
              <a:t>SK3:A2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294376" y="6821424"/>
            <a:ext cx="4096512" cy="5029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394960" y="6903720"/>
            <a:ext cx="804672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D599B"/>
                </a:solidFill>
                <a:latin typeface="Aptos"/>
              </a:rPr>
              <a:t>0V.4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254496" y="6903720"/>
            <a:ext cx="2953512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60" b="0">
                <a:solidFill>
                  <a:srgbClr val="30465F"/>
                </a:solidFill>
                <a:latin typeface="Aptos"/>
              </a:rPr>
              <a:t>SB1:LED−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294376" y="7397496"/>
            <a:ext cx="4096512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394960" y="7479792"/>
            <a:ext cx="804672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D599B"/>
                </a:solidFill>
                <a:latin typeface="Aptos"/>
              </a:rPr>
              <a:t>0V.5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254496" y="7479792"/>
            <a:ext cx="2953512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60" b="0">
                <a:solidFill>
                  <a:srgbClr val="30465F"/>
                </a:solidFill>
                <a:latin typeface="Aptos"/>
              </a:rPr>
              <a:t>W1:14(−)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5294376" y="7973568"/>
            <a:ext cx="4096512" cy="5029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394960" y="8055864"/>
            <a:ext cx="804672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D599B"/>
                </a:solidFill>
                <a:latin typeface="Aptos"/>
              </a:rPr>
              <a:t>0V.6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254496" y="8055864"/>
            <a:ext cx="2953512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60" b="0">
                <a:solidFill>
                  <a:srgbClr val="30465F"/>
                </a:solidFill>
                <a:latin typeface="Aptos"/>
              </a:rPr>
              <a:t>K2:N/−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9564624" y="6821424"/>
            <a:ext cx="4096512" cy="5029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665208" y="6903720"/>
            <a:ext cx="804672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D599B"/>
                </a:solidFill>
                <a:latin typeface="Aptos"/>
              </a:rPr>
              <a:t>0V.7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524744" y="6903720"/>
            <a:ext cx="2953512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60" b="0">
                <a:solidFill>
                  <a:srgbClr val="30465F"/>
                </a:solidFill>
                <a:latin typeface="Aptos"/>
              </a:rPr>
              <a:t>SK4:A2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9564624" y="7397496"/>
            <a:ext cx="4096512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665208" y="7479792"/>
            <a:ext cx="804672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D599B"/>
                </a:solidFill>
                <a:latin typeface="Aptos"/>
              </a:rPr>
              <a:t>0V.8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524744" y="7479792"/>
            <a:ext cx="2953512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60" b="0">
                <a:solidFill>
                  <a:srgbClr val="30465F"/>
                </a:solidFill>
                <a:latin typeface="Aptos"/>
              </a:rPr>
              <a:t>SB2:LED−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9564624" y="7973568"/>
            <a:ext cx="4096512" cy="5029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665208" y="8055864"/>
            <a:ext cx="804672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D599B"/>
                </a:solidFill>
                <a:latin typeface="Aptos"/>
              </a:rPr>
              <a:t>0V.9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524744" y="8055864"/>
            <a:ext cx="2953512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60" b="0">
                <a:solidFill>
                  <a:srgbClr val="30465F"/>
                </a:solidFill>
                <a:latin typeface="Aptos"/>
              </a:rPr>
              <a:t>W2:14(−)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41832" y="9089136"/>
            <a:ext cx="12938760" cy="21031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60" b="0">
                <a:solidFill>
                  <a:srgbClr val="607084"/>
                </a:solidFill>
                <a:latin typeface="Aptos"/>
              </a:rPr>
              <a:t>Spare: X1-L ×2, X1-N ×2, X2-24 ×3, X2-0V ×3. PE block is fully allocated.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15032" cy="10689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3898880" cy="4754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2200" b="1">
                <a:solidFill>
                  <a:srgbClr val="1F344E"/>
                </a:solidFill>
                <a:latin typeface="Aptos"/>
              </a:rPr>
              <a:t>03  /  TERMINAL ASSIGNMENTS / BOTH 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380744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60" b="0">
                <a:solidFill>
                  <a:srgbClr val="607084"/>
                </a:solidFill>
                <a:latin typeface="Aptos"/>
              </a:rPr>
              <a:t>EN1/EN2 are the switched +24 V nets OUT of Finder 13.61 terminal 14 (K1/K2). They are NOT selector-gated +24 V.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98448"/>
            <a:ext cx="13551408" cy="36576"/>
          </a:xfrm>
          <a:prstGeom prst="rect">
            <a:avLst/>
          </a:prstGeom>
          <a:solidFill>
            <a:srgbClr val="1D599B"/>
          </a:solidFill>
          <a:ln w="12700">
            <a:solidFill>
              <a:srgbClr val="1D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1490472"/>
            <a:ext cx="13551408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D599B"/>
                </a:solidFill>
                <a:latin typeface="Aptos"/>
              </a:rPr>
              <a:t>X3 = CHANNEL 1    •    X4 = CHANNEL 2    /    SIX SPARE POSITIONS PER CHANNEL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9518904"/>
            <a:ext cx="13597128" cy="9144"/>
          </a:xfrm>
          <a:prstGeom prst="rect">
            <a:avLst/>
          </a:prstGeom>
          <a:solidFill>
            <a:srgbClr val="D8E2E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802368"/>
            <a:ext cx="1161288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HEATING RATE CONTROLLER   /   REFERENCE ELECTRICAL WIRING   /   R1.2  ·  26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0" y="9802368"/>
            <a:ext cx="118872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/>
            <a:r>
              <a:rPr sz="860" b="1">
                <a:solidFill>
                  <a:srgbClr val="607084"/>
                </a:solidFill>
                <a:latin typeface="Aptos"/>
              </a:rPr>
              <a:t>SHEET 03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" y="1847088"/>
            <a:ext cx="13103352" cy="2231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2104" y="1847088"/>
            <a:ext cx="13103352" cy="402336"/>
          </a:xfrm>
          <a:prstGeom prst="roundRect">
            <a:avLst>
              <a:gd name="adj" fmla="val 6000"/>
            </a:avLst>
          </a:prstGeom>
          <a:solidFill>
            <a:srgbClr val="EEF5FA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1911095"/>
            <a:ext cx="4096512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40" b="1">
                <a:solidFill>
                  <a:srgbClr val="1F344E"/>
                </a:solidFill>
                <a:latin typeface="Aptos"/>
              </a:rPr>
              <a:t>GATED +24 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911095"/>
            <a:ext cx="5367528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/>
            <a:r>
              <a:rPr sz="930" b="1">
                <a:solidFill>
                  <a:srgbClr val="1D599B"/>
                </a:solidFill>
                <a:latin typeface="Aptos"/>
              </a:rPr>
              <a:t>PTFIX 6-way red / 3273004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2313432"/>
            <a:ext cx="1202436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>
                <a:solidFill>
                  <a:srgbClr val="607084"/>
                </a:solidFill>
                <a:latin typeface="Aptos"/>
              </a:rPr>
              <a:t>One input from selector, three separate loads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2642616"/>
            <a:ext cx="6126480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D599B"/>
                </a:solidFill>
                <a:latin typeface="Aptos"/>
              </a:rPr>
              <a:t>X3-24G  /  CHANNEL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2953512"/>
            <a:ext cx="256032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80" b="1">
                <a:solidFill>
                  <a:srgbClr val="1D599B"/>
                </a:solidFill>
                <a:latin typeface="Aptos"/>
              </a:rPr>
              <a:t>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19" y="2953512"/>
            <a:ext cx="57150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0">
                <a:solidFill>
                  <a:srgbClr val="30465F"/>
                </a:solidFill>
                <a:latin typeface="Aptos"/>
              </a:rPr>
              <a:t>Selector S1-B:24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216859"/>
            <a:ext cx="256032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80" b="1">
                <a:solidFill>
                  <a:srgbClr val="1D599B"/>
                </a:solidFill>
                <a:latin typeface="Aptos"/>
              </a:rPr>
              <a:t>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3216859"/>
            <a:ext cx="57150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0">
                <a:solidFill>
                  <a:srgbClr val="30465F"/>
                </a:solidFill>
                <a:latin typeface="Aptos"/>
              </a:rPr>
              <a:t>Finder K1:L/+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3480206"/>
            <a:ext cx="256032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80" b="1">
                <a:solidFill>
                  <a:srgbClr val="1D599B"/>
                </a:solidFill>
                <a:latin typeface="Aptos"/>
              </a:rP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19" y="3480206"/>
            <a:ext cx="57150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0">
                <a:solidFill>
                  <a:srgbClr val="30465F"/>
                </a:solidFill>
                <a:latin typeface="Aptos"/>
              </a:rPr>
              <a:t>Finder K1:11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3743553"/>
            <a:ext cx="256032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80" b="1">
                <a:solidFill>
                  <a:srgbClr val="1D599B"/>
                </a:solidFill>
                <a:latin typeface="Aptos"/>
              </a:rPr>
              <a:t>4.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19" y="3743553"/>
            <a:ext cx="57150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0">
                <a:solidFill>
                  <a:srgbClr val="30465F"/>
                </a:solidFill>
                <a:latin typeface="Aptos"/>
              </a:rPr>
              <a:t>EAO SB1:C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42631" y="2642616"/>
            <a:ext cx="6126480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D599B"/>
                </a:solidFill>
                <a:latin typeface="Aptos"/>
              </a:rPr>
              <a:t>X4-24G  /  CHANNEL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9207" y="2953512"/>
            <a:ext cx="256032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80" b="1">
                <a:solidFill>
                  <a:srgbClr val="1D599B"/>
                </a:solidFill>
                <a:latin typeface="Aptos"/>
              </a:rPr>
              <a:t>1.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2953512"/>
            <a:ext cx="57150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0">
                <a:solidFill>
                  <a:srgbClr val="30465F"/>
                </a:solidFill>
                <a:latin typeface="Aptos"/>
              </a:rPr>
              <a:t>Selector S2-B:24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9207" y="3216859"/>
            <a:ext cx="256032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80" b="1">
                <a:solidFill>
                  <a:srgbClr val="1D599B"/>
                </a:solidFill>
                <a:latin typeface="Aptos"/>
              </a:rPr>
              <a:t>2.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3216859"/>
            <a:ext cx="57150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0">
                <a:solidFill>
                  <a:srgbClr val="30465F"/>
                </a:solidFill>
                <a:latin typeface="Aptos"/>
              </a:rPr>
              <a:t>Finder K2:L/+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9207" y="3480206"/>
            <a:ext cx="256032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80" b="1">
                <a:solidFill>
                  <a:srgbClr val="1D599B"/>
                </a:solidFill>
                <a:latin typeface="Aptos"/>
              </a:rPr>
              <a:t>3.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3480206"/>
            <a:ext cx="57150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0">
                <a:solidFill>
                  <a:srgbClr val="30465F"/>
                </a:solidFill>
                <a:latin typeface="Aptos"/>
              </a:rPr>
              <a:t>Finder K2:11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9207" y="3743553"/>
            <a:ext cx="256032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80" b="1">
                <a:solidFill>
                  <a:srgbClr val="1D599B"/>
                </a:solidFill>
                <a:latin typeface="Aptos"/>
              </a:rPr>
              <a:t>4.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3743553"/>
            <a:ext cx="57150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0">
                <a:solidFill>
                  <a:srgbClr val="30465F"/>
                </a:solidFill>
                <a:latin typeface="Aptos"/>
              </a:rPr>
              <a:t>EAO SB2:C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2104" y="4297680"/>
            <a:ext cx="13103352" cy="24780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2104" y="4297680"/>
            <a:ext cx="13103352" cy="402336"/>
          </a:xfrm>
          <a:prstGeom prst="roundRect">
            <a:avLst>
              <a:gd name="adj" fmla="val 6000"/>
            </a:avLst>
          </a:prstGeom>
          <a:solidFill>
            <a:srgbClr val="EEF5FA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4361688"/>
            <a:ext cx="4096512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40" b="1">
                <a:solidFill>
                  <a:srgbClr val="1F344E"/>
                </a:solidFill>
                <a:latin typeface="Aptos"/>
              </a:rPr>
              <a:t>HEATER ENABLE (EN)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4361688"/>
            <a:ext cx="5367528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/>
            <a:r>
              <a:rPr sz="930" b="1">
                <a:solidFill>
                  <a:srgbClr val="1D599B"/>
                </a:solidFill>
                <a:latin typeface="Aptos"/>
              </a:rPr>
              <a:t>PTFIX 6-way orange / 3273018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1" y="4764024"/>
            <a:ext cx="1202436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>
                <a:solidFill>
                  <a:srgbClr val="607084"/>
                </a:solidFill>
                <a:latin typeface="Aptos"/>
              </a:rPr>
              <a:t>One input from Finder output, four loads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1" y="5093208"/>
            <a:ext cx="6126480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D599B"/>
                </a:solidFill>
                <a:latin typeface="Aptos"/>
              </a:rPr>
              <a:t>X3-EN1  /  CHANNEL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" y="5404104"/>
            <a:ext cx="256032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80" b="1">
                <a:solidFill>
                  <a:srgbClr val="1D599B"/>
                </a:solidFill>
                <a:latin typeface="Aptos"/>
              </a:rPr>
              <a:t>1.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19" y="5404104"/>
            <a:ext cx="57150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0">
                <a:solidFill>
                  <a:srgbClr val="30465F"/>
                </a:solidFill>
                <a:latin typeface="Aptos"/>
              </a:rPr>
              <a:t>Finder K1:14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9848" y="5667451"/>
            <a:ext cx="256032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80" b="1">
                <a:solidFill>
                  <a:srgbClr val="1D599B"/>
                </a:solidFill>
                <a:latin typeface="Aptos"/>
              </a:rPr>
              <a:t>2.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19" y="5667451"/>
            <a:ext cx="57150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0">
                <a:solidFill>
                  <a:srgbClr val="30465F"/>
                </a:solidFill>
                <a:latin typeface="Aptos"/>
              </a:rPr>
              <a:t>Finder 62.31 SK3:A1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9848" y="5930798"/>
            <a:ext cx="256032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80" b="1">
                <a:solidFill>
                  <a:srgbClr val="1D599B"/>
                </a:solidFill>
                <a:latin typeface="Aptos"/>
              </a:rPr>
              <a:t>3.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19" y="5930798"/>
            <a:ext cx="57150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0">
                <a:solidFill>
                  <a:srgbClr val="30465F"/>
                </a:solidFill>
                <a:latin typeface="Aptos"/>
              </a:rPr>
              <a:t>EAO SB1:LED+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" y="6194145"/>
            <a:ext cx="256032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80" b="1">
                <a:solidFill>
                  <a:srgbClr val="1D599B"/>
                </a:solidFill>
                <a:latin typeface="Aptos"/>
              </a:rPr>
              <a:t>4.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17319" y="6194145"/>
            <a:ext cx="57150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0">
                <a:solidFill>
                  <a:srgbClr val="30465F"/>
                </a:solidFill>
                <a:latin typeface="Aptos"/>
              </a:rPr>
              <a:t>Crydom SSR1:A1/+3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9848" y="6457492"/>
            <a:ext cx="256032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80" b="1">
                <a:solidFill>
                  <a:srgbClr val="1D599B"/>
                </a:solidFill>
                <a:latin typeface="Aptos"/>
              </a:rPr>
              <a:t>5.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19" y="6457492"/>
            <a:ext cx="57150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0">
                <a:solidFill>
                  <a:srgbClr val="30465F"/>
                </a:solidFill>
                <a:latin typeface="Aptos"/>
              </a:rPr>
              <a:t>Activity HL1:+ (from K1:14 / EN1)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42631" y="5093208"/>
            <a:ext cx="6126480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D599B"/>
                </a:solidFill>
                <a:latin typeface="Aptos"/>
              </a:rPr>
              <a:t>X4-EN2  /  CHANNEL 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79207" y="5404104"/>
            <a:ext cx="256032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80" b="1">
                <a:solidFill>
                  <a:srgbClr val="1D599B"/>
                </a:solidFill>
                <a:latin typeface="Aptos"/>
              </a:rP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26679" y="5404104"/>
            <a:ext cx="57150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0">
                <a:solidFill>
                  <a:srgbClr val="30465F"/>
                </a:solidFill>
                <a:latin typeface="Aptos"/>
              </a:rPr>
              <a:t>Finder K2:14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79207" y="5667451"/>
            <a:ext cx="256032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80" b="1">
                <a:solidFill>
                  <a:srgbClr val="1D599B"/>
                </a:solidFill>
                <a:latin typeface="Aptos"/>
              </a:rPr>
              <a:t>2.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26679" y="5667451"/>
            <a:ext cx="57150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0">
                <a:solidFill>
                  <a:srgbClr val="30465F"/>
                </a:solidFill>
                <a:latin typeface="Aptos"/>
              </a:rPr>
              <a:t>Finder 62.31 SK4:A1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79207" y="5930798"/>
            <a:ext cx="256032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80" b="1">
                <a:solidFill>
                  <a:srgbClr val="1D599B"/>
                </a:solidFill>
                <a:latin typeface="Aptos"/>
              </a:rPr>
              <a:t>3.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26679" y="5930798"/>
            <a:ext cx="57150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0">
                <a:solidFill>
                  <a:srgbClr val="30465F"/>
                </a:solidFill>
                <a:latin typeface="Aptos"/>
              </a:rPr>
              <a:t>EAO SB2:LED+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79207" y="6194145"/>
            <a:ext cx="256032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80" b="1">
                <a:solidFill>
                  <a:srgbClr val="1D599B"/>
                </a:solidFill>
                <a:latin typeface="Aptos"/>
              </a:rPr>
              <a:t>4.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26679" y="6194145"/>
            <a:ext cx="57150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0">
                <a:solidFill>
                  <a:srgbClr val="30465F"/>
                </a:solidFill>
                <a:latin typeface="Aptos"/>
              </a:rPr>
              <a:t>Crydom SSR2:A1/+3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79207" y="6457492"/>
            <a:ext cx="256032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80" b="1">
                <a:solidFill>
                  <a:srgbClr val="1D599B"/>
                </a:solidFill>
                <a:latin typeface="Aptos"/>
              </a:rPr>
              <a:t>5.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26679" y="6457492"/>
            <a:ext cx="57150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0">
                <a:solidFill>
                  <a:srgbClr val="30465F"/>
                </a:solidFill>
                <a:latin typeface="Aptos"/>
              </a:rPr>
              <a:t>Activity HL2:+ (from K2:14 / EN2)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32104" y="6967728"/>
            <a:ext cx="1310335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32104" y="6967728"/>
            <a:ext cx="13103352" cy="402336"/>
          </a:xfrm>
          <a:prstGeom prst="roundRect">
            <a:avLst>
              <a:gd name="adj" fmla="val 6000"/>
            </a:avLst>
          </a:prstGeom>
          <a:solidFill>
            <a:srgbClr val="EEF5FA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87552" y="7031736"/>
            <a:ext cx="4096512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40" b="1">
                <a:solidFill>
                  <a:srgbClr val="1F344E"/>
                </a:solidFill>
                <a:latin typeface="Aptos"/>
              </a:rPr>
              <a:t>SWITCHED SSR RETURN (DRV)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66760" y="7031736"/>
            <a:ext cx="5367528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/>
            <a:r>
              <a:rPr sz="930" b="1">
                <a:solidFill>
                  <a:srgbClr val="1D599B"/>
                </a:solidFill>
                <a:latin typeface="Aptos"/>
              </a:rPr>
              <a:t>PTFIX 6-way violet / 3273016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3271" y="7434072"/>
            <a:ext cx="1202436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>
                <a:solidFill>
                  <a:srgbClr val="607084"/>
                </a:solidFill>
                <a:latin typeface="Aptos"/>
              </a:rPr>
              <a:t>Weidmüller output terminal 13 and two load returns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3271" y="7763256"/>
            <a:ext cx="6126480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D599B"/>
                </a:solidFill>
                <a:latin typeface="Aptos"/>
              </a:rPr>
              <a:t>X3-DRV1  /  CHANNEL 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9848" y="8074152"/>
            <a:ext cx="256032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80" b="1">
                <a:solidFill>
                  <a:srgbClr val="1D599B"/>
                </a:solidFill>
                <a:latin typeface="Aptos"/>
              </a:rPr>
              <a:t>1.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417319" y="8074152"/>
            <a:ext cx="57150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0">
                <a:solidFill>
                  <a:srgbClr val="30465F"/>
                </a:solidFill>
                <a:latin typeface="Aptos"/>
              </a:rPr>
              <a:t>Weidmüller W1:13(+)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9848" y="8337499"/>
            <a:ext cx="256032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80" b="1">
                <a:solidFill>
                  <a:srgbClr val="1D599B"/>
                </a:solidFill>
                <a:latin typeface="Aptos"/>
              </a:rPr>
              <a:t>2.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17319" y="8337499"/>
            <a:ext cx="57150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0">
                <a:solidFill>
                  <a:srgbClr val="30465F"/>
                </a:solidFill>
                <a:latin typeface="Aptos"/>
              </a:rPr>
              <a:t>Crydom SSR1:A2/−4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9848" y="8600846"/>
            <a:ext cx="256032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80" b="1">
                <a:solidFill>
                  <a:srgbClr val="1D599B"/>
                </a:solidFill>
                <a:latin typeface="Aptos"/>
              </a:rPr>
              <a:t>3.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417319" y="8600846"/>
            <a:ext cx="57150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0">
                <a:solidFill>
                  <a:srgbClr val="30465F"/>
                </a:solidFill>
                <a:latin typeface="Aptos"/>
              </a:rPr>
              <a:t>Activity HL1:−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42631" y="7763256"/>
            <a:ext cx="6126480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D599B"/>
                </a:solidFill>
                <a:latin typeface="Aptos"/>
              </a:rPr>
              <a:t>X4-DRV2  /  CHANNEL 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79207" y="8074152"/>
            <a:ext cx="256032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80" b="1">
                <a:solidFill>
                  <a:srgbClr val="1D599B"/>
                </a:solidFill>
                <a:latin typeface="Aptos"/>
              </a:rPr>
              <a:t>1.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26679" y="8074152"/>
            <a:ext cx="57150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0">
                <a:solidFill>
                  <a:srgbClr val="30465F"/>
                </a:solidFill>
                <a:latin typeface="Aptos"/>
              </a:rPr>
              <a:t>Weidmüller W2:13(+)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79207" y="8337499"/>
            <a:ext cx="256032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80" b="1">
                <a:solidFill>
                  <a:srgbClr val="1D599B"/>
                </a:solidFill>
                <a:latin typeface="Aptos"/>
              </a:rPr>
              <a:t>2.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26679" y="8337499"/>
            <a:ext cx="57150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0">
                <a:solidFill>
                  <a:srgbClr val="30465F"/>
                </a:solidFill>
                <a:latin typeface="Aptos"/>
              </a:rPr>
              <a:t>Crydom SSR2:A2/−4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79207" y="8600846"/>
            <a:ext cx="256032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80" b="1">
                <a:solidFill>
                  <a:srgbClr val="1D599B"/>
                </a:solidFill>
                <a:latin typeface="Aptos"/>
              </a:rPr>
              <a:t>3.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26679" y="8600846"/>
            <a:ext cx="57150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10" b="0">
                <a:solidFill>
                  <a:srgbClr val="30465F"/>
                </a:solidFill>
                <a:latin typeface="Aptos"/>
              </a:rPr>
              <a:t>Activity HL2:−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96112" y="9153144"/>
            <a:ext cx="12920472" cy="301752"/>
          </a:xfrm>
          <a:prstGeom prst="roundRect">
            <a:avLst>
              <a:gd name="adj" fmla="val 6000"/>
            </a:avLst>
          </a:prstGeom>
          <a:solidFill>
            <a:srgbClr val="FDF2E3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88136" y="9185148"/>
            <a:ext cx="12508992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A35B1B"/>
                </a:solidFill>
                <a:latin typeface="Aptos"/>
              </a:rPr>
              <a:t>DRV1/DRV2 are controlled returns through W1/W2; neither is a direct 0 V connection.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1  /  MAINS SUPPLY &amp; DISTRIBUTION"/>
          <p:cNvSpPr txBox="1"/>
          <p:nvPr/>
        </p:nvSpPr>
        <p:spPr>
          <a:xfrm>
            <a:off x="566928" y="320040"/>
            <a:ext cx="10927080" cy="45720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2400" b="1">
                <a:solidFill>
                  <a:srgbClr val="1F344E"/>
                </a:solidFill>
                <a:latin typeface="Aptos"/>
              </a:rPr>
              <a:t>04  /  MAINS SUPPLY &amp; DISTRIBUTION</a:t>
            </a:r>
          </a:p>
        </p:txBody>
      </p:sp>
      <p:sp>
        <p:nvSpPr>
          <p:cNvPr id="3" name="TEXT Two independent Omron channels  • "/>
          <p:cNvSpPr txBox="1"/>
          <p:nvPr/>
        </p:nvSpPr>
        <p:spPr>
          <a:xfrm>
            <a:off x="576072" y="877824"/>
            <a:ext cx="10607040" cy="301752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1160" b="0">
                <a:solidFill>
                  <a:srgbClr val="607084"/>
                </a:solidFill>
                <a:latin typeface="Aptos"/>
              </a:rPr>
              <a:t>AC supply divides into three L/N destinations: the shared 24 V supply and one Omron controller per channel.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3962888" cy="34747"/>
          </a:xfrm>
          <a:prstGeom prst="rect">
            <a:avLst/>
          </a:prstGeom>
          <a:solidFill>
            <a:srgbClr val="1D599B"/>
          </a:solidFill>
          <a:ln w="1270">
            <a:solidFill>
              <a:srgbClr val="1D5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AC INPUT"/>
          <p:cNvSpPr txBox="1"/>
          <p:nvPr/>
        </p:nvSpPr>
        <p:spPr>
          <a:xfrm>
            <a:off x="576072" y="1481328"/>
            <a:ext cx="2468880" cy="246888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90" b="1">
                <a:solidFill>
                  <a:srgbClr val="1D599B"/>
                </a:solidFill>
                <a:latin typeface="Aptos"/>
              </a:rPr>
              <a:t>AC INPUT</a:t>
            </a:r>
          </a:p>
        </p:txBody>
      </p:sp>
      <p:sp>
        <p:nvSpPr>
          <p:cNvPr id="6" name="TEXT DISTRIBUTION / X1"/>
          <p:cNvSpPr txBox="1"/>
          <p:nvPr/>
        </p:nvSpPr>
        <p:spPr>
          <a:xfrm>
            <a:off x="3867912" y="1481328"/>
            <a:ext cx="2377440" cy="246888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90" b="1">
                <a:solidFill>
                  <a:srgbClr val="1D599B"/>
                </a:solidFill>
                <a:latin typeface="Aptos"/>
              </a:rPr>
              <a:t>DISTRIBUTION / X1</a:t>
            </a:r>
          </a:p>
        </p:txBody>
      </p:sp>
      <p:sp>
        <p:nvSpPr>
          <p:cNvPr id="7" name="TEXT POWER SUPPLY &amp; TWO CONTROLLER BRAN"/>
          <p:cNvSpPr txBox="1"/>
          <p:nvPr/>
        </p:nvSpPr>
        <p:spPr>
          <a:xfrm>
            <a:off x="8339327" y="1481328"/>
            <a:ext cx="5577840" cy="246888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90" b="1">
                <a:solidFill>
                  <a:srgbClr val="1D599B"/>
                </a:solidFill>
                <a:latin typeface="Aptos"/>
              </a:rPr>
              <a:t>POWER SUPPLY &amp; TWO CONTROLLER BRANCHES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2243816" y="603504"/>
            <a:ext cx="356616" cy="32004"/>
          </a:xfrm>
          <a:prstGeom prst="rect">
            <a:avLst/>
          </a:prstGeom>
          <a:solidFill>
            <a:srgbClr val="9A5127"/>
          </a:solidFill>
          <a:ln w="1270">
            <a:solidFill>
              <a:srgbClr val="9A5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 L"/>
          <p:cNvSpPr txBox="1"/>
          <p:nvPr/>
        </p:nvSpPr>
        <p:spPr>
          <a:xfrm>
            <a:off x="12646152" y="512064"/>
            <a:ext cx="274320" cy="210312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40" b="1">
                <a:solidFill>
                  <a:srgbClr val="607084"/>
                </a:solidFill>
                <a:latin typeface="Aptos"/>
              </a:rPr>
              <a:t>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002768" y="603504"/>
            <a:ext cx="356616" cy="32004"/>
          </a:xfrm>
          <a:prstGeom prst="rect">
            <a:avLst/>
          </a:prstGeom>
          <a:solidFill>
            <a:srgbClr val="1A5BAE"/>
          </a:solidFill>
          <a:ln w="1270">
            <a:solidFill>
              <a:srgbClr val="1A5B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 N"/>
          <p:cNvSpPr txBox="1"/>
          <p:nvPr/>
        </p:nvSpPr>
        <p:spPr>
          <a:xfrm>
            <a:off x="13405104" y="512064"/>
            <a:ext cx="274320" cy="210312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40" b="1">
                <a:solidFill>
                  <a:srgbClr val="607084"/>
                </a:solidFill>
                <a:latin typeface="Aptos"/>
              </a:rPr>
              <a:t>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89152" y="603504"/>
            <a:ext cx="356616" cy="32004"/>
          </a:xfrm>
          <a:prstGeom prst="rect">
            <a:avLst/>
          </a:prstGeom>
          <a:solidFill>
            <a:srgbClr val="16834A"/>
          </a:solidFill>
          <a:ln w="1270">
            <a:solidFill>
              <a:srgbClr val="168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 PE"/>
          <p:cNvSpPr txBox="1"/>
          <p:nvPr/>
        </p:nvSpPr>
        <p:spPr>
          <a:xfrm>
            <a:off x="14191488" y="512064"/>
            <a:ext cx="274320" cy="210312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40" b="1">
                <a:solidFill>
                  <a:srgbClr val="607084"/>
                </a:solidFill>
                <a:latin typeface="Aptos"/>
              </a:rPr>
              <a:t>PE</a:t>
            </a:r>
          </a:p>
        </p:txBody>
      </p:sp>
      <p:sp>
        <p:nvSpPr>
          <p:cNvPr id="14" name="COMP J1  SCHURTER"/>
          <p:cNvSpPr/>
          <p:nvPr/>
        </p:nvSpPr>
        <p:spPr>
          <a:xfrm>
            <a:off x="621792" y="2066543"/>
            <a:ext cx="2267712" cy="3127248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OMP LABEL J1  SCHURTER"/>
          <p:cNvSpPr txBox="1"/>
          <p:nvPr/>
        </p:nvSpPr>
        <p:spPr>
          <a:xfrm>
            <a:off x="804672" y="2231136"/>
            <a:ext cx="1901952" cy="283464"/>
          </a:xfrm>
          <a:prstGeom prst="rect">
            <a:avLst/>
          </a:prstGeom>
          <a:noFill/>
          <a:ln w="13208"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1380" b="1">
                <a:solidFill>
                  <a:srgbClr val="1F344E"/>
                </a:solidFill>
                <a:latin typeface="Aptos"/>
              </a:rPr>
              <a:t>J1  SCHURTER</a:t>
            </a:r>
          </a:p>
        </p:txBody>
      </p:sp>
      <p:sp>
        <p:nvSpPr>
          <p:cNvPr id="16" name="PART J1  SCHURTER"/>
          <p:cNvSpPr txBox="1"/>
          <p:nvPr/>
        </p:nvSpPr>
        <p:spPr>
          <a:xfrm>
            <a:off x="804672" y="2560320"/>
            <a:ext cx="1901952" cy="237744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1019" b="0">
                <a:solidFill>
                  <a:srgbClr val="607084"/>
                </a:solidFill>
                <a:latin typeface="Aptos"/>
              </a:rPr>
              <a:t>DD11.0111.1110</a:t>
            </a:r>
          </a:p>
        </p:txBody>
      </p:sp>
      <p:sp>
        <p:nvSpPr>
          <p:cNvPr id="17" name="DESC J1  SCHURTER"/>
          <p:cNvSpPr txBox="1"/>
          <p:nvPr/>
        </p:nvSpPr>
        <p:spPr>
          <a:xfrm>
            <a:off x="804672" y="2916936"/>
            <a:ext cx="1901952" cy="265176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30" b="0">
                <a:solidFill>
                  <a:srgbClr val="607084"/>
                </a:solidFill>
                <a:latin typeface="Aptos"/>
              </a:rPr>
              <a:t>C14 inlet · switch · fuse</a:t>
            </a:r>
          </a:p>
        </p:txBody>
      </p:sp>
      <p:sp>
        <p:nvSpPr>
          <p:cNvPr id="18" name="DATASHEET J1  SCHURTER"/>
          <p:cNvSpPr txBox="1"/>
          <p:nvPr/>
        </p:nvSpPr>
        <p:spPr>
          <a:xfrm>
            <a:off x="804672" y="4800600"/>
            <a:ext cx="1901952" cy="22860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00" b="0" u="sng">
                <a:solidFill>
                  <a:srgbClr val="1D599B"/>
                </a:solidFill>
                <a:latin typeface="Aptos"/>
                <a:hlinkClick r:id="rId3"/>
              </a:rPr>
              <a:t>Manufacturer datasheet  ↗</a:t>
            </a:r>
          </a:p>
        </p:txBody>
      </p:sp>
      <p:sp>
        <p:nvSpPr>
          <p:cNvPr id="19" name="COMP PE  CHASSIS"/>
          <p:cNvSpPr/>
          <p:nvPr/>
        </p:nvSpPr>
        <p:spPr>
          <a:xfrm>
            <a:off x="621792" y="6729984"/>
            <a:ext cx="2267712" cy="1307592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OMP LABEL PE  CHASSIS"/>
          <p:cNvSpPr txBox="1"/>
          <p:nvPr/>
        </p:nvSpPr>
        <p:spPr>
          <a:xfrm>
            <a:off x="804672" y="6894576"/>
            <a:ext cx="1901952" cy="283464"/>
          </a:xfrm>
          <a:prstGeom prst="rect">
            <a:avLst/>
          </a:prstGeom>
          <a:noFill/>
          <a:ln w="13208"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1300" b="1">
                <a:solidFill>
                  <a:srgbClr val="1F344E"/>
                </a:solidFill>
                <a:latin typeface="Aptos"/>
              </a:rPr>
              <a:t>PE  CHASSIS</a:t>
            </a:r>
          </a:p>
        </p:txBody>
      </p:sp>
      <p:sp>
        <p:nvSpPr>
          <p:cNvPr id="21" name="PART PE  CHASSIS"/>
          <p:cNvSpPr txBox="1"/>
          <p:nvPr/>
        </p:nvSpPr>
        <p:spPr>
          <a:xfrm>
            <a:off x="804672" y="7223760"/>
            <a:ext cx="1901952" cy="237744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1019" b="0">
                <a:solidFill>
                  <a:srgbClr val="607084"/>
                </a:solidFill>
                <a:latin typeface="Aptos"/>
              </a:rPr>
              <a:t>Enclosure / door / DIN rail</a:t>
            </a:r>
          </a:p>
        </p:txBody>
      </p:sp>
      <p:sp>
        <p:nvSpPr>
          <p:cNvPr id="22" name="COMP X1  AC DISTRIBUTION"/>
          <p:cNvSpPr/>
          <p:nvPr/>
        </p:nvSpPr>
        <p:spPr>
          <a:xfrm>
            <a:off x="3813048" y="2066543"/>
            <a:ext cx="2395728" cy="5971032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OMP LABEL X1  AC DISTRIBUTION"/>
          <p:cNvSpPr txBox="1"/>
          <p:nvPr/>
        </p:nvSpPr>
        <p:spPr>
          <a:xfrm>
            <a:off x="3995928" y="2231136"/>
            <a:ext cx="2029968" cy="283464"/>
          </a:xfrm>
          <a:prstGeom prst="rect">
            <a:avLst/>
          </a:prstGeom>
          <a:noFill/>
          <a:ln w="13208"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1260" b="1">
                <a:solidFill>
                  <a:srgbClr val="1F344E"/>
                </a:solidFill>
                <a:latin typeface="Aptos"/>
              </a:rPr>
              <a:t>X1  AC DISTRIBUTION</a:t>
            </a:r>
          </a:p>
        </p:txBody>
      </p:sp>
      <p:sp>
        <p:nvSpPr>
          <p:cNvPr id="24" name="PART X1  AC DISTRIBUTION"/>
          <p:cNvSpPr txBox="1"/>
          <p:nvPr/>
        </p:nvSpPr>
        <p:spPr>
          <a:xfrm>
            <a:off x="3995928" y="2560320"/>
            <a:ext cx="2029968" cy="237744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1019" b="0">
                <a:solidFill>
                  <a:srgbClr val="607084"/>
                </a:solidFill>
                <a:latin typeface="Aptos"/>
              </a:rPr>
              <a:t>L / N / PE</a:t>
            </a:r>
          </a:p>
        </p:txBody>
      </p:sp>
      <p:sp>
        <p:nvSpPr>
          <p:cNvPr id="25" name="DESC X1  AC DISTRIBUTION"/>
          <p:cNvSpPr txBox="1"/>
          <p:nvPr/>
        </p:nvSpPr>
        <p:spPr>
          <a:xfrm>
            <a:off x="4306824" y="2852927"/>
            <a:ext cx="1874519" cy="219456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840" b="0">
                <a:solidFill>
                  <a:srgbClr val="607084"/>
                </a:solidFill>
                <a:latin typeface="Aptos"/>
              </a:rPr>
              <a:t>X1-L: Phoenix 6-port; X1-N: Phoenix 6-port; X1-PE: WAGO earth terminal</a:t>
            </a:r>
          </a:p>
        </p:txBody>
      </p:sp>
      <p:sp>
        <p:nvSpPr>
          <p:cNvPr id="26" name="TEXT BRANCH / CH 1"/>
          <p:cNvSpPr txBox="1"/>
          <p:nvPr/>
        </p:nvSpPr>
        <p:spPr>
          <a:xfrm>
            <a:off x="4315968" y="4690872"/>
            <a:ext cx="1700784" cy="22860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00" b="1">
                <a:solidFill>
                  <a:srgbClr val="607084"/>
                </a:solidFill>
                <a:latin typeface="Aptos"/>
              </a:rPr>
              <a:t>BRANCH / CH 1</a:t>
            </a:r>
          </a:p>
        </p:txBody>
      </p:sp>
      <p:sp>
        <p:nvSpPr>
          <p:cNvPr id="27" name="TEXT BRANCH / CH 2"/>
          <p:cNvSpPr txBox="1"/>
          <p:nvPr/>
        </p:nvSpPr>
        <p:spPr>
          <a:xfrm>
            <a:off x="4315968" y="6665976"/>
            <a:ext cx="1700784" cy="22860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00" b="1">
                <a:solidFill>
                  <a:srgbClr val="607084"/>
                </a:solidFill>
                <a:latin typeface="Aptos"/>
              </a:rPr>
              <a:t>BRANCH / CH 2</a:t>
            </a:r>
          </a:p>
        </p:txBody>
      </p:sp>
      <p:sp>
        <p:nvSpPr>
          <p:cNvPr id="28" name="TEXT X1 jumpers: TBD"/>
          <p:cNvSpPr txBox="1"/>
          <p:nvPr/>
        </p:nvSpPr>
        <p:spPr>
          <a:xfrm>
            <a:off x="4315968" y="7626096"/>
            <a:ext cx="2057400" cy="22860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830" b="0">
                <a:solidFill>
                  <a:srgbClr val="A35B1B"/>
                </a:solidFill>
                <a:latin typeface="Aptos"/>
              </a:rPr>
              <a:t>L and N: 1 inlet + 3 outgoing each</a:t>
            </a:r>
          </a:p>
        </p:txBody>
      </p:sp>
      <p:sp>
        <p:nvSpPr>
          <p:cNvPr id="29" name="COMP PS1  MEAN WELL"/>
          <p:cNvSpPr/>
          <p:nvPr/>
        </p:nvSpPr>
        <p:spPr>
          <a:xfrm>
            <a:off x="8412480" y="2066543"/>
            <a:ext cx="2889504" cy="2441448"/>
          </a:xfrm>
          <a:prstGeom prst="roundRect">
            <a:avLst>
              <a:gd name="adj" fmla="val 5500"/>
            </a:avLst>
          </a:prstGeom>
          <a:solidFill>
            <a:srgbClr val="EBF6FA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COMP LABEL PS1  MEAN WELL"/>
          <p:cNvSpPr txBox="1"/>
          <p:nvPr/>
        </p:nvSpPr>
        <p:spPr>
          <a:xfrm>
            <a:off x="8906255" y="2231136"/>
            <a:ext cx="2286000" cy="283464"/>
          </a:xfrm>
          <a:prstGeom prst="rect">
            <a:avLst/>
          </a:prstGeom>
          <a:noFill/>
          <a:ln w="13208"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1340" b="1">
                <a:solidFill>
                  <a:srgbClr val="1F344E"/>
                </a:solidFill>
                <a:latin typeface="Aptos"/>
              </a:rPr>
              <a:t>PS1  MEAN WELL</a:t>
            </a:r>
          </a:p>
        </p:txBody>
      </p:sp>
      <p:sp>
        <p:nvSpPr>
          <p:cNvPr id="31" name="PART PS1  MEAN WELL"/>
          <p:cNvSpPr txBox="1"/>
          <p:nvPr/>
        </p:nvSpPr>
        <p:spPr>
          <a:xfrm>
            <a:off x="8906255" y="2560320"/>
            <a:ext cx="2286000" cy="237744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1019" b="0">
                <a:solidFill>
                  <a:srgbClr val="607084"/>
                </a:solidFill>
                <a:latin typeface="Aptos"/>
              </a:rPr>
              <a:t>XDR-120E-24 · 24 V / 5 A</a:t>
            </a:r>
          </a:p>
        </p:txBody>
      </p:sp>
      <p:sp>
        <p:nvSpPr>
          <p:cNvPr id="32" name="DESC PS1  MEAN WELL"/>
          <p:cNvSpPr txBox="1"/>
          <p:nvPr/>
        </p:nvSpPr>
        <p:spPr>
          <a:xfrm>
            <a:off x="8906255" y="2916936"/>
            <a:ext cx="2286000" cy="265176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30" b="0">
                <a:solidFill>
                  <a:srgbClr val="607084"/>
                </a:solidFill>
                <a:latin typeface="Aptos"/>
              </a:rPr>
              <a:t>Shared 24 V DC supply</a:t>
            </a:r>
          </a:p>
        </p:txBody>
      </p:sp>
      <p:sp>
        <p:nvSpPr>
          <p:cNvPr id="33" name="DATASHEET PS1  MEAN WELL"/>
          <p:cNvSpPr txBox="1"/>
          <p:nvPr/>
        </p:nvSpPr>
        <p:spPr>
          <a:xfrm>
            <a:off x="8906255" y="4114800"/>
            <a:ext cx="2286000" cy="22860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00" b="0" u="sng">
                <a:solidFill>
                  <a:srgbClr val="1D599B"/>
                </a:solidFill>
                <a:latin typeface="Aptos"/>
                <a:hlinkClick r:id="rId4"/>
              </a:rPr>
              <a:t>Manufacturer datasheet  ↗</a:t>
            </a:r>
          </a:p>
        </p:txBody>
      </p:sp>
      <p:sp>
        <p:nvSpPr>
          <p:cNvPr id="34" name="COMP S1  SELECTOR"/>
          <p:cNvSpPr/>
          <p:nvPr/>
        </p:nvSpPr>
        <p:spPr>
          <a:xfrm>
            <a:off x="7616952" y="4572000"/>
            <a:ext cx="1993392" cy="123444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LABEL S1  SELECTOR"/>
          <p:cNvSpPr txBox="1"/>
          <p:nvPr/>
        </p:nvSpPr>
        <p:spPr>
          <a:xfrm>
            <a:off x="7744968" y="4677156"/>
            <a:ext cx="1225296" cy="219456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1130" b="1">
                <a:solidFill>
                  <a:srgbClr val="1F344E"/>
                </a:solidFill>
                <a:latin typeface="Aptos"/>
              </a:rPr>
              <a:t>S1-A  SELECTOR</a:t>
            </a:r>
          </a:p>
        </p:txBody>
      </p:sp>
      <p:sp>
        <p:nvSpPr>
          <p:cNvPr id="36" name="DATASHEET S1  SELECTOR"/>
          <p:cNvSpPr txBox="1"/>
          <p:nvPr/>
        </p:nvSpPr>
        <p:spPr>
          <a:xfrm>
            <a:off x="8997696" y="4681728"/>
            <a:ext cx="539496" cy="210312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850" b="0" u="sng">
                <a:solidFill>
                  <a:srgbClr val="1D599B"/>
                </a:solidFill>
                <a:latin typeface="Aptos"/>
                <a:hlinkClick r:id="rId5"/>
              </a:rPr>
              <a:t>DATA ↗</a:t>
            </a:r>
          </a:p>
        </p:txBody>
      </p:sp>
      <p:sp>
        <p:nvSpPr>
          <p:cNvPr id="37" name="TEXT Schneider XB5AD23"/>
          <p:cNvSpPr txBox="1"/>
          <p:nvPr/>
        </p:nvSpPr>
        <p:spPr>
          <a:xfrm>
            <a:off x="7744968" y="4928616"/>
            <a:ext cx="1737360" cy="18288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30" b="0">
                <a:solidFill>
                  <a:srgbClr val="607084"/>
                </a:solidFill>
                <a:latin typeface="Aptos"/>
              </a:rPr>
              <a:t>Schneider XB5AD23</a:t>
            </a:r>
          </a:p>
        </p:txBody>
      </p:sp>
      <p:sp>
        <p:nvSpPr>
          <p:cNvPr id="38" name="COMP E1  OMRON"/>
          <p:cNvSpPr/>
          <p:nvPr/>
        </p:nvSpPr>
        <p:spPr>
          <a:xfrm>
            <a:off x="11631168" y="4572000"/>
            <a:ext cx="2478024" cy="1572768"/>
          </a:xfrm>
          <a:prstGeom prst="roundRect">
            <a:avLst>
              <a:gd name="adj" fmla="val 5500"/>
            </a:avLst>
          </a:prstGeom>
          <a:solidFill>
            <a:srgbClr val="EBF6FA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LABEL E1  OMRON"/>
          <p:cNvSpPr txBox="1"/>
          <p:nvPr/>
        </p:nvSpPr>
        <p:spPr>
          <a:xfrm>
            <a:off x="11759184" y="4677156"/>
            <a:ext cx="1563624" cy="219456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1130" b="1">
                <a:solidFill>
                  <a:srgbClr val="1F344E"/>
                </a:solidFill>
                <a:latin typeface="Aptos"/>
              </a:rPr>
              <a:t>E1  OMRON</a:t>
            </a:r>
          </a:p>
        </p:txBody>
      </p:sp>
      <p:sp>
        <p:nvSpPr>
          <p:cNvPr id="40" name="DATASHEET E1  OMRON"/>
          <p:cNvSpPr txBox="1"/>
          <p:nvPr/>
        </p:nvSpPr>
        <p:spPr>
          <a:xfrm>
            <a:off x="13496544" y="4681728"/>
            <a:ext cx="539496" cy="210312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850" b="0" u="sng">
                <a:solidFill>
                  <a:srgbClr val="1D599B"/>
                </a:solidFill>
                <a:latin typeface="Aptos"/>
                <a:hlinkClick r:id="rId6"/>
              </a:rPr>
              <a:t>DATA ↗</a:t>
            </a:r>
          </a:p>
        </p:txBody>
      </p:sp>
      <p:sp>
        <p:nvSpPr>
          <p:cNvPr id="41" name="TEXT E5CC-TQX3A5M-000"/>
          <p:cNvSpPr txBox="1"/>
          <p:nvPr/>
        </p:nvSpPr>
        <p:spPr>
          <a:xfrm>
            <a:off x="11759184" y="4928616"/>
            <a:ext cx="2221991" cy="18288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30" b="0">
                <a:solidFill>
                  <a:srgbClr val="607084"/>
                </a:solidFill>
                <a:latin typeface="Aptos"/>
              </a:rPr>
              <a:t>E5CC-TQX3A5M-000</a:t>
            </a:r>
          </a:p>
        </p:txBody>
      </p:sp>
      <p:sp>
        <p:nvSpPr>
          <p:cNvPr id="42" name="TEXT NO contact 13–14"/>
          <p:cNvSpPr txBox="1"/>
          <p:nvPr/>
        </p:nvSpPr>
        <p:spPr>
          <a:xfrm>
            <a:off x="7754112" y="5568696"/>
            <a:ext cx="1536192" cy="18288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880" b="0">
                <a:solidFill>
                  <a:srgbClr val="607084"/>
                </a:solidFill>
                <a:latin typeface="Aptos"/>
              </a:rPr>
              <a:t>A  ·  NO 13–14</a:t>
            </a:r>
          </a:p>
        </p:txBody>
      </p:sp>
      <p:sp>
        <p:nvSpPr>
          <p:cNvPr id="43" name="TEXT 230 V AC input"/>
          <p:cNvSpPr txBox="1"/>
          <p:nvPr/>
        </p:nvSpPr>
        <p:spPr>
          <a:xfrm>
            <a:off x="11786616" y="5568696"/>
            <a:ext cx="1600200" cy="18288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880" b="0">
                <a:solidFill>
                  <a:srgbClr val="607084"/>
                </a:solidFill>
                <a:latin typeface="Aptos"/>
              </a:rPr>
              <a:t>230 V AC input</a:t>
            </a:r>
          </a:p>
        </p:txBody>
      </p:sp>
      <p:sp>
        <p:nvSpPr>
          <p:cNvPr id="44" name="COMP S2  SELECTOR"/>
          <p:cNvSpPr/>
          <p:nvPr/>
        </p:nvSpPr>
        <p:spPr>
          <a:xfrm>
            <a:off x="7616952" y="6638544"/>
            <a:ext cx="1993392" cy="123444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LABEL S2  SELECTOR"/>
          <p:cNvSpPr txBox="1"/>
          <p:nvPr/>
        </p:nvSpPr>
        <p:spPr>
          <a:xfrm>
            <a:off x="7744968" y="6743700"/>
            <a:ext cx="1225296" cy="219456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1130" b="1">
                <a:solidFill>
                  <a:srgbClr val="1F344E"/>
                </a:solidFill>
                <a:latin typeface="Aptos"/>
              </a:rPr>
              <a:t>S2-A  SELECTOR</a:t>
            </a:r>
          </a:p>
        </p:txBody>
      </p:sp>
      <p:sp>
        <p:nvSpPr>
          <p:cNvPr id="46" name="DATASHEET S2  SELECTOR"/>
          <p:cNvSpPr txBox="1"/>
          <p:nvPr/>
        </p:nvSpPr>
        <p:spPr>
          <a:xfrm>
            <a:off x="8997696" y="6748272"/>
            <a:ext cx="539496" cy="210312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850" b="0" u="sng">
                <a:solidFill>
                  <a:srgbClr val="1D599B"/>
                </a:solidFill>
                <a:latin typeface="Aptos"/>
                <a:hlinkClick r:id="rId5"/>
              </a:rPr>
              <a:t>DATA ↗</a:t>
            </a:r>
          </a:p>
        </p:txBody>
      </p:sp>
      <p:sp>
        <p:nvSpPr>
          <p:cNvPr id="47" name="TEXT Schneider XB5AD23"/>
          <p:cNvSpPr txBox="1"/>
          <p:nvPr/>
        </p:nvSpPr>
        <p:spPr>
          <a:xfrm>
            <a:off x="7744968" y="6995160"/>
            <a:ext cx="1737360" cy="18288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30" b="0">
                <a:solidFill>
                  <a:srgbClr val="607084"/>
                </a:solidFill>
                <a:latin typeface="Aptos"/>
              </a:rPr>
              <a:t>Schneider XB5AD23</a:t>
            </a:r>
          </a:p>
        </p:txBody>
      </p:sp>
      <p:sp>
        <p:nvSpPr>
          <p:cNvPr id="48" name="COMP E2  OMRON"/>
          <p:cNvSpPr/>
          <p:nvPr/>
        </p:nvSpPr>
        <p:spPr>
          <a:xfrm>
            <a:off x="11631168" y="6638544"/>
            <a:ext cx="2478024" cy="1572768"/>
          </a:xfrm>
          <a:prstGeom prst="roundRect">
            <a:avLst>
              <a:gd name="adj" fmla="val 5500"/>
            </a:avLst>
          </a:prstGeom>
          <a:solidFill>
            <a:srgbClr val="EBF6FA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LABEL E2  OMRON"/>
          <p:cNvSpPr txBox="1"/>
          <p:nvPr/>
        </p:nvSpPr>
        <p:spPr>
          <a:xfrm>
            <a:off x="11759184" y="6743700"/>
            <a:ext cx="1563624" cy="219456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1130" b="1">
                <a:solidFill>
                  <a:srgbClr val="1F344E"/>
                </a:solidFill>
                <a:latin typeface="Aptos"/>
              </a:rPr>
              <a:t>E2  OMRON</a:t>
            </a:r>
          </a:p>
        </p:txBody>
      </p:sp>
      <p:sp>
        <p:nvSpPr>
          <p:cNvPr id="50" name="DATASHEET E2  OMRON"/>
          <p:cNvSpPr txBox="1"/>
          <p:nvPr/>
        </p:nvSpPr>
        <p:spPr>
          <a:xfrm>
            <a:off x="13496544" y="6748272"/>
            <a:ext cx="539496" cy="210312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850" b="0" u="sng">
                <a:solidFill>
                  <a:srgbClr val="1D599B"/>
                </a:solidFill>
                <a:latin typeface="Aptos"/>
                <a:hlinkClick r:id="rId7"/>
              </a:rPr>
              <a:t>DATA ↗</a:t>
            </a:r>
          </a:p>
        </p:txBody>
      </p:sp>
      <p:sp>
        <p:nvSpPr>
          <p:cNvPr id="51" name="TEXT E5CC-TQX3A5M-003"/>
          <p:cNvSpPr txBox="1"/>
          <p:nvPr/>
        </p:nvSpPr>
        <p:spPr>
          <a:xfrm>
            <a:off x="11759184" y="6995160"/>
            <a:ext cx="2221991" cy="18288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30" b="0">
                <a:solidFill>
                  <a:srgbClr val="607084"/>
                </a:solidFill>
                <a:latin typeface="Aptos"/>
              </a:rPr>
              <a:t>E5CC-TQX3A5M-003</a:t>
            </a:r>
          </a:p>
        </p:txBody>
      </p:sp>
      <p:sp>
        <p:nvSpPr>
          <p:cNvPr id="52" name="TEXT NO contact 13–14"/>
          <p:cNvSpPr txBox="1"/>
          <p:nvPr/>
        </p:nvSpPr>
        <p:spPr>
          <a:xfrm>
            <a:off x="7754112" y="7635240"/>
            <a:ext cx="1536192" cy="18288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880" b="0">
                <a:solidFill>
                  <a:srgbClr val="607084"/>
                </a:solidFill>
                <a:latin typeface="Aptos"/>
              </a:rPr>
              <a:t>A  ·  NO 13–14</a:t>
            </a:r>
          </a:p>
        </p:txBody>
      </p:sp>
      <p:sp>
        <p:nvSpPr>
          <p:cNvPr id="53" name="TEXT 230 V AC input"/>
          <p:cNvSpPr txBox="1"/>
          <p:nvPr/>
        </p:nvSpPr>
        <p:spPr>
          <a:xfrm>
            <a:off x="11786616" y="7635240"/>
            <a:ext cx="1600200" cy="18288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880" b="0">
                <a:solidFill>
                  <a:srgbClr val="607084"/>
                </a:solidFill>
                <a:latin typeface="Aptos"/>
              </a:rPr>
              <a:t>230 V AC input</a:t>
            </a:r>
          </a:p>
        </p:txBody>
      </p:sp>
      <p:sp>
        <p:nvSpPr>
          <p:cNvPr id="54" name="TERM jl L"/>
          <p:cNvSpPr/>
          <p:nvPr/>
        </p:nvSpPr>
        <p:spPr>
          <a:xfrm>
            <a:off x="2624328" y="3081527"/>
            <a:ext cx="530352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9A5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9A5127"/>
                </a:solidFill>
                <a:latin typeface="Aptos"/>
              </a:rPr>
              <a:t>L</a:t>
            </a:r>
          </a:p>
        </p:txBody>
      </p:sp>
      <p:sp>
        <p:nvSpPr>
          <p:cNvPr id="55" name="TERM jn N"/>
          <p:cNvSpPr/>
          <p:nvPr/>
        </p:nvSpPr>
        <p:spPr>
          <a:xfrm>
            <a:off x="2624328" y="3721608"/>
            <a:ext cx="530352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A5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1A5BAE"/>
                </a:solidFill>
                <a:latin typeface="Aptos"/>
              </a:rPr>
              <a:t>N</a:t>
            </a:r>
          </a:p>
        </p:txBody>
      </p:sp>
      <p:sp>
        <p:nvSpPr>
          <p:cNvPr id="56" name="TERM jpe PE"/>
          <p:cNvSpPr/>
          <p:nvPr/>
        </p:nvSpPr>
        <p:spPr>
          <a:xfrm>
            <a:off x="2624328" y="4361688"/>
            <a:ext cx="530352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68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16834A"/>
                </a:solidFill>
                <a:latin typeface="Aptos"/>
              </a:rPr>
              <a:t>PE</a:t>
            </a:r>
          </a:p>
        </p:txBody>
      </p:sp>
      <p:sp>
        <p:nvSpPr>
          <p:cNvPr id="57" name="TERM xil L IN"/>
          <p:cNvSpPr/>
          <p:nvPr/>
        </p:nvSpPr>
        <p:spPr>
          <a:xfrm>
            <a:off x="3470148" y="3081527"/>
            <a:ext cx="685800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9A5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9A5127"/>
                </a:solidFill>
                <a:latin typeface="Aptos"/>
              </a:rPr>
              <a:t>L IN</a:t>
            </a:r>
          </a:p>
        </p:txBody>
      </p:sp>
      <p:sp>
        <p:nvSpPr>
          <p:cNvPr id="58" name="TERM xin N IN"/>
          <p:cNvSpPr/>
          <p:nvPr/>
        </p:nvSpPr>
        <p:spPr>
          <a:xfrm>
            <a:off x="3470148" y="3721608"/>
            <a:ext cx="685800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A5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A5BAE"/>
                </a:solidFill>
                <a:latin typeface="Aptos"/>
              </a:rPr>
              <a:t>N IN</a:t>
            </a:r>
          </a:p>
        </p:txBody>
      </p:sp>
      <p:sp>
        <p:nvSpPr>
          <p:cNvPr id="59" name="TERM xip PE IN"/>
          <p:cNvSpPr/>
          <p:nvPr/>
        </p:nvSpPr>
        <p:spPr>
          <a:xfrm>
            <a:off x="3470148" y="4361688"/>
            <a:ext cx="685800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68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6834A"/>
                </a:solidFill>
                <a:latin typeface="Aptos"/>
              </a:rPr>
              <a:t>PE IN</a:t>
            </a:r>
          </a:p>
        </p:txBody>
      </p:sp>
      <p:sp>
        <p:nvSpPr>
          <p:cNvPr id="60" name="TERM ch_pe PE"/>
          <p:cNvSpPr/>
          <p:nvPr/>
        </p:nvSpPr>
        <p:spPr>
          <a:xfrm>
            <a:off x="2615184" y="7315200"/>
            <a:ext cx="548640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68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16834A"/>
                </a:solidFill>
                <a:latin typeface="Aptos"/>
              </a:rPr>
              <a:t>PE</a:t>
            </a:r>
          </a:p>
        </p:txBody>
      </p:sp>
      <p:sp>
        <p:nvSpPr>
          <p:cNvPr id="61" name="TERM x_pe PE"/>
          <p:cNvSpPr/>
          <p:nvPr/>
        </p:nvSpPr>
        <p:spPr>
          <a:xfrm>
            <a:off x="3470148" y="7315200"/>
            <a:ext cx="685800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68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16834A"/>
                </a:solidFill>
                <a:latin typeface="Aptos"/>
              </a:rPr>
              <a:t>PE</a:t>
            </a:r>
          </a:p>
        </p:txBody>
      </p:sp>
      <p:sp>
        <p:nvSpPr>
          <p:cNvPr id="62" name="TERM xlps L"/>
          <p:cNvSpPr/>
          <p:nvPr/>
        </p:nvSpPr>
        <p:spPr>
          <a:xfrm>
            <a:off x="5907024" y="2596896"/>
            <a:ext cx="603504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9A5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9A5127"/>
                </a:solidFill>
                <a:latin typeface="Aptos"/>
              </a:rPr>
              <a:t>L</a:t>
            </a:r>
          </a:p>
        </p:txBody>
      </p:sp>
      <p:sp>
        <p:nvSpPr>
          <p:cNvPr id="63" name="TERM xnps N"/>
          <p:cNvSpPr/>
          <p:nvPr/>
        </p:nvSpPr>
        <p:spPr>
          <a:xfrm>
            <a:off x="5907024" y="3209544"/>
            <a:ext cx="603504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A5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1A5BAE"/>
                </a:solidFill>
                <a:latin typeface="Aptos"/>
              </a:rPr>
              <a:t>N</a:t>
            </a:r>
          </a:p>
        </p:txBody>
      </p:sp>
      <p:sp>
        <p:nvSpPr>
          <p:cNvPr id="64" name="TERM xpps PE"/>
          <p:cNvSpPr/>
          <p:nvPr/>
        </p:nvSpPr>
        <p:spPr>
          <a:xfrm>
            <a:off x="5907024" y="3822192"/>
            <a:ext cx="603504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68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16834A"/>
                </a:solidFill>
                <a:latin typeface="Aptos"/>
              </a:rPr>
              <a:t>PE</a:t>
            </a:r>
          </a:p>
        </p:txBody>
      </p:sp>
      <p:sp>
        <p:nvSpPr>
          <p:cNvPr id="65" name="TERM psl C1"/>
          <p:cNvSpPr/>
          <p:nvPr/>
        </p:nvSpPr>
        <p:spPr>
          <a:xfrm>
            <a:off x="8110727" y="2596896"/>
            <a:ext cx="603504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9A5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9A5127"/>
                </a:solidFill>
                <a:latin typeface="Aptos"/>
              </a:rPr>
              <a:t>C1</a:t>
            </a:r>
          </a:p>
        </p:txBody>
      </p:sp>
      <p:sp>
        <p:nvSpPr>
          <p:cNvPr id="66" name="TERM psn C2"/>
          <p:cNvSpPr/>
          <p:nvPr/>
        </p:nvSpPr>
        <p:spPr>
          <a:xfrm>
            <a:off x="8110727" y="3209544"/>
            <a:ext cx="603504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A5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1A5BAE"/>
                </a:solidFill>
                <a:latin typeface="Aptos"/>
              </a:rPr>
              <a:t>C2</a:t>
            </a:r>
          </a:p>
        </p:txBody>
      </p:sp>
      <p:sp>
        <p:nvSpPr>
          <p:cNvPr id="67" name="TERM pspe C3"/>
          <p:cNvSpPr/>
          <p:nvPr/>
        </p:nvSpPr>
        <p:spPr>
          <a:xfrm>
            <a:off x="8110727" y="3822192"/>
            <a:ext cx="603504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68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16834A"/>
                </a:solidFill>
                <a:latin typeface="Aptos"/>
              </a:rPr>
              <a:t>C3</a:t>
            </a:r>
          </a:p>
        </p:txBody>
      </p:sp>
      <p:sp>
        <p:nvSpPr>
          <p:cNvPr id="68" name="TERM pplus A1 +Vo"/>
          <p:cNvSpPr/>
          <p:nvPr/>
        </p:nvSpPr>
        <p:spPr>
          <a:xfrm>
            <a:off x="10885932" y="2633472"/>
            <a:ext cx="832104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D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D599B"/>
                </a:solidFill>
                <a:latin typeface="Aptos"/>
              </a:rPr>
              <a:t>A1 +Vo</a:t>
            </a:r>
          </a:p>
        </p:txBody>
      </p:sp>
      <p:sp>
        <p:nvSpPr>
          <p:cNvPr id="69" name="TERM pminus1 A2 −Vo"/>
          <p:cNvSpPr/>
          <p:nvPr/>
        </p:nvSpPr>
        <p:spPr>
          <a:xfrm>
            <a:off x="10885932" y="3227832"/>
            <a:ext cx="832104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D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D599B"/>
                </a:solidFill>
                <a:latin typeface="Aptos"/>
              </a:rPr>
              <a:t>A2 −Vo</a:t>
            </a:r>
          </a:p>
        </p:txBody>
      </p:sp>
      <p:sp>
        <p:nvSpPr>
          <p:cNvPr id="70" name="TERM pminus2 A3 −Vo"/>
          <p:cNvSpPr/>
          <p:nvPr/>
        </p:nvSpPr>
        <p:spPr>
          <a:xfrm>
            <a:off x="10885932" y="3822192"/>
            <a:ext cx="832104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D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D599B"/>
                </a:solidFill>
                <a:latin typeface="Aptos"/>
              </a:rPr>
              <a:t>A3 −Vo</a:t>
            </a:r>
          </a:p>
        </p:txBody>
      </p:sp>
      <p:sp>
        <p:nvSpPr>
          <p:cNvPr id="71" name="TERM xl1 L1"/>
          <p:cNvSpPr/>
          <p:nvPr/>
        </p:nvSpPr>
        <p:spPr>
          <a:xfrm>
            <a:off x="5916168" y="5129783"/>
            <a:ext cx="585216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9A5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9A5127"/>
                </a:solidFill>
                <a:latin typeface="Aptos"/>
              </a:rPr>
              <a:t>L1</a:t>
            </a:r>
          </a:p>
        </p:txBody>
      </p:sp>
      <p:sp>
        <p:nvSpPr>
          <p:cNvPr id="72" name="TERM xn1 N1"/>
          <p:cNvSpPr/>
          <p:nvPr/>
        </p:nvSpPr>
        <p:spPr>
          <a:xfrm>
            <a:off x="5916168" y="5705856"/>
            <a:ext cx="585216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A5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1A5BAE"/>
                </a:solidFill>
                <a:latin typeface="Aptos"/>
              </a:rPr>
              <a:t>N1</a:t>
            </a:r>
          </a:p>
        </p:txBody>
      </p:sp>
      <p:sp>
        <p:nvSpPr>
          <p:cNvPr id="73" name="TERM s1in 13"/>
          <p:cNvSpPr/>
          <p:nvPr/>
        </p:nvSpPr>
        <p:spPr>
          <a:xfrm>
            <a:off x="7324344" y="5129783"/>
            <a:ext cx="585216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9A5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9A5127"/>
                </a:solidFill>
                <a:latin typeface="Aptos"/>
              </a:rPr>
              <a:t>13</a:t>
            </a:r>
          </a:p>
        </p:txBody>
      </p:sp>
      <p:sp>
        <p:nvSpPr>
          <p:cNvPr id="74" name="TERM s1out 14"/>
          <p:cNvSpPr/>
          <p:nvPr/>
        </p:nvSpPr>
        <p:spPr>
          <a:xfrm>
            <a:off x="9317736" y="5129783"/>
            <a:ext cx="585216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9A5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9A5127"/>
                </a:solidFill>
                <a:latin typeface="Aptos"/>
              </a:rPr>
              <a:t>14</a:t>
            </a:r>
          </a:p>
        </p:txBody>
      </p:sp>
      <p:sp>
        <p:nvSpPr>
          <p:cNvPr id="75" name="TERM e1l 11"/>
          <p:cNvSpPr/>
          <p:nvPr/>
        </p:nvSpPr>
        <p:spPr>
          <a:xfrm>
            <a:off x="11338560" y="5129783"/>
            <a:ext cx="585216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9A5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9A5127"/>
                </a:solidFill>
                <a:latin typeface="Aptos"/>
              </a:rPr>
              <a:t>11</a:t>
            </a:r>
          </a:p>
        </p:txBody>
      </p:sp>
      <p:sp>
        <p:nvSpPr>
          <p:cNvPr id="76" name="TERM e1n 12"/>
          <p:cNvSpPr/>
          <p:nvPr/>
        </p:nvSpPr>
        <p:spPr>
          <a:xfrm>
            <a:off x="11338560" y="5705856"/>
            <a:ext cx="585216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A5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1A5BAE"/>
                </a:solidFill>
                <a:latin typeface="Aptos"/>
              </a:rPr>
              <a:t>12</a:t>
            </a:r>
          </a:p>
        </p:txBody>
      </p:sp>
      <p:sp>
        <p:nvSpPr>
          <p:cNvPr id="77" name="TERM xl2 L2"/>
          <p:cNvSpPr/>
          <p:nvPr/>
        </p:nvSpPr>
        <p:spPr>
          <a:xfrm>
            <a:off x="5916168" y="7196328"/>
            <a:ext cx="585216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9A5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9A5127"/>
                </a:solidFill>
                <a:latin typeface="Aptos"/>
              </a:rPr>
              <a:t>L2</a:t>
            </a:r>
          </a:p>
        </p:txBody>
      </p:sp>
      <p:sp>
        <p:nvSpPr>
          <p:cNvPr id="78" name="TERM xn2 N2"/>
          <p:cNvSpPr/>
          <p:nvPr/>
        </p:nvSpPr>
        <p:spPr>
          <a:xfrm>
            <a:off x="5916168" y="7772400"/>
            <a:ext cx="585216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A5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1A5BAE"/>
                </a:solidFill>
                <a:latin typeface="Aptos"/>
              </a:rPr>
              <a:t>N2</a:t>
            </a:r>
          </a:p>
        </p:txBody>
      </p:sp>
      <p:sp>
        <p:nvSpPr>
          <p:cNvPr id="79" name="TERM s2in 13"/>
          <p:cNvSpPr/>
          <p:nvPr/>
        </p:nvSpPr>
        <p:spPr>
          <a:xfrm>
            <a:off x="7324344" y="7196328"/>
            <a:ext cx="585216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9A5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9A5127"/>
                </a:solidFill>
                <a:latin typeface="Aptos"/>
              </a:rPr>
              <a:t>13</a:t>
            </a:r>
          </a:p>
        </p:txBody>
      </p:sp>
      <p:sp>
        <p:nvSpPr>
          <p:cNvPr id="80" name="TERM s2out 14"/>
          <p:cNvSpPr/>
          <p:nvPr/>
        </p:nvSpPr>
        <p:spPr>
          <a:xfrm>
            <a:off x="9317736" y="7196328"/>
            <a:ext cx="585216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9A5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9A5127"/>
                </a:solidFill>
                <a:latin typeface="Aptos"/>
              </a:rPr>
              <a:t>14</a:t>
            </a:r>
          </a:p>
        </p:txBody>
      </p:sp>
      <p:sp>
        <p:nvSpPr>
          <p:cNvPr id="81" name="TERM e2l 11"/>
          <p:cNvSpPr/>
          <p:nvPr/>
        </p:nvSpPr>
        <p:spPr>
          <a:xfrm>
            <a:off x="11338560" y="7196328"/>
            <a:ext cx="585216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9A5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9A5127"/>
                </a:solidFill>
                <a:latin typeface="Aptos"/>
              </a:rPr>
              <a:t>11</a:t>
            </a:r>
          </a:p>
        </p:txBody>
      </p:sp>
      <p:sp>
        <p:nvSpPr>
          <p:cNvPr id="82" name="TERM e2n 12"/>
          <p:cNvSpPr/>
          <p:nvPr/>
        </p:nvSpPr>
        <p:spPr>
          <a:xfrm>
            <a:off x="11338560" y="7772400"/>
            <a:ext cx="585216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A5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1A5BAE"/>
                </a:solidFill>
                <a:latin typeface="Aptos"/>
              </a:rPr>
              <a:t>12</a:t>
            </a:r>
          </a:p>
        </p:txBody>
      </p:sp>
      <p:cxnSp>
        <p:nvCxnSpPr>
          <p:cNvPr id="83" name="WIRE jl -&gt; xil (live)"/>
          <p:cNvCxnSpPr/>
          <p:nvPr/>
        </p:nvCxnSpPr>
        <p:spPr>
          <a:xfrm>
            <a:off x="3154680" y="3246119"/>
            <a:ext cx="315468" cy="0"/>
          </a:xfrm>
          <a:prstGeom prst="line">
            <a:avLst/>
          </a:prstGeom>
          <a:ln w="28575">
            <a:solidFill>
              <a:srgbClr val="9A5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WIRE jn -&gt; xin (neutral)"/>
          <p:cNvCxnSpPr/>
          <p:nvPr/>
        </p:nvCxnSpPr>
        <p:spPr>
          <a:xfrm>
            <a:off x="3154680" y="3886200"/>
            <a:ext cx="315468" cy="0"/>
          </a:xfrm>
          <a:prstGeom prst="line">
            <a:avLst/>
          </a:prstGeom>
          <a:ln w="28575">
            <a:solidFill>
              <a:srgbClr val="1A5B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WIRE jpe -&gt; xip (pe)"/>
          <p:cNvCxnSpPr/>
          <p:nvPr/>
        </p:nvCxnSpPr>
        <p:spPr>
          <a:xfrm>
            <a:off x="3154680" y="4526280"/>
            <a:ext cx="315468" cy="0"/>
          </a:xfrm>
          <a:prstGeom prst="line">
            <a:avLst/>
          </a:prstGeom>
          <a:ln w="28575">
            <a:solidFill>
              <a:srgbClr val="168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WIRE ch_pe -&gt; x_pe (pe)"/>
          <p:cNvCxnSpPr/>
          <p:nvPr/>
        </p:nvCxnSpPr>
        <p:spPr>
          <a:xfrm>
            <a:off x="3163824" y="7479792"/>
            <a:ext cx="306324" cy="0"/>
          </a:xfrm>
          <a:prstGeom prst="line">
            <a:avLst/>
          </a:prstGeom>
          <a:ln w="28575">
            <a:solidFill>
              <a:srgbClr val="168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WIRE xlps -&gt; psl (live)"/>
          <p:cNvCxnSpPr/>
          <p:nvPr/>
        </p:nvCxnSpPr>
        <p:spPr>
          <a:xfrm>
            <a:off x="6510528" y="2761488"/>
            <a:ext cx="1600199" cy="0"/>
          </a:xfrm>
          <a:prstGeom prst="line">
            <a:avLst/>
          </a:prstGeom>
          <a:ln w="28575">
            <a:solidFill>
              <a:srgbClr val="9A5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WIRE xnps -&gt; psn (neutral)"/>
          <p:cNvCxnSpPr/>
          <p:nvPr/>
        </p:nvCxnSpPr>
        <p:spPr>
          <a:xfrm>
            <a:off x="6510528" y="3374136"/>
            <a:ext cx="1600199" cy="0"/>
          </a:xfrm>
          <a:prstGeom prst="line">
            <a:avLst/>
          </a:prstGeom>
          <a:ln w="28575">
            <a:solidFill>
              <a:srgbClr val="1A5B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WIRE xpps -&gt; pspe (pe)"/>
          <p:cNvCxnSpPr/>
          <p:nvPr/>
        </p:nvCxnSpPr>
        <p:spPr>
          <a:xfrm>
            <a:off x="6510528" y="3986784"/>
            <a:ext cx="1600199" cy="0"/>
          </a:xfrm>
          <a:prstGeom prst="line">
            <a:avLst/>
          </a:prstGeom>
          <a:ln w="28575">
            <a:solidFill>
              <a:srgbClr val="168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WIRE xl1 -&gt; s1in (live)"/>
          <p:cNvCxnSpPr/>
          <p:nvPr/>
        </p:nvCxnSpPr>
        <p:spPr>
          <a:xfrm>
            <a:off x="6501384" y="5294375"/>
            <a:ext cx="822960" cy="0"/>
          </a:xfrm>
          <a:prstGeom prst="line">
            <a:avLst/>
          </a:prstGeom>
          <a:ln w="28575">
            <a:solidFill>
              <a:srgbClr val="9A5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WIRE s1out -&gt; e1l (live)"/>
          <p:cNvCxnSpPr/>
          <p:nvPr/>
        </p:nvCxnSpPr>
        <p:spPr>
          <a:xfrm>
            <a:off x="9902952" y="5294375"/>
            <a:ext cx="1435608" cy="0"/>
          </a:xfrm>
          <a:prstGeom prst="line">
            <a:avLst/>
          </a:prstGeom>
          <a:ln w="28575">
            <a:solidFill>
              <a:srgbClr val="9A5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WIRE xn1 -&gt; e1n (neutral)"/>
          <p:cNvCxnSpPr/>
          <p:nvPr/>
        </p:nvCxnSpPr>
        <p:spPr>
          <a:xfrm>
            <a:off x="6501384" y="5870448"/>
            <a:ext cx="4837176" cy="0"/>
          </a:xfrm>
          <a:prstGeom prst="line">
            <a:avLst/>
          </a:prstGeom>
          <a:ln w="28575">
            <a:solidFill>
              <a:srgbClr val="1A5B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WIRE xl2 -&gt; s2in (live)"/>
          <p:cNvCxnSpPr/>
          <p:nvPr/>
        </p:nvCxnSpPr>
        <p:spPr>
          <a:xfrm>
            <a:off x="6501384" y="7360920"/>
            <a:ext cx="822960" cy="0"/>
          </a:xfrm>
          <a:prstGeom prst="line">
            <a:avLst/>
          </a:prstGeom>
          <a:ln w="28575">
            <a:solidFill>
              <a:srgbClr val="9A5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WIRE s2out -&gt; e2l (live)"/>
          <p:cNvCxnSpPr/>
          <p:nvPr/>
        </p:nvCxnSpPr>
        <p:spPr>
          <a:xfrm>
            <a:off x="9902952" y="7360920"/>
            <a:ext cx="1435608" cy="0"/>
          </a:xfrm>
          <a:prstGeom prst="line">
            <a:avLst/>
          </a:prstGeom>
          <a:ln w="28575">
            <a:solidFill>
              <a:srgbClr val="9A5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WIRE xn2 -&gt; e2n (neutral)"/>
          <p:cNvCxnSpPr/>
          <p:nvPr/>
        </p:nvCxnSpPr>
        <p:spPr>
          <a:xfrm>
            <a:off x="6501384" y="7936992"/>
            <a:ext cx="4837176" cy="0"/>
          </a:xfrm>
          <a:prstGeom prst="line">
            <a:avLst/>
          </a:prstGeom>
          <a:ln w="28575">
            <a:solidFill>
              <a:srgbClr val="1A5B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MAINTAINED NO CONTACT SYMBOL"/>
          <p:cNvCxnSpPr/>
          <p:nvPr/>
        </p:nvCxnSpPr>
        <p:spPr>
          <a:xfrm>
            <a:off x="7909560" y="5294376"/>
            <a:ext cx="484632" cy="0"/>
          </a:xfrm>
          <a:prstGeom prst="line">
            <a:avLst/>
          </a:prstGeom>
          <a:ln w="28575">
            <a:solidFill>
              <a:srgbClr val="9A5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MAINTAINED NO CONTACT SYMBOL"/>
          <p:cNvCxnSpPr/>
          <p:nvPr/>
        </p:nvCxnSpPr>
        <p:spPr>
          <a:xfrm>
            <a:off x="8942832" y="5294376"/>
            <a:ext cx="374904" cy="0"/>
          </a:xfrm>
          <a:prstGeom prst="line">
            <a:avLst/>
          </a:prstGeom>
          <a:ln w="28575">
            <a:solidFill>
              <a:srgbClr val="9A5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MAINTAINED NO CONTACT SYMBOL"/>
          <p:cNvCxnSpPr/>
          <p:nvPr/>
        </p:nvCxnSpPr>
        <p:spPr>
          <a:xfrm flipV="1">
            <a:off x="8394192" y="5175504"/>
            <a:ext cx="438912" cy="118872"/>
          </a:xfrm>
          <a:prstGeom prst="line">
            <a:avLst/>
          </a:prstGeom>
          <a:ln w="28575">
            <a:solidFill>
              <a:srgbClr val="9A5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NO CONTACT DOT"/>
          <p:cNvSpPr/>
          <p:nvPr/>
        </p:nvSpPr>
        <p:spPr>
          <a:xfrm>
            <a:off x="8362188" y="5262372"/>
            <a:ext cx="64008" cy="64008"/>
          </a:xfrm>
          <a:prstGeom prst="rect">
            <a:avLst/>
          </a:prstGeom>
          <a:solidFill>
            <a:srgbClr val="FFFFFF"/>
          </a:solidFill>
          <a:ln w="15875">
            <a:solidFill>
              <a:srgbClr val="9A5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NO CONTACT DOT"/>
          <p:cNvSpPr/>
          <p:nvPr/>
        </p:nvSpPr>
        <p:spPr>
          <a:xfrm>
            <a:off x="8910828" y="5262372"/>
            <a:ext cx="64008" cy="64008"/>
          </a:xfrm>
          <a:prstGeom prst="rect">
            <a:avLst/>
          </a:prstGeom>
          <a:solidFill>
            <a:srgbClr val="FFFFFF"/>
          </a:solidFill>
          <a:ln w="15875">
            <a:solidFill>
              <a:srgbClr val="9A5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1" name="MAINTAINED NO CONTACT SYMBOL"/>
          <p:cNvCxnSpPr/>
          <p:nvPr/>
        </p:nvCxnSpPr>
        <p:spPr>
          <a:xfrm>
            <a:off x="7909560" y="7360920"/>
            <a:ext cx="484632" cy="0"/>
          </a:xfrm>
          <a:prstGeom prst="line">
            <a:avLst/>
          </a:prstGeom>
          <a:ln w="28575">
            <a:solidFill>
              <a:srgbClr val="9A5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MAINTAINED NO CONTACT SYMBOL"/>
          <p:cNvCxnSpPr/>
          <p:nvPr/>
        </p:nvCxnSpPr>
        <p:spPr>
          <a:xfrm>
            <a:off x="8942832" y="7360920"/>
            <a:ext cx="374904" cy="0"/>
          </a:xfrm>
          <a:prstGeom prst="line">
            <a:avLst/>
          </a:prstGeom>
          <a:ln w="28575">
            <a:solidFill>
              <a:srgbClr val="9A5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MAINTAINED NO CONTACT SYMBOL"/>
          <p:cNvCxnSpPr/>
          <p:nvPr/>
        </p:nvCxnSpPr>
        <p:spPr>
          <a:xfrm flipV="1">
            <a:off x="8394192" y="7242048"/>
            <a:ext cx="438912" cy="118872"/>
          </a:xfrm>
          <a:prstGeom prst="line">
            <a:avLst/>
          </a:prstGeom>
          <a:ln w="28575">
            <a:solidFill>
              <a:srgbClr val="9A5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NO CONTACT DOT"/>
          <p:cNvSpPr/>
          <p:nvPr/>
        </p:nvSpPr>
        <p:spPr>
          <a:xfrm>
            <a:off x="8362188" y="7328916"/>
            <a:ext cx="64008" cy="64008"/>
          </a:xfrm>
          <a:prstGeom prst="rect">
            <a:avLst/>
          </a:prstGeom>
          <a:solidFill>
            <a:srgbClr val="FFFFFF"/>
          </a:solidFill>
          <a:ln w="15875">
            <a:solidFill>
              <a:srgbClr val="9A5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NO CONTACT DOT"/>
          <p:cNvSpPr/>
          <p:nvPr/>
        </p:nvSpPr>
        <p:spPr>
          <a:xfrm>
            <a:off x="8910828" y="7328916"/>
            <a:ext cx="64008" cy="64008"/>
          </a:xfrm>
          <a:prstGeom prst="rect">
            <a:avLst/>
          </a:prstGeom>
          <a:solidFill>
            <a:srgbClr val="FFFFFF"/>
          </a:solidFill>
          <a:ln w="15875">
            <a:solidFill>
              <a:srgbClr val="9A5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 TO SHARED PSU"/>
          <p:cNvSpPr txBox="1"/>
          <p:nvPr/>
        </p:nvSpPr>
        <p:spPr>
          <a:xfrm>
            <a:off x="6318504" y="2276856"/>
            <a:ext cx="1527048" cy="246888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30" b="1">
                <a:solidFill>
                  <a:srgbClr val="607084"/>
                </a:solidFill>
                <a:latin typeface="Aptos"/>
              </a:rPr>
              <a:t>TO SHARED PSU</a:t>
            </a:r>
          </a:p>
        </p:txBody>
      </p:sp>
      <p:sp>
        <p:nvSpPr>
          <p:cNvPr id="107" name="TEXT CH 1 CONTROLLER"/>
          <p:cNvSpPr txBox="1"/>
          <p:nvPr/>
        </p:nvSpPr>
        <p:spPr>
          <a:xfrm>
            <a:off x="9875520" y="4544568"/>
            <a:ext cx="1572768" cy="210312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00" b="1">
                <a:solidFill>
                  <a:srgbClr val="607084"/>
                </a:solidFill>
                <a:latin typeface="Aptos"/>
              </a:rPr>
              <a:t>CH 1 CONTROLLER</a:t>
            </a:r>
          </a:p>
        </p:txBody>
      </p:sp>
      <p:sp>
        <p:nvSpPr>
          <p:cNvPr id="108" name="TEXT CH 2 CONTROLLER"/>
          <p:cNvSpPr txBox="1"/>
          <p:nvPr/>
        </p:nvSpPr>
        <p:spPr>
          <a:xfrm>
            <a:off x="9875520" y="6583680"/>
            <a:ext cx="1572768" cy="210312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00" b="1">
                <a:solidFill>
                  <a:srgbClr val="607084"/>
                </a:solidFill>
                <a:latin typeface="Aptos"/>
              </a:rPr>
              <a:t>CH 2 CONTROLLER</a:t>
            </a:r>
          </a:p>
        </p:txBody>
      </p:sp>
      <p:sp>
        <p:nvSpPr>
          <p:cNvPr id="109" name="TEXT 24 V OUTPUT → SHEET 02"/>
          <p:cNvSpPr txBox="1"/>
          <p:nvPr/>
        </p:nvSpPr>
        <p:spPr>
          <a:xfrm>
            <a:off x="11622024" y="4114800"/>
            <a:ext cx="2542032" cy="192024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00" b="1">
                <a:solidFill>
                  <a:srgbClr val="1D599B"/>
                </a:solidFill>
                <a:latin typeface="Aptos"/>
              </a:rPr>
              <a:t>24 V OUTPUT → SHEET 02</a:t>
            </a:r>
          </a:p>
        </p:txBody>
      </p:sp>
      <p:sp>
        <p:nvSpPr>
          <p:cNvPr id="110" name="DESIGN REVIEW NOTE"/>
          <p:cNvSpPr/>
          <p:nvPr/>
        </p:nvSpPr>
        <p:spPr>
          <a:xfrm>
            <a:off x="621792" y="8705088"/>
            <a:ext cx="13487400" cy="685800"/>
          </a:xfrm>
          <a:prstGeom prst="roundRect">
            <a:avLst>
              <a:gd name="adj" fmla="val 5500"/>
            </a:avLst>
          </a:prstGeom>
          <a:solidFill>
            <a:srgbClr val="FFF7E9"/>
          </a:solidFill>
          <a:ln w="13208">
            <a:solidFill>
              <a:srgbClr val="D9A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 DESIGN REVIEW ONLY — Not approved "/>
          <p:cNvSpPr txBox="1"/>
          <p:nvPr/>
        </p:nvSpPr>
        <p:spPr>
          <a:xfrm>
            <a:off x="850392" y="8796528"/>
            <a:ext cx="12947904" cy="22860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869" b="1">
                <a:solidFill>
                  <a:srgbClr val="A35B1B"/>
                </a:solidFill>
                <a:latin typeface="Aptos"/>
              </a:rPr>
              <a:t>MAINS DISTRIBUTION   /   X1-L, X1-N AND X1-PE ARE THREE SEPARATE GROUPS</a:t>
            </a:r>
          </a:p>
        </p:txBody>
      </p:sp>
      <p:sp>
        <p:nvSpPr>
          <p:cNvPr id="112" name="TEXT Confirm X1 terminal blocks and jum"/>
          <p:cNvSpPr txBox="1"/>
          <p:nvPr/>
        </p:nvSpPr>
        <p:spPr>
          <a:xfrm>
            <a:off x="850392" y="9034272"/>
            <a:ext cx="12984480" cy="18288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40" b="0">
                <a:solidFill>
                  <a:srgbClr val="A35B1B"/>
                </a:solidFill>
                <a:latin typeface="Aptos"/>
              </a:rPr>
              <a:t>L/N destinations: PS1, E1 and E2. PE bonds the power supply, cabinet body and door; do not join N to PE.</a:t>
            </a:r>
          </a:p>
        </p:txBody>
      </p:sp>
      <p:sp>
        <p:nvSpPr>
          <p:cNvPr id="113" name="TEXT HEATING RATE CONTROLLER   /   D7 A"/>
          <p:cNvSpPr txBox="1"/>
          <p:nvPr/>
        </p:nvSpPr>
        <p:spPr>
          <a:xfrm>
            <a:off x="640080" y="9765792"/>
            <a:ext cx="9601200" cy="22860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69" b="1">
                <a:solidFill>
                  <a:srgbClr val="607084"/>
                </a:solidFill>
                <a:latin typeface="Aptos"/>
              </a:rPr>
              <a:t>HEATING RATE CONTROLLER   /   REFERENCE ELECTRICAL WIRING   /   R1.2  ·  26 OCT 2026</a:t>
            </a:r>
          </a:p>
        </p:txBody>
      </p:sp>
      <p:sp>
        <p:nvSpPr>
          <p:cNvPr id="114" name="TEXT SHEET 01 / 01"/>
          <p:cNvSpPr txBox="1"/>
          <p:nvPr/>
        </p:nvSpPr>
        <p:spPr>
          <a:xfrm>
            <a:off x="12115800" y="9765792"/>
            <a:ext cx="2011680" cy="22860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r"/>
            <a:r>
              <a:rPr sz="969" b="1">
                <a:solidFill>
                  <a:srgbClr val="607084"/>
                </a:solidFill>
                <a:latin typeface="Aptos"/>
              </a:rPr>
              <a:t>SHEET 04 / 14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2  /  SHARED 24 V DISTRI"/>
          <p:cNvSpPr txBox="1"/>
          <p:nvPr/>
        </p:nvSpPr>
        <p:spPr>
          <a:xfrm>
            <a:off x="566928" y="320040"/>
            <a:ext cx="13917168" cy="44805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2200" b="1">
                <a:solidFill>
                  <a:srgbClr val="1F344E"/>
                </a:solidFill>
                <a:latin typeface="Aptos"/>
              </a:rPr>
              <a:t>05  /  SHARED 24 V DISTRIBUTION &amp; CHANNEL INTERLOCKS</a:t>
            </a:r>
          </a:p>
        </p:txBody>
      </p:sp>
      <p:sp>
        <p:nvSpPr>
          <p:cNvPr id="3" name="TEXT One shared Mean Well supp"/>
          <p:cNvSpPr txBox="1"/>
          <p:nvPr/>
        </p:nvSpPr>
        <p:spPr>
          <a:xfrm>
            <a:off x="585216" y="886968"/>
            <a:ext cx="13752576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60" b="0">
                <a:solidFill>
                  <a:srgbClr val="607084"/>
                </a:solidFill>
                <a:latin typeface="Aptos"/>
              </a:rPr>
              <a:t>Shared +24 V feeds two selector inputs. Shared 0 V serves four return circuits per channel.</a:t>
            </a:r>
          </a:p>
        </p:txBody>
      </p:sp>
      <p:sp>
        <p:nvSpPr>
          <p:cNvPr id="4" name="HEADER RULE"/>
          <p:cNvSpPr/>
          <p:nvPr/>
        </p:nvSpPr>
        <p:spPr>
          <a:xfrm>
            <a:off x="566928" y="1325880"/>
            <a:ext cx="13953744" cy="32004"/>
          </a:xfrm>
          <a:prstGeom prst="rect">
            <a:avLst/>
          </a:prstGeom>
          <a:solidFill>
            <a:srgbClr val="1D599B"/>
          </a:solidFill>
          <a:ln w="1270">
            <a:solidFill>
              <a:srgbClr val="1D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4 V DC DISTRIBUTION   / "/>
          <p:cNvSpPr txBox="1"/>
          <p:nvPr/>
        </p:nvSpPr>
        <p:spPr>
          <a:xfrm>
            <a:off x="603504" y="1490472"/>
            <a:ext cx="1353312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10" b="1">
                <a:solidFill>
                  <a:srgbClr val="1D599B"/>
                </a:solidFill>
                <a:latin typeface="Aptos"/>
              </a:rPr>
              <a:t>24 V DC DISTRIBUTION   /   CHANNEL 1 + CHANNEL 2</a:t>
            </a:r>
          </a:p>
        </p:txBody>
      </p:sp>
      <p:sp>
        <p:nvSpPr>
          <p:cNvPr id="6" name="ENGINEERING REVIEW NOTE"/>
          <p:cNvSpPr/>
          <p:nvPr/>
        </p:nvSpPr>
        <p:spPr>
          <a:xfrm>
            <a:off x="658368" y="8979408"/>
            <a:ext cx="13533120" cy="566928"/>
          </a:xfrm>
          <a:prstGeom prst="roundRect">
            <a:avLst>
              <a:gd name="adj" fmla="val 5500"/>
            </a:avLst>
          </a:prstGeom>
          <a:solidFill>
            <a:srgbClr val="FFF7E9"/>
          </a:solidFill>
          <a:ln w="9525">
            <a:solidFill>
              <a:srgbClr val="DAB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 DESIGN REVIEW ONLY  |  Te"/>
          <p:cNvSpPr txBox="1"/>
          <p:nvPr/>
        </p:nvSpPr>
        <p:spPr>
          <a:xfrm>
            <a:off x="822960" y="9079992"/>
            <a:ext cx="13167360" cy="31089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5" b="1">
                <a:solidFill>
                  <a:srgbClr val="A35B1B"/>
                </a:solidFill>
                <a:latin typeface="Aptos"/>
              </a:rPr>
              <a:t>REFERENCE WIRING   /   230 V AC CONTROL SUPPLY  •  24 V DC CONTROLS  •  0–60 V DC HEATER CIRCUITS</a:t>
            </a:r>
          </a:p>
        </p:txBody>
      </p:sp>
      <p:sp>
        <p:nvSpPr>
          <p:cNvPr id="8" name="TEXT HEATING RATE CONTROLLER  "/>
          <p:cNvSpPr txBox="1"/>
          <p:nvPr/>
        </p:nvSpPr>
        <p:spPr>
          <a:xfrm>
            <a:off x="649224" y="9820656"/>
            <a:ext cx="117043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HEATING RATE CONTROLLER   /   REFERENCE ELECTRICAL WIRING   /   R1.2  ·  26 OCT 2026</a:t>
            </a:r>
          </a:p>
        </p:txBody>
      </p:sp>
      <p:sp>
        <p:nvSpPr>
          <p:cNvPr id="9" name="TEXT SHEET 02"/>
          <p:cNvSpPr txBox="1"/>
          <p:nvPr/>
        </p:nvSpPr>
        <p:spPr>
          <a:xfrm>
            <a:off x="12984480" y="9820656"/>
            <a:ext cx="11887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r"/>
            <a:r>
              <a:rPr sz="860" b="1">
                <a:solidFill>
                  <a:srgbClr val="607084"/>
                </a:solidFill>
                <a:latin typeface="Aptos"/>
              </a:rPr>
              <a:t>SHEET 05 / 14</a:t>
            </a:r>
          </a:p>
        </p:txBody>
      </p:sp>
      <p:sp>
        <p:nvSpPr>
          <p:cNvPr id="10" name="TEXT S1/S2 second contact numb"/>
          <p:cNvSpPr txBox="1"/>
          <p:nvPr/>
        </p:nvSpPr>
        <p:spPr>
          <a:xfrm>
            <a:off x="667512" y="8065008"/>
            <a:ext cx="13395960" cy="6126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r>
              <a:rPr sz="819">
                <a:solidFill>
                  <a:srgbClr val="3F5A6F"/>
                </a:solidFill>
              </a:rPr>
              <a:t>Each selector: contact A (13-14) switches the Omron mains live; contact B (23-24) gates the channel +24 V. EN1/EN2 come from Finder 13.61 terminal 14.</a:t>
            </a:r>
          </a:p>
          <a:p>
            <a:r>
              <a:rPr sz="1030">
                <a:solidFill>
                  <a:srgbClr val="3F5A6F"/>
                </a:solidFill>
              </a:rPr>
              <a:t/>
            </a:r>
          </a:p>
        </p:txBody>
      </p:sp>
      <p:sp>
        <p:nvSpPr>
          <p:cNvPr id="11" name="COMPONENT PS1  MEAN WELL"/>
          <p:cNvSpPr/>
          <p:nvPr/>
        </p:nvSpPr>
        <p:spPr>
          <a:xfrm>
            <a:off x="658368" y="2761488"/>
            <a:ext cx="2157984" cy="2450592"/>
          </a:xfrm>
          <a:prstGeom prst="roundRect">
            <a:avLst>
              <a:gd name="adj" fmla="val 5500"/>
            </a:avLst>
          </a:prstGeom>
          <a:solidFill>
            <a:srgbClr val="EBF6FA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 PS1  MEAN WELL"/>
          <p:cNvSpPr txBox="1"/>
          <p:nvPr/>
        </p:nvSpPr>
        <p:spPr>
          <a:xfrm>
            <a:off x="822959" y="2898648"/>
            <a:ext cx="1856231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220" b="1">
                <a:solidFill>
                  <a:srgbClr val="1F344E"/>
                </a:solidFill>
                <a:latin typeface="Aptos"/>
              </a:rPr>
              <a:t>PS1  MEAN WELL</a:t>
            </a:r>
          </a:p>
        </p:txBody>
      </p:sp>
      <p:sp>
        <p:nvSpPr>
          <p:cNvPr id="13" name="TEXT XDR-120E-24"/>
          <p:cNvSpPr txBox="1"/>
          <p:nvPr/>
        </p:nvSpPr>
        <p:spPr>
          <a:xfrm>
            <a:off x="822959" y="3209544"/>
            <a:ext cx="1856231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XDR-120E-24</a:t>
            </a:r>
          </a:p>
        </p:txBody>
      </p:sp>
      <p:sp>
        <p:nvSpPr>
          <p:cNvPr id="14" name="TEXT 24 V DC / 5 A&#10;shared supp"/>
          <p:cNvSpPr txBox="1"/>
          <p:nvPr/>
        </p:nvSpPr>
        <p:spPr>
          <a:xfrm>
            <a:off x="822959" y="3483864"/>
            <a:ext cx="1828800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24 V DC / 5 A
shared supply</a:t>
            </a:r>
          </a:p>
        </p:txBody>
      </p:sp>
      <p:sp>
        <p:nvSpPr>
          <p:cNvPr id="15" name="MFR LINK PS1  MEAN WELL"/>
          <p:cNvSpPr txBox="1"/>
          <p:nvPr/>
        </p:nvSpPr>
        <p:spPr>
          <a:xfrm>
            <a:off x="822959" y="4901184"/>
            <a:ext cx="1828800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2"/>
              </a:rPr>
              <a:t>Manufacturer datasheet  ↗</a:t>
            </a:r>
          </a:p>
        </p:txBody>
      </p:sp>
      <p:sp>
        <p:nvSpPr>
          <p:cNvPr id="16" name="COMPONENT X2  DC DISTR."/>
          <p:cNvSpPr/>
          <p:nvPr/>
        </p:nvSpPr>
        <p:spPr>
          <a:xfrm>
            <a:off x="3685032" y="2203704"/>
            <a:ext cx="2212848" cy="5294376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 X2  DC DISTR."/>
          <p:cNvSpPr txBox="1"/>
          <p:nvPr/>
        </p:nvSpPr>
        <p:spPr>
          <a:xfrm>
            <a:off x="3849624" y="2340864"/>
            <a:ext cx="1911095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220" b="1">
                <a:solidFill>
                  <a:srgbClr val="1F344E"/>
                </a:solidFill>
                <a:latin typeface="Aptos"/>
              </a:rPr>
              <a:t>X2  DC DISTR.</a:t>
            </a:r>
          </a:p>
        </p:txBody>
      </p:sp>
      <p:sp>
        <p:nvSpPr>
          <p:cNvPr id="18" name="TEXT +24 V  /  0 V"/>
          <p:cNvSpPr txBox="1"/>
          <p:nvPr/>
        </p:nvSpPr>
        <p:spPr>
          <a:xfrm>
            <a:off x="3849624" y="2651760"/>
            <a:ext cx="1911095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+24 V  /  0 V</a:t>
            </a:r>
          </a:p>
        </p:txBody>
      </p:sp>
      <p:sp>
        <p:nvSpPr>
          <p:cNvPr id="19" name="TEXT Physical terminals and ju"/>
          <p:cNvSpPr txBox="1"/>
          <p:nvPr/>
        </p:nvSpPr>
        <p:spPr>
          <a:xfrm>
            <a:off x="3867912" y="4599432"/>
            <a:ext cx="1719072" cy="64008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819" b="0">
                <a:solidFill>
                  <a:srgbClr val="607084"/>
                </a:solidFill>
                <a:latin typeface="Aptos"/>
              </a:rPr>
              <a:t>X2-24: 6 ports, 3 used. X2-0V: 12 ports, 9 used.</a:t>
            </a:r>
          </a:p>
        </p:txBody>
      </p:sp>
      <p:sp>
        <p:nvSpPr>
          <p:cNvPr id="20" name="COMPONENT S1-B  SELECTOR"/>
          <p:cNvSpPr/>
          <p:nvPr/>
        </p:nvSpPr>
        <p:spPr>
          <a:xfrm>
            <a:off x="6757416" y="2176272"/>
            <a:ext cx="1993392" cy="1755648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 S1-B  SELECTOR"/>
          <p:cNvSpPr txBox="1"/>
          <p:nvPr/>
        </p:nvSpPr>
        <p:spPr>
          <a:xfrm>
            <a:off x="6922007" y="2313432"/>
            <a:ext cx="1691640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220" b="1">
                <a:solidFill>
                  <a:srgbClr val="1F344E"/>
                </a:solidFill>
                <a:latin typeface="Aptos"/>
              </a:rPr>
              <a:t>S1-B  SELECTOR</a:t>
            </a:r>
          </a:p>
        </p:txBody>
      </p:sp>
      <p:sp>
        <p:nvSpPr>
          <p:cNvPr id="22" name="TEXT XB5AD23"/>
          <p:cNvSpPr txBox="1"/>
          <p:nvPr/>
        </p:nvSpPr>
        <p:spPr>
          <a:xfrm>
            <a:off x="6922007" y="2624328"/>
            <a:ext cx="169164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XB5AD23</a:t>
            </a:r>
          </a:p>
        </p:txBody>
      </p:sp>
      <p:sp>
        <p:nvSpPr>
          <p:cNvPr id="23" name="MFR LINK S1-B  SELECTOR"/>
          <p:cNvSpPr txBox="1"/>
          <p:nvPr/>
        </p:nvSpPr>
        <p:spPr>
          <a:xfrm>
            <a:off x="6922007" y="3621024"/>
            <a:ext cx="1664208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3"/>
              </a:rPr>
              <a:t>Manufacturer datasheet  ↗</a:t>
            </a:r>
          </a:p>
        </p:txBody>
      </p:sp>
      <p:sp>
        <p:nvSpPr>
          <p:cNvPr id="24" name="COMPONENT X3  CH1 CONTROL"/>
          <p:cNvSpPr/>
          <p:nvPr/>
        </p:nvSpPr>
        <p:spPr>
          <a:xfrm>
            <a:off x="11091672" y="2276856"/>
            <a:ext cx="2404872" cy="1947672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 X3  CH1 CONTROL"/>
          <p:cNvSpPr txBox="1"/>
          <p:nvPr/>
        </p:nvSpPr>
        <p:spPr>
          <a:xfrm>
            <a:off x="11256264" y="2414016"/>
            <a:ext cx="2103120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220" b="1">
                <a:solidFill>
                  <a:srgbClr val="1F344E"/>
                </a:solidFill>
                <a:latin typeface="Aptos"/>
              </a:rPr>
              <a:t>CH1 CONTROL NETS</a:t>
            </a:r>
          </a:p>
        </p:txBody>
      </p:sp>
      <p:sp>
        <p:nvSpPr>
          <p:cNvPr id="26" name="TEXT Gated +24 V / 0 V"/>
          <p:cNvSpPr txBox="1"/>
          <p:nvPr/>
        </p:nvSpPr>
        <p:spPr>
          <a:xfrm>
            <a:off x="11256264" y="2724912"/>
            <a:ext cx="210312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X3-24G / X2-0V</a:t>
            </a:r>
          </a:p>
        </p:txBody>
      </p:sp>
      <p:sp>
        <p:nvSpPr>
          <p:cNvPr id="27" name="COMPONENT S2-B  SELECTOR"/>
          <p:cNvSpPr/>
          <p:nvPr/>
        </p:nvSpPr>
        <p:spPr>
          <a:xfrm>
            <a:off x="6757416" y="4837176"/>
            <a:ext cx="1993392" cy="1755648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 S2-B  SELECTOR"/>
          <p:cNvSpPr txBox="1"/>
          <p:nvPr/>
        </p:nvSpPr>
        <p:spPr>
          <a:xfrm>
            <a:off x="6922007" y="4974336"/>
            <a:ext cx="1691640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220" b="1">
                <a:solidFill>
                  <a:srgbClr val="1F344E"/>
                </a:solidFill>
                <a:latin typeface="Aptos"/>
              </a:rPr>
              <a:t>S2-B  SELECTOR</a:t>
            </a:r>
          </a:p>
        </p:txBody>
      </p:sp>
      <p:sp>
        <p:nvSpPr>
          <p:cNvPr id="29" name="TEXT XB5AD23"/>
          <p:cNvSpPr txBox="1"/>
          <p:nvPr/>
        </p:nvSpPr>
        <p:spPr>
          <a:xfrm>
            <a:off x="6922007" y="5285232"/>
            <a:ext cx="169164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XB5AD23</a:t>
            </a:r>
          </a:p>
        </p:txBody>
      </p:sp>
      <p:sp>
        <p:nvSpPr>
          <p:cNvPr id="30" name="MFR LINK S2-B  SELECTOR"/>
          <p:cNvSpPr txBox="1"/>
          <p:nvPr/>
        </p:nvSpPr>
        <p:spPr>
          <a:xfrm>
            <a:off x="6922007" y="6281928"/>
            <a:ext cx="1664208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3"/>
              </a:rPr>
              <a:t>Manufacturer datasheet  ↗</a:t>
            </a:r>
          </a:p>
        </p:txBody>
      </p:sp>
      <p:sp>
        <p:nvSpPr>
          <p:cNvPr id="31" name="COMPONENT X4  CH2 CONTROL"/>
          <p:cNvSpPr/>
          <p:nvPr/>
        </p:nvSpPr>
        <p:spPr>
          <a:xfrm>
            <a:off x="11091672" y="4910328"/>
            <a:ext cx="2404872" cy="1947672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 X4  CH2 CONTROL"/>
          <p:cNvSpPr txBox="1"/>
          <p:nvPr/>
        </p:nvSpPr>
        <p:spPr>
          <a:xfrm>
            <a:off x="11256264" y="5047488"/>
            <a:ext cx="2103120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220" b="1">
                <a:solidFill>
                  <a:srgbClr val="1F344E"/>
                </a:solidFill>
                <a:latin typeface="Aptos"/>
              </a:rPr>
              <a:t>CH2 CONTROL NETS</a:t>
            </a:r>
          </a:p>
        </p:txBody>
      </p:sp>
      <p:sp>
        <p:nvSpPr>
          <p:cNvPr id="33" name="TEXT Gated +24 V / 0 V"/>
          <p:cNvSpPr txBox="1"/>
          <p:nvPr/>
        </p:nvSpPr>
        <p:spPr>
          <a:xfrm>
            <a:off x="11256264" y="5358384"/>
            <a:ext cx="210312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X4-24G / X2-0V</a:t>
            </a:r>
          </a:p>
        </p:txBody>
      </p:sp>
      <p:sp>
        <p:nvSpPr>
          <p:cNvPr id="34" name="PORT +Vo"/>
          <p:cNvSpPr/>
          <p:nvPr/>
        </p:nvSpPr>
        <p:spPr>
          <a:xfrm>
            <a:off x="2359152" y="3191256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 +Vo"/>
          <p:cNvSpPr txBox="1"/>
          <p:nvPr/>
        </p:nvSpPr>
        <p:spPr>
          <a:xfrm>
            <a:off x="2372868" y="3204972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+Vo</a:t>
            </a:r>
          </a:p>
        </p:txBody>
      </p:sp>
      <p:sp>
        <p:nvSpPr>
          <p:cNvPr id="36" name="PORT 24+"/>
          <p:cNvSpPr/>
          <p:nvPr/>
        </p:nvSpPr>
        <p:spPr>
          <a:xfrm>
            <a:off x="3557016" y="3191256"/>
            <a:ext cx="59436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 24+"/>
          <p:cNvSpPr txBox="1"/>
          <p:nvPr/>
        </p:nvSpPr>
        <p:spPr>
          <a:xfrm>
            <a:off x="3570732" y="3204972"/>
            <a:ext cx="566928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24+</a:t>
            </a:r>
          </a:p>
        </p:txBody>
      </p:sp>
      <p:cxnSp>
        <p:nvCxnSpPr>
          <p:cNvPr id="38" name="PROPOSED WIRE v24"/>
          <p:cNvCxnSpPr/>
          <p:nvPr/>
        </p:nvCxnSpPr>
        <p:spPr>
          <a:xfrm>
            <a:off x="2944368" y="3374136"/>
            <a:ext cx="612648" cy="0"/>
          </a:xfrm>
          <a:prstGeom prst="line">
            <a:avLst/>
          </a:prstGeom>
          <a:ln w="2857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PORT -Vo"/>
          <p:cNvSpPr/>
          <p:nvPr/>
        </p:nvSpPr>
        <p:spPr>
          <a:xfrm>
            <a:off x="2359152" y="3931920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 -Vo"/>
          <p:cNvSpPr txBox="1"/>
          <p:nvPr/>
        </p:nvSpPr>
        <p:spPr>
          <a:xfrm>
            <a:off x="2372868" y="3945635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-Vo</a:t>
            </a:r>
          </a:p>
        </p:txBody>
      </p:sp>
      <p:sp>
        <p:nvSpPr>
          <p:cNvPr id="41" name="PORT 0 V"/>
          <p:cNvSpPr/>
          <p:nvPr/>
        </p:nvSpPr>
        <p:spPr>
          <a:xfrm>
            <a:off x="3557016" y="3931920"/>
            <a:ext cx="59436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 0 V"/>
          <p:cNvSpPr txBox="1"/>
          <p:nvPr/>
        </p:nvSpPr>
        <p:spPr>
          <a:xfrm>
            <a:off x="3570732" y="3945635"/>
            <a:ext cx="566928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0 V</a:t>
            </a:r>
          </a:p>
        </p:txBody>
      </p:sp>
      <p:cxnSp>
        <p:nvCxnSpPr>
          <p:cNvPr id="43" name="PROPOSED WIRE return"/>
          <p:cNvCxnSpPr/>
          <p:nvPr/>
        </p:nvCxnSpPr>
        <p:spPr>
          <a:xfrm>
            <a:off x="2944368" y="4114800"/>
            <a:ext cx="612648" cy="0"/>
          </a:xfrm>
          <a:prstGeom prst="line">
            <a:avLst/>
          </a:prstGeom>
          <a:ln w="28575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ORT 24+"/>
          <p:cNvSpPr/>
          <p:nvPr/>
        </p:nvSpPr>
        <p:spPr>
          <a:xfrm>
            <a:off x="5431536" y="2962656"/>
            <a:ext cx="59436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 24+"/>
          <p:cNvSpPr txBox="1"/>
          <p:nvPr/>
        </p:nvSpPr>
        <p:spPr>
          <a:xfrm>
            <a:off x="5445251" y="2976372"/>
            <a:ext cx="566928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24+</a:t>
            </a:r>
          </a:p>
        </p:txBody>
      </p:sp>
      <p:sp>
        <p:nvSpPr>
          <p:cNvPr id="46" name="PORT 13"/>
          <p:cNvSpPr/>
          <p:nvPr/>
        </p:nvSpPr>
        <p:spPr>
          <a:xfrm>
            <a:off x="6629400" y="2962656"/>
            <a:ext cx="55778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23</a:t>
            </a:r>
          </a:p>
        </p:txBody>
      </p:sp>
      <p:sp>
        <p:nvSpPr>
          <p:cNvPr id="47" name="TEXT 13"/>
          <p:cNvSpPr txBox="1"/>
          <p:nvPr/>
        </p:nvSpPr>
        <p:spPr>
          <a:xfrm>
            <a:off x="6643116" y="2976372"/>
            <a:ext cx="53035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23</a:t>
            </a:r>
          </a:p>
        </p:txBody>
      </p:sp>
      <p:sp>
        <p:nvSpPr>
          <p:cNvPr id="48" name="PORT 14"/>
          <p:cNvSpPr/>
          <p:nvPr/>
        </p:nvSpPr>
        <p:spPr>
          <a:xfrm>
            <a:off x="8321040" y="2962656"/>
            <a:ext cx="55778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24</a:t>
            </a:r>
          </a:p>
        </p:txBody>
      </p:sp>
      <p:sp>
        <p:nvSpPr>
          <p:cNvPr id="49" name="TEXT 14"/>
          <p:cNvSpPr txBox="1"/>
          <p:nvPr/>
        </p:nvSpPr>
        <p:spPr>
          <a:xfrm>
            <a:off x="8334756" y="2976372"/>
            <a:ext cx="53035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24</a:t>
            </a:r>
          </a:p>
        </p:txBody>
      </p:sp>
      <p:sp>
        <p:nvSpPr>
          <p:cNvPr id="50" name="PORT +24"/>
          <p:cNvSpPr/>
          <p:nvPr/>
        </p:nvSpPr>
        <p:spPr>
          <a:xfrm>
            <a:off x="10963656" y="2962656"/>
            <a:ext cx="612648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 +24"/>
          <p:cNvSpPr txBox="1"/>
          <p:nvPr/>
        </p:nvSpPr>
        <p:spPr>
          <a:xfrm>
            <a:off x="10977372" y="2976372"/>
            <a:ext cx="585216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+24</a:t>
            </a:r>
          </a:p>
        </p:txBody>
      </p:sp>
      <p:cxnSp>
        <p:nvCxnSpPr>
          <p:cNvPr id="52" name="PROPOSED WIRE v24"/>
          <p:cNvCxnSpPr/>
          <p:nvPr/>
        </p:nvCxnSpPr>
        <p:spPr>
          <a:xfrm>
            <a:off x="6025896" y="3145536"/>
            <a:ext cx="603504" cy="0"/>
          </a:xfrm>
          <a:prstGeom prst="line">
            <a:avLst/>
          </a:prstGeom>
          <a:ln w="2857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PROPOSED WIRE v24"/>
          <p:cNvCxnSpPr/>
          <p:nvPr/>
        </p:nvCxnSpPr>
        <p:spPr>
          <a:xfrm>
            <a:off x="7187184" y="3145536"/>
            <a:ext cx="429768" cy="0"/>
          </a:xfrm>
          <a:prstGeom prst="line">
            <a:avLst/>
          </a:prstGeom>
          <a:ln w="24130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PROPOSED WIRE v24"/>
          <p:cNvCxnSpPr/>
          <p:nvPr/>
        </p:nvCxnSpPr>
        <p:spPr>
          <a:xfrm>
            <a:off x="7891272" y="3145536"/>
            <a:ext cx="429768" cy="0"/>
          </a:xfrm>
          <a:prstGeom prst="line">
            <a:avLst/>
          </a:prstGeom>
          <a:ln w="24130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PROPOSED WIRE v24"/>
          <p:cNvCxnSpPr/>
          <p:nvPr/>
        </p:nvCxnSpPr>
        <p:spPr>
          <a:xfrm flipV="1">
            <a:off x="7616952" y="3044952"/>
            <a:ext cx="205740" cy="100584"/>
          </a:xfrm>
          <a:prstGeom prst="line">
            <a:avLst/>
          </a:prstGeom>
          <a:ln w="21590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ONTACT TERMINAL DOT"/>
          <p:cNvSpPr/>
          <p:nvPr/>
        </p:nvSpPr>
        <p:spPr>
          <a:xfrm>
            <a:off x="7592263" y="3120847"/>
            <a:ext cx="49377" cy="49377"/>
          </a:xfrm>
          <a:prstGeom prst="rect">
            <a:avLst/>
          </a:prstGeom>
          <a:solidFill>
            <a:srgbClr val="FFFFFF"/>
          </a:solidFill>
          <a:ln w="1270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CONTACT TERMINAL DOT"/>
          <p:cNvSpPr/>
          <p:nvPr/>
        </p:nvSpPr>
        <p:spPr>
          <a:xfrm>
            <a:off x="7866583" y="3120847"/>
            <a:ext cx="49377" cy="49377"/>
          </a:xfrm>
          <a:prstGeom prst="rect">
            <a:avLst/>
          </a:prstGeom>
          <a:solidFill>
            <a:srgbClr val="FFFFFF"/>
          </a:solidFill>
          <a:ln w="1270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8" name="PROPOSED WIRE v24"/>
          <p:cNvCxnSpPr/>
          <p:nvPr/>
        </p:nvCxnSpPr>
        <p:spPr>
          <a:xfrm>
            <a:off x="8878824" y="3145536"/>
            <a:ext cx="2084832" cy="0"/>
          </a:xfrm>
          <a:prstGeom prst="line">
            <a:avLst/>
          </a:prstGeom>
          <a:ln w="2857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PORT 0 V"/>
          <p:cNvSpPr/>
          <p:nvPr/>
        </p:nvSpPr>
        <p:spPr>
          <a:xfrm>
            <a:off x="5431536" y="3867911"/>
            <a:ext cx="59436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 0 V"/>
          <p:cNvSpPr txBox="1"/>
          <p:nvPr/>
        </p:nvSpPr>
        <p:spPr>
          <a:xfrm>
            <a:off x="5445251" y="3881627"/>
            <a:ext cx="566928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0 V</a:t>
            </a:r>
          </a:p>
        </p:txBody>
      </p:sp>
      <p:sp>
        <p:nvSpPr>
          <p:cNvPr id="61" name="PORT 0 V"/>
          <p:cNvSpPr/>
          <p:nvPr/>
        </p:nvSpPr>
        <p:spPr>
          <a:xfrm>
            <a:off x="10963656" y="3867911"/>
            <a:ext cx="60350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 0 V"/>
          <p:cNvSpPr txBox="1"/>
          <p:nvPr/>
        </p:nvSpPr>
        <p:spPr>
          <a:xfrm>
            <a:off x="10977372" y="3881627"/>
            <a:ext cx="57607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0 V</a:t>
            </a:r>
          </a:p>
        </p:txBody>
      </p:sp>
      <p:cxnSp>
        <p:nvCxnSpPr>
          <p:cNvPr id="63" name="PROPOSED WIRE return"/>
          <p:cNvCxnSpPr/>
          <p:nvPr/>
        </p:nvCxnSpPr>
        <p:spPr>
          <a:xfrm>
            <a:off x="6025896" y="4050791"/>
            <a:ext cx="4937760" cy="0"/>
          </a:xfrm>
          <a:prstGeom prst="line">
            <a:avLst/>
          </a:prstGeom>
          <a:ln w="28575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PORT 24+"/>
          <p:cNvSpPr/>
          <p:nvPr/>
        </p:nvSpPr>
        <p:spPr>
          <a:xfrm>
            <a:off x="5431536" y="5623559"/>
            <a:ext cx="59436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 24+"/>
          <p:cNvSpPr txBox="1"/>
          <p:nvPr/>
        </p:nvSpPr>
        <p:spPr>
          <a:xfrm>
            <a:off x="5445251" y="5637275"/>
            <a:ext cx="566928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24+</a:t>
            </a:r>
          </a:p>
        </p:txBody>
      </p:sp>
      <p:sp>
        <p:nvSpPr>
          <p:cNvPr id="66" name="PORT 13"/>
          <p:cNvSpPr/>
          <p:nvPr/>
        </p:nvSpPr>
        <p:spPr>
          <a:xfrm>
            <a:off x="6629400" y="5623559"/>
            <a:ext cx="55778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23</a:t>
            </a:r>
          </a:p>
        </p:txBody>
      </p:sp>
      <p:sp>
        <p:nvSpPr>
          <p:cNvPr id="67" name="TEXT 13"/>
          <p:cNvSpPr txBox="1"/>
          <p:nvPr/>
        </p:nvSpPr>
        <p:spPr>
          <a:xfrm>
            <a:off x="6643116" y="5637275"/>
            <a:ext cx="53035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23</a:t>
            </a:r>
          </a:p>
        </p:txBody>
      </p:sp>
      <p:sp>
        <p:nvSpPr>
          <p:cNvPr id="68" name="PORT 14"/>
          <p:cNvSpPr/>
          <p:nvPr/>
        </p:nvSpPr>
        <p:spPr>
          <a:xfrm>
            <a:off x="8321040" y="5623559"/>
            <a:ext cx="55778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24</a:t>
            </a:r>
          </a:p>
        </p:txBody>
      </p:sp>
      <p:sp>
        <p:nvSpPr>
          <p:cNvPr id="69" name="TEXT 14"/>
          <p:cNvSpPr txBox="1"/>
          <p:nvPr/>
        </p:nvSpPr>
        <p:spPr>
          <a:xfrm>
            <a:off x="8334756" y="5637275"/>
            <a:ext cx="53035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24</a:t>
            </a:r>
          </a:p>
        </p:txBody>
      </p:sp>
      <p:sp>
        <p:nvSpPr>
          <p:cNvPr id="70" name="PORT +24"/>
          <p:cNvSpPr/>
          <p:nvPr/>
        </p:nvSpPr>
        <p:spPr>
          <a:xfrm>
            <a:off x="10963656" y="5623559"/>
            <a:ext cx="612648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 +24"/>
          <p:cNvSpPr txBox="1"/>
          <p:nvPr/>
        </p:nvSpPr>
        <p:spPr>
          <a:xfrm>
            <a:off x="10977372" y="5637275"/>
            <a:ext cx="585216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+24</a:t>
            </a:r>
          </a:p>
        </p:txBody>
      </p:sp>
      <p:cxnSp>
        <p:nvCxnSpPr>
          <p:cNvPr id="72" name="PROPOSED WIRE v24"/>
          <p:cNvCxnSpPr/>
          <p:nvPr/>
        </p:nvCxnSpPr>
        <p:spPr>
          <a:xfrm>
            <a:off x="6025896" y="5806440"/>
            <a:ext cx="603504" cy="0"/>
          </a:xfrm>
          <a:prstGeom prst="line">
            <a:avLst/>
          </a:prstGeom>
          <a:ln w="2857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PROPOSED WIRE v24"/>
          <p:cNvCxnSpPr/>
          <p:nvPr/>
        </p:nvCxnSpPr>
        <p:spPr>
          <a:xfrm>
            <a:off x="7187184" y="5806440"/>
            <a:ext cx="429768" cy="0"/>
          </a:xfrm>
          <a:prstGeom prst="line">
            <a:avLst/>
          </a:prstGeom>
          <a:ln w="24130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PROPOSED WIRE v24"/>
          <p:cNvCxnSpPr/>
          <p:nvPr/>
        </p:nvCxnSpPr>
        <p:spPr>
          <a:xfrm>
            <a:off x="7891272" y="5806440"/>
            <a:ext cx="429768" cy="0"/>
          </a:xfrm>
          <a:prstGeom prst="line">
            <a:avLst/>
          </a:prstGeom>
          <a:ln w="24130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PROPOSED WIRE v24"/>
          <p:cNvCxnSpPr/>
          <p:nvPr/>
        </p:nvCxnSpPr>
        <p:spPr>
          <a:xfrm flipV="1">
            <a:off x="7616952" y="5705855"/>
            <a:ext cx="205740" cy="100585"/>
          </a:xfrm>
          <a:prstGeom prst="line">
            <a:avLst/>
          </a:prstGeom>
          <a:ln w="21590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CONTACT TERMINAL DOT"/>
          <p:cNvSpPr/>
          <p:nvPr/>
        </p:nvSpPr>
        <p:spPr>
          <a:xfrm>
            <a:off x="7592263" y="5781751"/>
            <a:ext cx="49377" cy="49377"/>
          </a:xfrm>
          <a:prstGeom prst="rect">
            <a:avLst/>
          </a:prstGeom>
          <a:solidFill>
            <a:srgbClr val="FFFFFF"/>
          </a:solidFill>
          <a:ln w="1270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CONTACT TERMINAL DOT"/>
          <p:cNvSpPr/>
          <p:nvPr/>
        </p:nvSpPr>
        <p:spPr>
          <a:xfrm>
            <a:off x="7866583" y="5781751"/>
            <a:ext cx="49377" cy="49377"/>
          </a:xfrm>
          <a:prstGeom prst="rect">
            <a:avLst/>
          </a:prstGeom>
          <a:solidFill>
            <a:srgbClr val="FFFFFF"/>
          </a:solidFill>
          <a:ln w="1270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PROPOSED WIRE v24"/>
          <p:cNvCxnSpPr/>
          <p:nvPr/>
        </p:nvCxnSpPr>
        <p:spPr>
          <a:xfrm>
            <a:off x="8878824" y="5806440"/>
            <a:ext cx="2084832" cy="0"/>
          </a:xfrm>
          <a:prstGeom prst="line">
            <a:avLst/>
          </a:prstGeom>
          <a:ln w="2857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PORT 0 V"/>
          <p:cNvSpPr/>
          <p:nvPr/>
        </p:nvSpPr>
        <p:spPr>
          <a:xfrm>
            <a:off x="5431536" y="6583680"/>
            <a:ext cx="59436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 0 V"/>
          <p:cNvSpPr txBox="1"/>
          <p:nvPr/>
        </p:nvSpPr>
        <p:spPr>
          <a:xfrm>
            <a:off x="5445251" y="6597396"/>
            <a:ext cx="566928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0 V</a:t>
            </a:r>
          </a:p>
        </p:txBody>
      </p:sp>
      <p:sp>
        <p:nvSpPr>
          <p:cNvPr id="81" name="PORT 0 V"/>
          <p:cNvSpPr/>
          <p:nvPr/>
        </p:nvSpPr>
        <p:spPr>
          <a:xfrm>
            <a:off x="10963656" y="6583680"/>
            <a:ext cx="60350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 0 V"/>
          <p:cNvSpPr txBox="1"/>
          <p:nvPr/>
        </p:nvSpPr>
        <p:spPr>
          <a:xfrm>
            <a:off x="10977372" y="6597396"/>
            <a:ext cx="57607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0 V</a:t>
            </a:r>
          </a:p>
        </p:txBody>
      </p:sp>
      <p:cxnSp>
        <p:nvCxnSpPr>
          <p:cNvPr id="83" name="PROPOSED WIRE return"/>
          <p:cNvCxnSpPr/>
          <p:nvPr/>
        </p:nvCxnSpPr>
        <p:spPr>
          <a:xfrm>
            <a:off x="6025896" y="6766560"/>
            <a:ext cx="4937760" cy="0"/>
          </a:xfrm>
          <a:prstGeom prst="line">
            <a:avLst/>
          </a:prstGeom>
          <a:ln w="28575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 CH1: 24 V gated by S1-B  "/>
          <p:cNvSpPr txBox="1"/>
          <p:nvPr/>
        </p:nvSpPr>
        <p:spPr>
          <a:xfrm>
            <a:off x="6848856" y="4315968"/>
            <a:ext cx="6565392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40" b="0">
                <a:solidFill>
                  <a:srgbClr val="A35B1B"/>
                </a:solidFill>
                <a:latin typeface="Aptos"/>
              </a:rPr>
              <a:t>CH1: 24G feeds Finder L/+, 11 and SB1:C. 0 V connections terminate at X2-0V.</a:t>
            </a:r>
          </a:p>
        </p:txBody>
      </p:sp>
      <p:sp>
        <p:nvSpPr>
          <p:cNvPr id="85" name="TEXT CH2: 24 V gated by S2-B  "/>
          <p:cNvSpPr txBox="1"/>
          <p:nvPr/>
        </p:nvSpPr>
        <p:spPr>
          <a:xfrm>
            <a:off x="6848856" y="7059168"/>
            <a:ext cx="6565392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40" b="0">
                <a:solidFill>
                  <a:srgbClr val="A35B1B"/>
                </a:solidFill>
                <a:latin typeface="Aptos"/>
              </a:rPr>
              <a:t>CH2: 24G feeds Finder L/+, 11 and SB2:C. 0 V connections terminate at X2-0V.</a:t>
            </a:r>
          </a:p>
        </p:txBody>
      </p:sp>
      <p:sp>
        <p:nvSpPr>
          <p:cNvPr id="86" name="KEY"/>
          <p:cNvSpPr/>
          <p:nvPr/>
        </p:nvSpPr>
        <p:spPr>
          <a:xfrm>
            <a:off x="11155680" y="640080"/>
            <a:ext cx="320040" cy="27432"/>
          </a:xfrm>
          <a:prstGeom prst="rect">
            <a:avLst/>
          </a:prstGeom>
          <a:solidFill>
            <a:srgbClr val="008192"/>
          </a:solidFill>
          <a:ln w="127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 +24 V / gated"/>
          <p:cNvSpPr txBox="1"/>
          <p:nvPr/>
        </p:nvSpPr>
        <p:spPr>
          <a:xfrm>
            <a:off x="11548872" y="539496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+24 V / gated</a:t>
            </a:r>
          </a:p>
        </p:txBody>
      </p:sp>
      <p:sp>
        <p:nvSpPr>
          <p:cNvPr id="88" name="KEY"/>
          <p:cNvSpPr/>
          <p:nvPr/>
        </p:nvSpPr>
        <p:spPr>
          <a:xfrm>
            <a:off x="11155680" y="941832"/>
            <a:ext cx="320040" cy="27432"/>
          </a:xfrm>
          <a:prstGeom prst="rect">
            <a:avLst/>
          </a:prstGeom>
          <a:solidFill>
            <a:srgbClr val="607184"/>
          </a:solidFill>
          <a:ln w="1270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 0 V return"/>
          <p:cNvSpPr txBox="1"/>
          <p:nvPr/>
        </p:nvSpPr>
        <p:spPr>
          <a:xfrm>
            <a:off x="11548872" y="841248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0 V return</a:t>
            </a:r>
          </a:p>
        </p:txBody>
      </p:sp>
      <p:sp>
        <p:nvSpPr>
          <p:cNvPr id="90" name="CONTACT ID S1-B 23-24"/>
          <p:cNvSpPr txBox="1"/>
          <p:nvPr/>
        </p:nvSpPr>
        <p:spPr>
          <a:xfrm>
            <a:off x="6848856" y="3415284"/>
            <a:ext cx="1810512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365E75"/>
                </a:solidFill>
              </a:rPr>
              <a:t>B  ·  NO 23-24</a:t>
            </a:r>
          </a:p>
        </p:txBody>
      </p:sp>
      <p:sp>
        <p:nvSpPr>
          <p:cNvPr id="91" name="CONTACT ID S2-B 23-24"/>
          <p:cNvSpPr txBox="1"/>
          <p:nvPr/>
        </p:nvSpPr>
        <p:spPr>
          <a:xfrm>
            <a:off x="6848856" y="6076188"/>
            <a:ext cx="1810512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365E75"/>
                </a:solidFill>
              </a:rPr>
              <a:t>B  ·  NO 23-24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3  /  CHANNEL 1 / MOMENT"/>
          <p:cNvSpPr txBox="1"/>
          <p:nvPr/>
        </p:nvSpPr>
        <p:spPr>
          <a:xfrm>
            <a:off x="566928" y="320040"/>
            <a:ext cx="13917168" cy="44805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2200" b="1">
                <a:solidFill>
                  <a:srgbClr val="1F344E"/>
                </a:solidFill>
                <a:latin typeface="Aptos"/>
              </a:rPr>
              <a:t>06  /  CHANNEL 1 / MOMENTARY ENABLE &amp; FINDER CONTROL</a:t>
            </a:r>
          </a:p>
        </p:txBody>
      </p:sp>
      <p:sp>
        <p:nvSpPr>
          <p:cNvPr id="3" name="TEXT EAO button pulses the Fin"/>
          <p:cNvSpPr txBox="1"/>
          <p:nvPr/>
        </p:nvSpPr>
        <p:spPr>
          <a:xfrm>
            <a:off x="585216" y="886968"/>
            <a:ext cx="13752576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20" b="0">
                <a:solidFill>
                  <a:srgbClr val="607084"/>
                </a:solidFill>
                <a:latin typeface="Aptos"/>
              </a:rPr>
              <a:t>CH1: Finder 13.61 K1:14 is the EN1 switched +24 V output supplying ACTIVE LED+.</a:t>
            </a:r>
          </a:p>
        </p:txBody>
      </p:sp>
      <p:sp>
        <p:nvSpPr>
          <p:cNvPr id="4" name="HEADER RULE"/>
          <p:cNvSpPr/>
          <p:nvPr/>
        </p:nvSpPr>
        <p:spPr>
          <a:xfrm>
            <a:off x="566928" y="1325880"/>
            <a:ext cx="13953744" cy="32004"/>
          </a:xfrm>
          <a:prstGeom prst="rect">
            <a:avLst/>
          </a:prstGeom>
          <a:solidFill>
            <a:srgbClr val="1D599B"/>
          </a:solidFill>
          <a:ln w="1270">
            <a:solidFill>
              <a:srgbClr val="1D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HEATER ENABLE CIRCUIT   /"/>
          <p:cNvSpPr txBox="1"/>
          <p:nvPr/>
        </p:nvSpPr>
        <p:spPr>
          <a:xfrm>
            <a:off x="603504" y="1490472"/>
            <a:ext cx="1353312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10" b="1">
                <a:solidFill>
                  <a:srgbClr val="1D599B"/>
                </a:solidFill>
                <a:latin typeface="Aptos"/>
              </a:rPr>
              <a:t>HEATER ENABLE / EN1 SHARED SWITCHED +24 V NODE</a:t>
            </a:r>
          </a:p>
        </p:txBody>
      </p:sp>
      <p:sp>
        <p:nvSpPr>
          <p:cNvPr id="6" name="ENGINEERING REVIEW NOTE"/>
          <p:cNvSpPr/>
          <p:nvPr/>
        </p:nvSpPr>
        <p:spPr>
          <a:xfrm>
            <a:off x="658368" y="8979408"/>
            <a:ext cx="13533120" cy="566928"/>
          </a:xfrm>
          <a:prstGeom prst="roundRect">
            <a:avLst>
              <a:gd name="adj" fmla="val 5500"/>
            </a:avLst>
          </a:prstGeom>
          <a:solidFill>
            <a:srgbClr val="FFF7E9"/>
          </a:solidFill>
          <a:ln w="9525">
            <a:solidFill>
              <a:srgbClr val="DAB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 DESIGN REVIEW ONLY  |  Te"/>
          <p:cNvSpPr txBox="1"/>
          <p:nvPr/>
        </p:nvSpPr>
        <p:spPr>
          <a:xfrm>
            <a:off x="822960" y="9079992"/>
            <a:ext cx="13167360" cy="31089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5" b="1">
                <a:solidFill>
                  <a:srgbClr val="A35B1B"/>
                </a:solidFill>
                <a:latin typeface="Aptos"/>
              </a:rPr>
              <a:t>REFERENCE WIRING   /   230 V AC CONTROL SUPPLY  •  24 V DC CONTROLS  •  0–60 V DC HEATER CIRCUITS</a:t>
            </a:r>
          </a:p>
        </p:txBody>
      </p:sp>
      <p:sp>
        <p:nvSpPr>
          <p:cNvPr id="8" name="TEXT HEATING RATE CONTROLLER  "/>
          <p:cNvSpPr txBox="1"/>
          <p:nvPr/>
        </p:nvSpPr>
        <p:spPr>
          <a:xfrm>
            <a:off x="649224" y="9820656"/>
            <a:ext cx="117043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HEATING RATE CONTROLLER   /   REFERENCE ELECTRICAL WIRING   /   R1.2  ·  26 OCT 2026</a:t>
            </a:r>
          </a:p>
        </p:txBody>
      </p:sp>
      <p:sp>
        <p:nvSpPr>
          <p:cNvPr id="9" name="TEXT SHEET 03"/>
          <p:cNvSpPr txBox="1"/>
          <p:nvPr/>
        </p:nvSpPr>
        <p:spPr>
          <a:xfrm>
            <a:off x="12984480" y="9820656"/>
            <a:ext cx="11887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r"/>
            <a:r>
              <a:rPr sz="860" b="1">
                <a:solidFill>
                  <a:srgbClr val="607084"/>
                </a:solidFill>
                <a:latin typeface="Aptos"/>
              </a:rPr>
              <a:t>SHEET 06 / 14</a:t>
            </a:r>
          </a:p>
        </p:txBody>
      </p:sp>
      <p:sp>
        <p:nvSpPr>
          <p:cNvPr id="10" name="TEXT OFF-on-power-restoration "/>
          <p:cNvSpPr txBox="1"/>
          <p:nvPr/>
        </p:nvSpPr>
        <p:spPr>
          <a:xfrm>
            <a:off x="667512" y="9537192"/>
            <a:ext cx="13560552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00" b="0">
                <a:solidFill>
                  <a:srgbClr val="607084"/>
                </a:solidFill>
                <a:latin typeface="Aptos"/>
              </a:rPr>
              <a:t>Finder 13.61: RI step mode; each valid momentary press changes heater-enable state.</a:t>
            </a:r>
          </a:p>
        </p:txBody>
      </p:sp>
      <p:sp>
        <p:nvSpPr>
          <p:cNvPr id="11" name="COMPONENT X3  CH1 CONTROL"/>
          <p:cNvSpPr/>
          <p:nvPr/>
        </p:nvSpPr>
        <p:spPr>
          <a:xfrm>
            <a:off x="667512" y="2779776"/>
            <a:ext cx="1965960" cy="4005072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 X3  CH1 CONTROL"/>
          <p:cNvSpPr txBox="1"/>
          <p:nvPr/>
        </p:nvSpPr>
        <p:spPr>
          <a:xfrm>
            <a:off x="832103" y="2916936"/>
            <a:ext cx="1664207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220" b="1">
                <a:solidFill>
                  <a:srgbClr val="1F344E"/>
                </a:solidFill>
                <a:latin typeface="Aptos"/>
              </a:rPr>
              <a:t>CH1 CONTROL NETS</a:t>
            </a:r>
          </a:p>
        </p:txBody>
      </p:sp>
      <p:sp>
        <p:nvSpPr>
          <p:cNvPr id="13" name="TEXT Gated +24 V / 0 V"/>
          <p:cNvSpPr txBox="1"/>
          <p:nvPr/>
        </p:nvSpPr>
        <p:spPr>
          <a:xfrm>
            <a:off x="832103" y="3227832"/>
            <a:ext cx="1664207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X3-24G / X2-0V</a:t>
            </a:r>
          </a:p>
        </p:txBody>
      </p:sp>
      <p:sp>
        <p:nvSpPr>
          <p:cNvPr id="14" name="COMPONENT SB1  EAO + LED"/>
          <p:cNvSpPr/>
          <p:nvPr/>
        </p:nvSpPr>
        <p:spPr>
          <a:xfrm>
            <a:off x="3291840" y="2779776"/>
            <a:ext cx="2286000" cy="4005072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 SB1  EAO + LED"/>
          <p:cNvSpPr txBox="1"/>
          <p:nvPr/>
        </p:nvSpPr>
        <p:spPr>
          <a:xfrm>
            <a:off x="3456432" y="2916936"/>
            <a:ext cx="1984248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220" b="1">
                <a:solidFill>
                  <a:srgbClr val="1F344E"/>
                </a:solidFill>
                <a:latin typeface="Aptos"/>
              </a:rPr>
              <a:t>SB1  EAO + LED</a:t>
            </a:r>
          </a:p>
        </p:txBody>
      </p:sp>
      <p:sp>
        <p:nvSpPr>
          <p:cNvPr id="16" name="TEXT 82-4151.1134"/>
          <p:cNvSpPr txBox="1"/>
          <p:nvPr/>
        </p:nvSpPr>
        <p:spPr>
          <a:xfrm>
            <a:off x="3456432" y="3227832"/>
            <a:ext cx="1984248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82-4151.1134</a:t>
            </a:r>
          </a:p>
        </p:txBody>
      </p:sp>
      <p:sp>
        <p:nvSpPr>
          <p:cNvPr id="17" name="MFR LINK SB1  EAO + LED"/>
          <p:cNvSpPr txBox="1"/>
          <p:nvPr/>
        </p:nvSpPr>
        <p:spPr>
          <a:xfrm>
            <a:off x="3456432" y="6473952"/>
            <a:ext cx="1956816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2"/>
              </a:rPr>
              <a:t>Manufacturer datasheet  ↗</a:t>
            </a:r>
          </a:p>
        </p:txBody>
      </p:sp>
      <p:sp>
        <p:nvSpPr>
          <p:cNvPr id="18" name="COMPONENT K1  FINDER 13.61"/>
          <p:cNvSpPr/>
          <p:nvPr/>
        </p:nvSpPr>
        <p:spPr>
          <a:xfrm>
            <a:off x="6592824" y="2779776"/>
            <a:ext cx="2907792" cy="4005072"/>
          </a:xfrm>
          <a:prstGeom prst="roundRect">
            <a:avLst>
              <a:gd name="adj" fmla="val 5500"/>
            </a:avLst>
          </a:prstGeom>
          <a:solidFill>
            <a:srgbClr val="EBF6FA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 K1  FINDER 13.61"/>
          <p:cNvSpPr txBox="1"/>
          <p:nvPr/>
        </p:nvSpPr>
        <p:spPr>
          <a:xfrm>
            <a:off x="6757416" y="2916936"/>
            <a:ext cx="2606040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220" b="1">
                <a:solidFill>
                  <a:srgbClr val="1F344E"/>
                </a:solidFill>
                <a:latin typeface="Aptos"/>
              </a:rPr>
              <a:t>K1  FINDER 13.61</a:t>
            </a:r>
          </a:p>
        </p:txBody>
      </p:sp>
      <p:sp>
        <p:nvSpPr>
          <p:cNvPr id="20" name="TEXT 13.61.0.024.0000"/>
          <p:cNvSpPr txBox="1"/>
          <p:nvPr/>
        </p:nvSpPr>
        <p:spPr>
          <a:xfrm>
            <a:off x="6757416" y="3227832"/>
            <a:ext cx="260604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13.61.0.024.0000</a:t>
            </a:r>
          </a:p>
        </p:txBody>
      </p:sp>
      <p:sp>
        <p:nvSpPr>
          <p:cNvPr id="21" name="MFR LINK K1  FINDER 13.61"/>
          <p:cNvSpPr txBox="1"/>
          <p:nvPr/>
        </p:nvSpPr>
        <p:spPr>
          <a:xfrm>
            <a:off x="6757416" y="6473952"/>
            <a:ext cx="2578608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3"/>
              </a:rPr>
              <a:t>Manufacturer datasheet  ↗</a:t>
            </a:r>
          </a:p>
        </p:txBody>
      </p:sp>
      <p:sp>
        <p:nvSpPr>
          <p:cNvPr id="22" name="COMPONENT K3 / SK3  RELAY + SOCKET"/>
          <p:cNvSpPr/>
          <p:nvPr/>
        </p:nvSpPr>
        <p:spPr>
          <a:xfrm>
            <a:off x="10981944" y="2779776"/>
            <a:ext cx="2596896" cy="4005072"/>
          </a:xfrm>
          <a:prstGeom prst="roundRect">
            <a:avLst>
              <a:gd name="adj" fmla="val 5500"/>
            </a:avLst>
          </a:prstGeom>
          <a:solidFill>
            <a:srgbClr val="EBF6FA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 K3 / SK3  RELAY + SOCKET"/>
          <p:cNvSpPr txBox="1"/>
          <p:nvPr/>
        </p:nvSpPr>
        <p:spPr>
          <a:xfrm>
            <a:off x="11146536" y="2916936"/>
            <a:ext cx="2295144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50" b="1">
                <a:solidFill>
                  <a:srgbClr val="1F344E"/>
                </a:solidFill>
                <a:latin typeface="Aptos"/>
              </a:rPr>
              <a:t>K3 / SK3  RELAY + SOCKET</a:t>
            </a:r>
          </a:p>
        </p:txBody>
      </p:sp>
      <p:sp>
        <p:nvSpPr>
          <p:cNvPr id="24" name="TEXT 62.31.9.024.4800"/>
          <p:cNvSpPr txBox="1"/>
          <p:nvPr/>
        </p:nvSpPr>
        <p:spPr>
          <a:xfrm>
            <a:off x="11146536" y="3227832"/>
            <a:ext cx="2295144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62.31.9.024.4800</a:t>
            </a:r>
          </a:p>
        </p:txBody>
      </p:sp>
      <p:sp>
        <p:nvSpPr>
          <p:cNvPr id="25" name="TEXT 92.03 socket family;&#10;actu"/>
          <p:cNvSpPr txBox="1"/>
          <p:nvPr/>
        </p:nvSpPr>
        <p:spPr>
          <a:xfrm>
            <a:off x="11146536" y="3886200"/>
            <a:ext cx="2286000" cy="4572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880" b="0">
                <a:solidFill>
                  <a:srgbClr val="607084"/>
                </a:solidFill>
                <a:latin typeface="Aptos"/>
              </a:rPr>
              <a:t>Specified relay socket:
92.03SMA</a:t>
            </a:r>
          </a:p>
        </p:txBody>
      </p:sp>
      <p:sp>
        <p:nvSpPr>
          <p:cNvPr id="26" name="TEXT Relay PDF ↗"/>
          <p:cNvSpPr txBox="1"/>
          <p:nvPr/>
        </p:nvSpPr>
        <p:spPr>
          <a:xfrm>
            <a:off x="11173968" y="6355080"/>
            <a:ext cx="941832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19" b="0" u="sng">
                <a:solidFill>
                  <a:srgbClr val="1D599B"/>
                </a:solidFill>
                <a:latin typeface="Aptos"/>
                <a:hlinkClick r:id="rId4"/>
              </a:rPr>
              <a:t>Relay PDF ↗</a:t>
            </a:r>
          </a:p>
        </p:txBody>
      </p:sp>
      <p:sp>
        <p:nvSpPr>
          <p:cNvPr id="27" name="TEXT Socket PDF ↗"/>
          <p:cNvSpPr txBox="1"/>
          <p:nvPr/>
        </p:nvSpPr>
        <p:spPr>
          <a:xfrm>
            <a:off x="12134088" y="6355080"/>
            <a:ext cx="120700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19" b="0" u="sng">
                <a:solidFill>
                  <a:srgbClr val="1D599B"/>
                </a:solidFill>
                <a:latin typeface="Aptos"/>
                <a:hlinkClick r:id="rId5"/>
              </a:rPr>
              <a:t>Socket PDF ↗</a:t>
            </a:r>
          </a:p>
        </p:txBody>
      </p:sp>
      <p:sp>
        <p:nvSpPr>
          <p:cNvPr id="28" name="TEXT A1/A2 are SOCKET coil lab"/>
          <p:cNvSpPr txBox="1"/>
          <p:nvPr/>
        </p:nvSpPr>
        <p:spPr>
          <a:xfrm>
            <a:off x="11119104" y="6885432"/>
            <a:ext cx="288036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50" b="1">
                <a:solidFill>
                  <a:srgbClr val="607084"/>
                </a:solidFill>
                <a:latin typeface="Aptos"/>
              </a:rPr>
              <a:t>A1/A2 = 62.31 SOCKET COIL (not Crydom)</a:t>
            </a:r>
          </a:p>
        </p:txBody>
      </p:sp>
      <p:sp>
        <p:nvSpPr>
          <p:cNvPr id="29" name="PORT +24"/>
          <p:cNvSpPr/>
          <p:nvPr/>
        </p:nvSpPr>
        <p:spPr>
          <a:xfrm>
            <a:off x="2176272" y="3346703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 +24"/>
          <p:cNvSpPr txBox="1"/>
          <p:nvPr/>
        </p:nvSpPr>
        <p:spPr>
          <a:xfrm>
            <a:off x="2189988" y="33604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+24</a:t>
            </a:r>
          </a:p>
        </p:txBody>
      </p:sp>
      <p:sp>
        <p:nvSpPr>
          <p:cNvPr id="31" name="PORT C"/>
          <p:cNvSpPr/>
          <p:nvPr/>
        </p:nvSpPr>
        <p:spPr>
          <a:xfrm>
            <a:off x="3163824" y="3346703"/>
            <a:ext cx="54864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 C"/>
          <p:cNvSpPr txBox="1"/>
          <p:nvPr/>
        </p:nvSpPr>
        <p:spPr>
          <a:xfrm>
            <a:off x="3177540" y="3360420"/>
            <a:ext cx="52120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C</a:t>
            </a:r>
          </a:p>
        </p:txBody>
      </p:sp>
      <p:cxnSp>
        <p:nvCxnSpPr>
          <p:cNvPr id="33" name="PROPOSED WIRE v24"/>
          <p:cNvCxnSpPr/>
          <p:nvPr/>
        </p:nvCxnSpPr>
        <p:spPr>
          <a:xfrm>
            <a:off x="2761488" y="3529584"/>
            <a:ext cx="402336" cy="0"/>
          </a:xfrm>
          <a:prstGeom prst="line">
            <a:avLst/>
          </a:prstGeom>
          <a:ln w="2730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ORT 0 V"/>
          <p:cNvSpPr/>
          <p:nvPr/>
        </p:nvSpPr>
        <p:spPr>
          <a:xfrm>
            <a:off x="2176272" y="4608576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 0 V"/>
          <p:cNvSpPr txBox="1"/>
          <p:nvPr/>
        </p:nvSpPr>
        <p:spPr>
          <a:xfrm>
            <a:off x="2189988" y="4622292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0 V</a:t>
            </a:r>
          </a:p>
        </p:txBody>
      </p:sp>
      <p:sp>
        <p:nvSpPr>
          <p:cNvPr id="36" name="PORT LED−"/>
          <p:cNvSpPr/>
          <p:nvPr/>
        </p:nvSpPr>
        <p:spPr>
          <a:xfrm>
            <a:off x="3163824" y="4608576"/>
            <a:ext cx="621792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 LED−"/>
          <p:cNvSpPr txBox="1"/>
          <p:nvPr/>
        </p:nvSpPr>
        <p:spPr>
          <a:xfrm>
            <a:off x="3177540" y="4622292"/>
            <a:ext cx="594360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LED−</a:t>
            </a:r>
          </a:p>
        </p:txBody>
      </p:sp>
      <p:cxnSp>
        <p:nvCxnSpPr>
          <p:cNvPr id="38" name="PROPOSED WIRE return"/>
          <p:cNvCxnSpPr/>
          <p:nvPr/>
        </p:nvCxnSpPr>
        <p:spPr>
          <a:xfrm>
            <a:off x="2761488" y="4791456"/>
            <a:ext cx="402336" cy="0"/>
          </a:xfrm>
          <a:prstGeom prst="line">
            <a:avLst/>
          </a:prstGeom>
          <a:ln w="27305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PORT NO"/>
          <p:cNvSpPr/>
          <p:nvPr/>
        </p:nvSpPr>
        <p:spPr>
          <a:xfrm>
            <a:off x="5157216" y="4334256"/>
            <a:ext cx="54864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 NO"/>
          <p:cNvSpPr txBox="1"/>
          <p:nvPr/>
        </p:nvSpPr>
        <p:spPr>
          <a:xfrm>
            <a:off x="5170931" y="4347972"/>
            <a:ext cx="52120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NO</a:t>
            </a:r>
          </a:p>
        </p:txBody>
      </p:sp>
      <p:sp>
        <p:nvSpPr>
          <p:cNvPr id="41" name="PORT 3"/>
          <p:cNvSpPr/>
          <p:nvPr/>
        </p:nvSpPr>
        <p:spPr>
          <a:xfrm>
            <a:off x="6464808" y="4334256"/>
            <a:ext cx="566928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 3"/>
          <p:cNvSpPr txBox="1"/>
          <p:nvPr/>
        </p:nvSpPr>
        <p:spPr>
          <a:xfrm>
            <a:off x="6478524" y="4347972"/>
            <a:ext cx="539496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3</a:t>
            </a:r>
          </a:p>
        </p:txBody>
      </p:sp>
      <p:cxnSp>
        <p:nvCxnSpPr>
          <p:cNvPr id="43" name="PROPOSED WIRE pulse"/>
          <p:cNvCxnSpPr/>
          <p:nvPr/>
        </p:nvCxnSpPr>
        <p:spPr>
          <a:xfrm>
            <a:off x="5705855" y="4517136"/>
            <a:ext cx="758953" cy="0"/>
          </a:xfrm>
          <a:prstGeom prst="line">
            <a:avLst/>
          </a:prstGeom>
          <a:ln w="29209">
            <a:solidFill>
              <a:srgbClr val="674E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ORT +24"/>
          <p:cNvSpPr/>
          <p:nvPr/>
        </p:nvSpPr>
        <p:spPr>
          <a:xfrm>
            <a:off x="2157984" y="3840480"/>
            <a:ext cx="60350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 +24"/>
          <p:cNvSpPr txBox="1"/>
          <p:nvPr/>
        </p:nvSpPr>
        <p:spPr>
          <a:xfrm>
            <a:off x="2171700" y="3854196"/>
            <a:ext cx="57607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+24</a:t>
            </a:r>
          </a:p>
        </p:txBody>
      </p:sp>
      <p:cxnSp>
        <p:nvCxnSpPr>
          <p:cNvPr id="46" name="PROPOSED WIRE v24"/>
          <p:cNvCxnSpPr/>
          <p:nvPr/>
        </p:nvCxnSpPr>
        <p:spPr>
          <a:xfrm>
            <a:off x="2761488" y="4023360"/>
            <a:ext cx="201168" cy="0"/>
          </a:xfrm>
          <a:prstGeom prst="line">
            <a:avLst/>
          </a:prstGeom>
          <a:ln w="26034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PROPOSED WIRE v24"/>
          <p:cNvCxnSpPr/>
          <p:nvPr/>
        </p:nvCxnSpPr>
        <p:spPr>
          <a:xfrm flipV="1">
            <a:off x="2962656" y="2340864"/>
            <a:ext cx="0" cy="1682496"/>
          </a:xfrm>
          <a:prstGeom prst="line">
            <a:avLst/>
          </a:prstGeom>
          <a:ln w="26034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PROPOSED WIRE v24"/>
          <p:cNvCxnSpPr/>
          <p:nvPr/>
        </p:nvCxnSpPr>
        <p:spPr>
          <a:xfrm>
            <a:off x="2962656" y="2340864"/>
            <a:ext cx="3200400" cy="0"/>
          </a:xfrm>
          <a:prstGeom prst="line">
            <a:avLst/>
          </a:prstGeom>
          <a:ln w="26034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PROPOSED WIRE v24"/>
          <p:cNvCxnSpPr/>
          <p:nvPr/>
        </p:nvCxnSpPr>
        <p:spPr>
          <a:xfrm>
            <a:off x="6163056" y="2340864"/>
            <a:ext cx="0" cy="1536192"/>
          </a:xfrm>
          <a:prstGeom prst="line">
            <a:avLst/>
          </a:prstGeom>
          <a:ln w="26034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ELECTRICAL JUNCTION"/>
          <p:cNvSpPr/>
          <p:nvPr/>
        </p:nvSpPr>
        <p:spPr>
          <a:xfrm>
            <a:off x="2929737" y="3496665"/>
            <a:ext cx="65836" cy="65836"/>
          </a:xfrm>
          <a:prstGeom prst="rect">
            <a:avLst/>
          </a:prstGeom>
          <a:solidFill>
            <a:srgbClr val="008192"/>
          </a:solidFill>
          <a:ln w="127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PORT L/+"/>
          <p:cNvSpPr/>
          <p:nvPr/>
        </p:nvSpPr>
        <p:spPr>
          <a:xfrm>
            <a:off x="6464808" y="3246120"/>
            <a:ext cx="60350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 L/+"/>
          <p:cNvSpPr txBox="1"/>
          <p:nvPr/>
        </p:nvSpPr>
        <p:spPr>
          <a:xfrm>
            <a:off x="6478524" y="3259836"/>
            <a:ext cx="57607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L/+</a:t>
            </a:r>
          </a:p>
        </p:txBody>
      </p:sp>
      <p:cxnSp>
        <p:nvCxnSpPr>
          <p:cNvPr id="53" name="PROPOSED WIRE v24"/>
          <p:cNvCxnSpPr/>
          <p:nvPr/>
        </p:nvCxnSpPr>
        <p:spPr>
          <a:xfrm>
            <a:off x="6163056" y="3429000"/>
            <a:ext cx="301752" cy="0"/>
          </a:xfrm>
          <a:prstGeom prst="line">
            <a:avLst/>
          </a:prstGeom>
          <a:ln w="26034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PORT 11"/>
          <p:cNvSpPr/>
          <p:nvPr/>
        </p:nvSpPr>
        <p:spPr>
          <a:xfrm>
            <a:off x="6464808" y="3694176"/>
            <a:ext cx="60350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 11"/>
          <p:cNvSpPr txBox="1"/>
          <p:nvPr/>
        </p:nvSpPr>
        <p:spPr>
          <a:xfrm>
            <a:off x="6478524" y="3707891"/>
            <a:ext cx="57607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11</a:t>
            </a:r>
          </a:p>
        </p:txBody>
      </p:sp>
      <p:cxnSp>
        <p:nvCxnSpPr>
          <p:cNvPr id="56" name="PROPOSED WIRE v24"/>
          <p:cNvCxnSpPr/>
          <p:nvPr/>
        </p:nvCxnSpPr>
        <p:spPr>
          <a:xfrm>
            <a:off x="6163056" y="3877056"/>
            <a:ext cx="301752" cy="0"/>
          </a:xfrm>
          <a:prstGeom prst="line">
            <a:avLst/>
          </a:prstGeom>
          <a:ln w="26034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ELECTRICAL JUNCTION"/>
          <p:cNvSpPr/>
          <p:nvPr/>
        </p:nvSpPr>
        <p:spPr>
          <a:xfrm>
            <a:off x="6130137" y="3396081"/>
            <a:ext cx="65836" cy="65836"/>
          </a:xfrm>
          <a:prstGeom prst="rect">
            <a:avLst/>
          </a:prstGeom>
          <a:solidFill>
            <a:srgbClr val="008192"/>
          </a:solidFill>
          <a:ln w="127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ELECTRICAL JUNCTION"/>
          <p:cNvSpPr/>
          <p:nvPr/>
        </p:nvSpPr>
        <p:spPr>
          <a:xfrm>
            <a:off x="6130137" y="3844137"/>
            <a:ext cx="65836" cy="65836"/>
          </a:xfrm>
          <a:prstGeom prst="rect">
            <a:avLst/>
          </a:prstGeom>
          <a:solidFill>
            <a:srgbClr val="008192"/>
          </a:solidFill>
          <a:ln w="127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PORT 14"/>
          <p:cNvSpPr/>
          <p:nvPr/>
        </p:nvSpPr>
        <p:spPr>
          <a:xfrm>
            <a:off x="9052560" y="5166359"/>
            <a:ext cx="576072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 14"/>
          <p:cNvSpPr txBox="1"/>
          <p:nvPr/>
        </p:nvSpPr>
        <p:spPr>
          <a:xfrm>
            <a:off x="9066276" y="5180075"/>
            <a:ext cx="548640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14</a:t>
            </a:r>
          </a:p>
        </p:txBody>
      </p:sp>
      <p:sp>
        <p:nvSpPr>
          <p:cNvPr id="61" name="PORT A1"/>
          <p:cNvSpPr/>
          <p:nvPr/>
        </p:nvSpPr>
        <p:spPr>
          <a:xfrm>
            <a:off x="10853928" y="5166359"/>
            <a:ext cx="621792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 A1"/>
          <p:cNvSpPr txBox="1"/>
          <p:nvPr/>
        </p:nvSpPr>
        <p:spPr>
          <a:xfrm>
            <a:off x="10867644" y="5180075"/>
            <a:ext cx="594360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A1</a:t>
            </a:r>
          </a:p>
        </p:txBody>
      </p:sp>
      <p:cxnSp>
        <p:nvCxnSpPr>
          <p:cNvPr id="63" name="PROPOSED WIRE v24"/>
          <p:cNvCxnSpPr/>
          <p:nvPr/>
        </p:nvCxnSpPr>
        <p:spPr>
          <a:xfrm>
            <a:off x="9628632" y="5349240"/>
            <a:ext cx="1225296" cy="0"/>
          </a:xfrm>
          <a:prstGeom prst="line">
            <a:avLst/>
          </a:prstGeom>
          <a:ln w="30480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PORT 0 V"/>
          <p:cNvSpPr/>
          <p:nvPr/>
        </p:nvSpPr>
        <p:spPr>
          <a:xfrm>
            <a:off x="2176272" y="5879592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 0 V"/>
          <p:cNvSpPr txBox="1"/>
          <p:nvPr/>
        </p:nvSpPr>
        <p:spPr>
          <a:xfrm>
            <a:off x="2189988" y="5893307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0 V</a:t>
            </a:r>
          </a:p>
        </p:txBody>
      </p:sp>
      <p:cxnSp>
        <p:nvCxnSpPr>
          <p:cNvPr id="66" name="PROPOSED WIRE return"/>
          <p:cNvCxnSpPr/>
          <p:nvPr/>
        </p:nvCxnSpPr>
        <p:spPr>
          <a:xfrm>
            <a:off x="2761488" y="6062472"/>
            <a:ext cx="219456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PROPOSED WIRE return"/>
          <p:cNvCxnSpPr/>
          <p:nvPr/>
        </p:nvCxnSpPr>
        <p:spPr>
          <a:xfrm>
            <a:off x="2980944" y="6062472"/>
            <a:ext cx="0" cy="1737359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PROPOSED WIRE return"/>
          <p:cNvCxnSpPr/>
          <p:nvPr/>
        </p:nvCxnSpPr>
        <p:spPr>
          <a:xfrm>
            <a:off x="2980944" y="7799831"/>
            <a:ext cx="7626096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PORT N/−"/>
          <p:cNvSpPr/>
          <p:nvPr/>
        </p:nvSpPr>
        <p:spPr>
          <a:xfrm>
            <a:off x="6464808" y="5998464"/>
            <a:ext cx="64008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 N/−"/>
          <p:cNvSpPr txBox="1"/>
          <p:nvPr/>
        </p:nvSpPr>
        <p:spPr>
          <a:xfrm>
            <a:off x="6478524" y="6012179"/>
            <a:ext cx="61264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N/−</a:t>
            </a:r>
          </a:p>
        </p:txBody>
      </p:sp>
      <p:cxnSp>
        <p:nvCxnSpPr>
          <p:cNvPr id="71" name="PROPOSED WIRE return"/>
          <p:cNvCxnSpPr/>
          <p:nvPr/>
        </p:nvCxnSpPr>
        <p:spPr>
          <a:xfrm flipV="1">
            <a:off x="6144768" y="6181344"/>
            <a:ext cx="0" cy="1618487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PROPOSED WIRE return"/>
          <p:cNvCxnSpPr/>
          <p:nvPr/>
        </p:nvCxnSpPr>
        <p:spPr>
          <a:xfrm>
            <a:off x="6144768" y="6181344"/>
            <a:ext cx="320040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PORT A2"/>
          <p:cNvSpPr/>
          <p:nvPr/>
        </p:nvSpPr>
        <p:spPr>
          <a:xfrm>
            <a:off x="10853928" y="5998464"/>
            <a:ext cx="621792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 A2"/>
          <p:cNvSpPr txBox="1"/>
          <p:nvPr/>
        </p:nvSpPr>
        <p:spPr>
          <a:xfrm>
            <a:off x="10867644" y="6012179"/>
            <a:ext cx="594360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A2</a:t>
            </a:r>
          </a:p>
        </p:txBody>
      </p:sp>
      <p:cxnSp>
        <p:nvCxnSpPr>
          <p:cNvPr id="75" name="PROPOSED WIRE return"/>
          <p:cNvCxnSpPr/>
          <p:nvPr/>
        </p:nvCxnSpPr>
        <p:spPr>
          <a:xfrm flipV="1">
            <a:off x="10607040" y="6181344"/>
            <a:ext cx="0" cy="1618487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PROPOSED WIRE return"/>
          <p:cNvCxnSpPr/>
          <p:nvPr/>
        </p:nvCxnSpPr>
        <p:spPr>
          <a:xfrm>
            <a:off x="10607040" y="6181344"/>
            <a:ext cx="246888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ELECTRICAL JUNCTION"/>
          <p:cNvSpPr/>
          <p:nvPr/>
        </p:nvSpPr>
        <p:spPr>
          <a:xfrm>
            <a:off x="6111849" y="7766913"/>
            <a:ext cx="65836" cy="65836"/>
          </a:xfrm>
          <a:prstGeom prst="rect">
            <a:avLst/>
          </a:prstGeom>
          <a:solidFill>
            <a:srgbClr val="607184"/>
          </a:solidFill>
          <a:ln w="1270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PORT LED+"/>
          <p:cNvSpPr/>
          <p:nvPr/>
        </p:nvSpPr>
        <p:spPr>
          <a:xfrm>
            <a:off x="5020055" y="5632704"/>
            <a:ext cx="68580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 LED+"/>
          <p:cNvSpPr txBox="1"/>
          <p:nvPr/>
        </p:nvSpPr>
        <p:spPr>
          <a:xfrm>
            <a:off x="5033771" y="5646420"/>
            <a:ext cx="658368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LED+</a:t>
            </a:r>
          </a:p>
        </p:txBody>
      </p:sp>
      <p:cxnSp>
        <p:nvCxnSpPr>
          <p:cNvPr id="80" name="PROPOSED WIRE v24"/>
          <p:cNvCxnSpPr/>
          <p:nvPr/>
        </p:nvCxnSpPr>
        <p:spPr>
          <a:xfrm>
            <a:off x="5705855" y="5815584"/>
            <a:ext cx="192025" cy="0"/>
          </a:xfrm>
          <a:prstGeom prst="line">
            <a:avLst/>
          </a:prstGeom>
          <a:ln w="26670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 EN1"/>
          <p:cNvSpPr txBox="1"/>
          <p:nvPr/>
        </p:nvSpPr>
        <p:spPr>
          <a:xfrm>
            <a:off x="5833872" y="5504688"/>
            <a:ext cx="630936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1">
                <a:solidFill>
                  <a:srgbClr val="008192"/>
                </a:solidFill>
                <a:latin typeface="Aptos"/>
              </a:rPr>
              <a:t>EN1</a:t>
            </a:r>
          </a:p>
        </p:txBody>
      </p:sp>
      <p:sp>
        <p:nvSpPr>
          <p:cNvPr id="82" name="TEXT EN1"/>
          <p:cNvSpPr txBox="1"/>
          <p:nvPr/>
        </p:nvSpPr>
        <p:spPr>
          <a:xfrm>
            <a:off x="9710928" y="4992624"/>
            <a:ext cx="1051560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10" b="1">
                <a:solidFill>
                  <a:srgbClr val="008192"/>
                </a:solidFill>
                <a:latin typeface="Aptos"/>
              </a:rPr>
              <a:t>EN1</a:t>
            </a:r>
          </a:p>
        </p:txBody>
      </p:sp>
      <p:sp>
        <p:nvSpPr>
          <p:cNvPr id="83" name="TEXT EN1: K1:14 / K3:A1 / SB1:"/>
          <p:cNvSpPr txBox="1"/>
          <p:nvPr/>
        </p:nvSpPr>
        <p:spPr>
          <a:xfrm>
            <a:off x="3502152" y="7059168"/>
            <a:ext cx="5669280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00" b="1">
                <a:solidFill>
                  <a:srgbClr val="1D599B"/>
                </a:solidFill>
                <a:latin typeface="Aptos"/>
              </a:rPr>
              <a:t>K1:14 → X3-EN1 → HL1:+  (alongside relay coil A1, EAO LED+ and Crydom +3)</a:t>
            </a:r>
          </a:p>
        </p:txBody>
      </p:sp>
      <p:sp>
        <p:nvSpPr>
          <p:cNvPr id="84" name="TEXT Matching EN reference ind"/>
          <p:cNvSpPr txBox="1"/>
          <p:nvPr/>
        </p:nvSpPr>
        <p:spPr>
          <a:xfrm>
            <a:off x="3502152" y="8119872"/>
            <a:ext cx="1097280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25" b="0">
                <a:solidFill>
                  <a:srgbClr val="607084"/>
                </a:solidFill>
                <a:latin typeface="Aptos"/>
              </a:rPr>
              <a:t>EN1 = K1:14 switched output; terminal group X3-EN1 distributes this to four loads including HL1:+.</a:t>
            </a:r>
          </a:p>
        </p:txBody>
      </p:sp>
      <p:sp>
        <p:nvSpPr>
          <p:cNvPr id="85" name="TEXT X3:+24 → button C and K1 "/>
          <p:cNvSpPr txBox="1"/>
          <p:nvPr/>
        </p:nvSpPr>
        <p:spPr>
          <a:xfrm>
            <a:off x="795528" y="8430768"/>
            <a:ext cx="13121640" cy="39319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10" b="0">
                <a:solidFill>
                  <a:srgbClr val="607084"/>
                </a:solidFill>
                <a:latin typeface="Aptos"/>
              </a:rPr>
              <a:t>X3-24G → SB1:C, K1:L/+, K1:11   |   SB1:NO → K1:3   |   X3-EN1 → SK3:A1, SB1:LED+, SSR1:A1/+3, HL1:+   |   X2-0V → K1:N/−, SK3:A2, SB1:LED−, W1:14(−)</a:t>
            </a:r>
          </a:p>
        </p:txBody>
      </p:sp>
      <p:sp>
        <p:nvSpPr>
          <p:cNvPr id="86" name="KEY"/>
          <p:cNvSpPr/>
          <p:nvPr/>
        </p:nvSpPr>
        <p:spPr>
          <a:xfrm>
            <a:off x="11155680" y="640080"/>
            <a:ext cx="320040" cy="27432"/>
          </a:xfrm>
          <a:prstGeom prst="rect">
            <a:avLst/>
          </a:prstGeom>
          <a:solidFill>
            <a:srgbClr val="008192"/>
          </a:solidFill>
          <a:ln w="127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 Gated +24 V"/>
          <p:cNvSpPr txBox="1"/>
          <p:nvPr/>
        </p:nvSpPr>
        <p:spPr>
          <a:xfrm>
            <a:off x="11548872" y="539496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Gated +24 V</a:t>
            </a:r>
          </a:p>
        </p:txBody>
      </p:sp>
      <p:sp>
        <p:nvSpPr>
          <p:cNvPr id="88" name="KEY"/>
          <p:cNvSpPr/>
          <p:nvPr/>
        </p:nvSpPr>
        <p:spPr>
          <a:xfrm>
            <a:off x="11155680" y="941832"/>
            <a:ext cx="320040" cy="27432"/>
          </a:xfrm>
          <a:prstGeom prst="rect">
            <a:avLst/>
          </a:prstGeom>
          <a:solidFill>
            <a:srgbClr val="607184"/>
          </a:solidFill>
          <a:ln w="1270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 0 V return"/>
          <p:cNvSpPr txBox="1"/>
          <p:nvPr/>
        </p:nvSpPr>
        <p:spPr>
          <a:xfrm>
            <a:off x="11548872" y="841248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0 V return</a:t>
            </a:r>
          </a:p>
        </p:txBody>
      </p:sp>
      <p:sp>
        <p:nvSpPr>
          <p:cNvPr id="90" name="KEY"/>
          <p:cNvSpPr/>
          <p:nvPr/>
        </p:nvSpPr>
        <p:spPr>
          <a:xfrm>
            <a:off x="11155680" y="1243584"/>
            <a:ext cx="320040" cy="27432"/>
          </a:xfrm>
          <a:prstGeom prst="rect">
            <a:avLst/>
          </a:prstGeom>
          <a:solidFill>
            <a:srgbClr val="674EA3"/>
          </a:solidFill>
          <a:ln w="1270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 Momentary input"/>
          <p:cNvSpPr txBox="1"/>
          <p:nvPr/>
        </p:nvSpPr>
        <p:spPr>
          <a:xfrm>
            <a:off x="11548872" y="1142999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Momentary input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4  /  CHANNEL 2 / MOMENT"/>
          <p:cNvSpPr txBox="1"/>
          <p:nvPr/>
        </p:nvSpPr>
        <p:spPr>
          <a:xfrm>
            <a:off x="566928" y="320040"/>
            <a:ext cx="13917168" cy="44805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2200" b="1">
                <a:solidFill>
                  <a:srgbClr val="1F344E"/>
                </a:solidFill>
                <a:latin typeface="Aptos"/>
              </a:rPr>
              <a:t>07  /  CHANNEL 2 / MOMENTARY ENABLE &amp; FINDER CONTROL</a:t>
            </a:r>
          </a:p>
        </p:txBody>
      </p:sp>
      <p:sp>
        <p:nvSpPr>
          <p:cNvPr id="3" name="TEXT EAO button pulses the Fin"/>
          <p:cNvSpPr txBox="1"/>
          <p:nvPr/>
        </p:nvSpPr>
        <p:spPr>
          <a:xfrm>
            <a:off x="585216" y="886968"/>
            <a:ext cx="13752576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20" b="0">
                <a:solidFill>
                  <a:srgbClr val="607084"/>
                </a:solidFill>
                <a:latin typeface="Aptos"/>
              </a:rPr>
              <a:t>CH2: Finder 13.61 K2:14 is the EN2 switched +24 V output supplying ACTIVE LED+.</a:t>
            </a:r>
          </a:p>
        </p:txBody>
      </p:sp>
      <p:sp>
        <p:nvSpPr>
          <p:cNvPr id="4" name="HEADER RULE"/>
          <p:cNvSpPr/>
          <p:nvPr/>
        </p:nvSpPr>
        <p:spPr>
          <a:xfrm>
            <a:off x="566928" y="1325880"/>
            <a:ext cx="13953744" cy="32004"/>
          </a:xfrm>
          <a:prstGeom prst="rect">
            <a:avLst/>
          </a:prstGeom>
          <a:solidFill>
            <a:srgbClr val="1D599B"/>
          </a:solidFill>
          <a:ln w="1270">
            <a:solidFill>
              <a:srgbClr val="1D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HEATER ENABLE CIRCUIT   /"/>
          <p:cNvSpPr txBox="1"/>
          <p:nvPr/>
        </p:nvSpPr>
        <p:spPr>
          <a:xfrm>
            <a:off x="603504" y="1490472"/>
            <a:ext cx="1353312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10" b="1">
                <a:solidFill>
                  <a:srgbClr val="1D599B"/>
                </a:solidFill>
                <a:latin typeface="Aptos"/>
              </a:rPr>
              <a:t>HEATER ENABLE / EN2 SHARED SWITCHED +24 V NODE</a:t>
            </a:r>
          </a:p>
        </p:txBody>
      </p:sp>
      <p:sp>
        <p:nvSpPr>
          <p:cNvPr id="6" name="ENGINEERING REVIEW NOTE"/>
          <p:cNvSpPr/>
          <p:nvPr/>
        </p:nvSpPr>
        <p:spPr>
          <a:xfrm>
            <a:off x="658368" y="8979408"/>
            <a:ext cx="13533120" cy="566928"/>
          </a:xfrm>
          <a:prstGeom prst="roundRect">
            <a:avLst>
              <a:gd name="adj" fmla="val 5500"/>
            </a:avLst>
          </a:prstGeom>
          <a:solidFill>
            <a:srgbClr val="FFF7E9"/>
          </a:solidFill>
          <a:ln w="9525">
            <a:solidFill>
              <a:srgbClr val="DAB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 DESIGN REVIEW ONLY  |  Te"/>
          <p:cNvSpPr txBox="1"/>
          <p:nvPr/>
        </p:nvSpPr>
        <p:spPr>
          <a:xfrm>
            <a:off x="822960" y="9079992"/>
            <a:ext cx="13167360" cy="31089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5" b="1">
                <a:solidFill>
                  <a:srgbClr val="A35B1B"/>
                </a:solidFill>
                <a:latin typeface="Aptos"/>
              </a:rPr>
              <a:t>REFERENCE WIRING   /   230 V AC CONTROL SUPPLY  •  24 V DC CONTROLS  •  0–60 V DC HEATER CIRCUITS</a:t>
            </a:r>
          </a:p>
        </p:txBody>
      </p:sp>
      <p:sp>
        <p:nvSpPr>
          <p:cNvPr id="8" name="TEXT HEATING RATE CONTROLLER  "/>
          <p:cNvSpPr txBox="1"/>
          <p:nvPr/>
        </p:nvSpPr>
        <p:spPr>
          <a:xfrm>
            <a:off x="649224" y="9820656"/>
            <a:ext cx="117043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HEATING RATE CONTROLLER   /   REFERENCE ELECTRICAL WIRING   /   R1.2  ·  26 OCT 2026</a:t>
            </a:r>
          </a:p>
        </p:txBody>
      </p:sp>
      <p:sp>
        <p:nvSpPr>
          <p:cNvPr id="9" name="TEXT SHEET 04"/>
          <p:cNvSpPr txBox="1"/>
          <p:nvPr/>
        </p:nvSpPr>
        <p:spPr>
          <a:xfrm>
            <a:off x="12984480" y="9820656"/>
            <a:ext cx="11887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r"/>
            <a:r>
              <a:rPr sz="860" b="1">
                <a:solidFill>
                  <a:srgbClr val="607084"/>
                </a:solidFill>
                <a:latin typeface="Aptos"/>
              </a:rPr>
              <a:t>SHEET 07 / 14</a:t>
            </a:r>
          </a:p>
        </p:txBody>
      </p:sp>
      <p:sp>
        <p:nvSpPr>
          <p:cNvPr id="10" name="TEXT OFF-on-power-restoration "/>
          <p:cNvSpPr txBox="1"/>
          <p:nvPr/>
        </p:nvSpPr>
        <p:spPr>
          <a:xfrm>
            <a:off x="667512" y="9537192"/>
            <a:ext cx="13560552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00" b="0">
                <a:solidFill>
                  <a:srgbClr val="607084"/>
                </a:solidFill>
                <a:latin typeface="Aptos"/>
              </a:rPr>
              <a:t>Finder 13.61: RI step mode; each valid momentary press changes heater-enable state.</a:t>
            </a:r>
          </a:p>
        </p:txBody>
      </p:sp>
      <p:sp>
        <p:nvSpPr>
          <p:cNvPr id="11" name="COMPONENT X4  CH2 CONTROL"/>
          <p:cNvSpPr/>
          <p:nvPr/>
        </p:nvSpPr>
        <p:spPr>
          <a:xfrm>
            <a:off x="667512" y="2779776"/>
            <a:ext cx="1965960" cy="4005072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 X4  CH2 CONTROL"/>
          <p:cNvSpPr txBox="1"/>
          <p:nvPr/>
        </p:nvSpPr>
        <p:spPr>
          <a:xfrm>
            <a:off x="832103" y="2916936"/>
            <a:ext cx="1664207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220" b="1">
                <a:solidFill>
                  <a:srgbClr val="1F344E"/>
                </a:solidFill>
                <a:latin typeface="Aptos"/>
              </a:rPr>
              <a:t>CH2 CONTROL NETS</a:t>
            </a:r>
          </a:p>
        </p:txBody>
      </p:sp>
      <p:sp>
        <p:nvSpPr>
          <p:cNvPr id="13" name="TEXT Gated +24 V / 0 V"/>
          <p:cNvSpPr txBox="1"/>
          <p:nvPr/>
        </p:nvSpPr>
        <p:spPr>
          <a:xfrm>
            <a:off x="832103" y="3227832"/>
            <a:ext cx="1664207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X4-24G / X2-0V</a:t>
            </a:r>
          </a:p>
        </p:txBody>
      </p:sp>
      <p:sp>
        <p:nvSpPr>
          <p:cNvPr id="14" name="COMPONENT SB2  EAO + LED"/>
          <p:cNvSpPr/>
          <p:nvPr/>
        </p:nvSpPr>
        <p:spPr>
          <a:xfrm>
            <a:off x="3291840" y="2779776"/>
            <a:ext cx="2286000" cy="4005072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 SB2  EAO + LED"/>
          <p:cNvSpPr txBox="1"/>
          <p:nvPr/>
        </p:nvSpPr>
        <p:spPr>
          <a:xfrm>
            <a:off x="3456432" y="2916936"/>
            <a:ext cx="1984248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220" b="1">
                <a:solidFill>
                  <a:srgbClr val="1F344E"/>
                </a:solidFill>
                <a:latin typeface="Aptos"/>
              </a:rPr>
              <a:t>SB2  EAO + LED</a:t>
            </a:r>
          </a:p>
        </p:txBody>
      </p:sp>
      <p:sp>
        <p:nvSpPr>
          <p:cNvPr id="16" name="TEXT 82-4151.1134"/>
          <p:cNvSpPr txBox="1"/>
          <p:nvPr/>
        </p:nvSpPr>
        <p:spPr>
          <a:xfrm>
            <a:off x="3456432" y="3227832"/>
            <a:ext cx="1984248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82-4151.1134</a:t>
            </a:r>
          </a:p>
        </p:txBody>
      </p:sp>
      <p:sp>
        <p:nvSpPr>
          <p:cNvPr id="17" name="MFR LINK SB2  EAO + LED"/>
          <p:cNvSpPr txBox="1"/>
          <p:nvPr/>
        </p:nvSpPr>
        <p:spPr>
          <a:xfrm>
            <a:off x="3456432" y="6473952"/>
            <a:ext cx="1956816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2"/>
              </a:rPr>
              <a:t>Manufacturer datasheet  ↗</a:t>
            </a:r>
          </a:p>
        </p:txBody>
      </p:sp>
      <p:sp>
        <p:nvSpPr>
          <p:cNvPr id="18" name="COMPONENT K2  FINDER 13.61"/>
          <p:cNvSpPr/>
          <p:nvPr/>
        </p:nvSpPr>
        <p:spPr>
          <a:xfrm>
            <a:off x="6592824" y="2779776"/>
            <a:ext cx="2907792" cy="4005072"/>
          </a:xfrm>
          <a:prstGeom prst="roundRect">
            <a:avLst>
              <a:gd name="adj" fmla="val 5500"/>
            </a:avLst>
          </a:prstGeom>
          <a:solidFill>
            <a:srgbClr val="EBF6FA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 K2  FINDER 13.61"/>
          <p:cNvSpPr txBox="1"/>
          <p:nvPr/>
        </p:nvSpPr>
        <p:spPr>
          <a:xfrm>
            <a:off x="6757416" y="2916936"/>
            <a:ext cx="2606040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220" b="1">
                <a:solidFill>
                  <a:srgbClr val="1F344E"/>
                </a:solidFill>
                <a:latin typeface="Aptos"/>
              </a:rPr>
              <a:t>K2  FINDER 13.61</a:t>
            </a:r>
          </a:p>
        </p:txBody>
      </p:sp>
      <p:sp>
        <p:nvSpPr>
          <p:cNvPr id="20" name="TEXT 13.61.0.024.0000"/>
          <p:cNvSpPr txBox="1"/>
          <p:nvPr/>
        </p:nvSpPr>
        <p:spPr>
          <a:xfrm>
            <a:off x="6757416" y="3227832"/>
            <a:ext cx="260604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13.61.0.024.0000</a:t>
            </a:r>
          </a:p>
        </p:txBody>
      </p:sp>
      <p:sp>
        <p:nvSpPr>
          <p:cNvPr id="21" name="MFR LINK K2  FINDER 13.61"/>
          <p:cNvSpPr txBox="1"/>
          <p:nvPr/>
        </p:nvSpPr>
        <p:spPr>
          <a:xfrm>
            <a:off x="6757416" y="6473952"/>
            <a:ext cx="2578608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3"/>
              </a:rPr>
              <a:t>Manufacturer datasheet  ↗</a:t>
            </a:r>
          </a:p>
        </p:txBody>
      </p:sp>
      <p:sp>
        <p:nvSpPr>
          <p:cNvPr id="22" name="COMPONENT K4 / SK4  RELAY + SOCKET"/>
          <p:cNvSpPr/>
          <p:nvPr/>
        </p:nvSpPr>
        <p:spPr>
          <a:xfrm>
            <a:off x="10981944" y="2779776"/>
            <a:ext cx="2596896" cy="4005072"/>
          </a:xfrm>
          <a:prstGeom prst="roundRect">
            <a:avLst>
              <a:gd name="adj" fmla="val 5500"/>
            </a:avLst>
          </a:prstGeom>
          <a:solidFill>
            <a:srgbClr val="EBF6FA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 K4 / SK4  RELAY + SOCKET"/>
          <p:cNvSpPr txBox="1"/>
          <p:nvPr/>
        </p:nvSpPr>
        <p:spPr>
          <a:xfrm>
            <a:off x="11146536" y="2916936"/>
            <a:ext cx="2295144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50" b="1">
                <a:solidFill>
                  <a:srgbClr val="1F344E"/>
                </a:solidFill>
                <a:latin typeface="Aptos"/>
              </a:rPr>
              <a:t>K4 / SK4  RELAY + SOCKET</a:t>
            </a:r>
          </a:p>
        </p:txBody>
      </p:sp>
      <p:sp>
        <p:nvSpPr>
          <p:cNvPr id="24" name="TEXT 62.31.9.024.4800"/>
          <p:cNvSpPr txBox="1"/>
          <p:nvPr/>
        </p:nvSpPr>
        <p:spPr>
          <a:xfrm>
            <a:off x="11146536" y="3227832"/>
            <a:ext cx="2295144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62.31.9.024.4800</a:t>
            </a:r>
          </a:p>
        </p:txBody>
      </p:sp>
      <p:sp>
        <p:nvSpPr>
          <p:cNvPr id="25" name="TEXT 92.03 socket family;&#10;actu"/>
          <p:cNvSpPr txBox="1"/>
          <p:nvPr/>
        </p:nvSpPr>
        <p:spPr>
          <a:xfrm>
            <a:off x="11146536" y="3886200"/>
            <a:ext cx="2286000" cy="4572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880" b="0">
                <a:solidFill>
                  <a:srgbClr val="607084"/>
                </a:solidFill>
                <a:latin typeface="Aptos"/>
              </a:rPr>
              <a:t>Specified relay socket:
92.03SMA</a:t>
            </a:r>
          </a:p>
        </p:txBody>
      </p:sp>
      <p:sp>
        <p:nvSpPr>
          <p:cNvPr id="26" name="TEXT Relay PDF ↗"/>
          <p:cNvSpPr txBox="1"/>
          <p:nvPr/>
        </p:nvSpPr>
        <p:spPr>
          <a:xfrm>
            <a:off x="11173968" y="6355080"/>
            <a:ext cx="941832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19" b="0" u="sng">
                <a:solidFill>
                  <a:srgbClr val="1D599B"/>
                </a:solidFill>
                <a:latin typeface="Aptos"/>
                <a:hlinkClick r:id="rId4"/>
              </a:rPr>
              <a:t>Relay PDF ↗</a:t>
            </a:r>
          </a:p>
        </p:txBody>
      </p:sp>
      <p:sp>
        <p:nvSpPr>
          <p:cNvPr id="27" name="TEXT Socket PDF ↗"/>
          <p:cNvSpPr txBox="1"/>
          <p:nvPr/>
        </p:nvSpPr>
        <p:spPr>
          <a:xfrm>
            <a:off x="12134088" y="6355080"/>
            <a:ext cx="120700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19" b="0" u="sng">
                <a:solidFill>
                  <a:srgbClr val="1D599B"/>
                </a:solidFill>
                <a:latin typeface="Aptos"/>
                <a:hlinkClick r:id="rId5"/>
              </a:rPr>
              <a:t>Socket PDF ↗</a:t>
            </a:r>
          </a:p>
        </p:txBody>
      </p:sp>
      <p:sp>
        <p:nvSpPr>
          <p:cNvPr id="28" name="TEXT A1/A2 are SOCKET coil lab"/>
          <p:cNvSpPr txBox="1"/>
          <p:nvPr/>
        </p:nvSpPr>
        <p:spPr>
          <a:xfrm>
            <a:off x="11119104" y="6885432"/>
            <a:ext cx="288036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50" b="1">
                <a:solidFill>
                  <a:srgbClr val="607084"/>
                </a:solidFill>
                <a:latin typeface="Aptos"/>
              </a:rPr>
              <a:t>A1/A2 = 62.31 SOCKET COIL (not Crydom)</a:t>
            </a:r>
          </a:p>
        </p:txBody>
      </p:sp>
      <p:sp>
        <p:nvSpPr>
          <p:cNvPr id="29" name="PORT +24"/>
          <p:cNvSpPr/>
          <p:nvPr/>
        </p:nvSpPr>
        <p:spPr>
          <a:xfrm>
            <a:off x="2176272" y="3346703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 +24"/>
          <p:cNvSpPr txBox="1"/>
          <p:nvPr/>
        </p:nvSpPr>
        <p:spPr>
          <a:xfrm>
            <a:off x="2189988" y="33604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+24</a:t>
            </a:r>
          </a:p>
        </p:txBody>
      </p:sp>
      <p:sp>
        <p:nvSpPr>
          <p:cNvPr id="31" name="PORT C"/>
          <p:cNvSpPr/>
          <p:nvPr/>
        </p:nvSpPr>
        <p:spPr>
          <a:xfrm>
            <a:off x="3163824" y="3346703"/>
            <a:ext cx="54864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 C"/>
          <p:cNvSpPr txBox="1"/>
          <p:nvPr/>
        </p:nvSpPr>
        <p:spPr>
          <a:xfrm>
            <a:off x="3177540" y="3360420"/>
            <a:ext cx="52120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C</a:t>
            </a:r>
          </a:p>
        </p:txBody>
      </p:sp>
      <p:cxnSp>
        <p:nvCxnSpPr>
          <p:cNvPr id="33" name="PROPOSED WIRE v24"/>
          <p:cNvCxnSpPr/>
          <p:nvPr/>
        </p:nvCxnSpPr>
        <p:spPr>
          <a:xfrm>
            <a:off x="2761488" y="3529584"/>
            <a:ext cx="402336" cy="0"/>
          </a:xfrm>
          <a:prstGeom prst="line">
            <a:avLst/>
          </a:prstGeom>
          <a:ln w="2730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ORT 0 V"/>
          <p:cNvSpPr/>
          <p:nvPr/>
        </p:nvSpPr>
        <p:spPr>
          <a:xfrm>
            <a:off x="2176272" y="4608576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 0 V"/>
          <p:cNvSpPr txBox="1"/>
          <p:nvPr/>
        </p:nvSpPr>
        <p:spPr>
          <a:xfrm>
            <a:off x="2189988" y="4622292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0 V</a:t>
            </a:r>
          </a:p>
        </p:txBody>
      </p:sp>
      <p:sp>
        <p:nvSpPr>
          <p:cNvPr id="36" name="PORT LED−"/>
          <p:cNvSpPr/>
          <p:nvPr/>
        </p:nvSpPr>
        <p:spPr>
          <a:xfrm>
            <a:off x="3163824" y="4608576"/>
            <a:ext cx="621792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 LED−"/>
          <p:cNvSpPr txBox="1"/>
          <p:nvPr/>
        </p:nvSpPr>
        <p:spPr>
          <a:xfrm>
            <a:off x="3177540" y="4622292"/>
            <a:ext cx="594360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LED−</a:t>
            </a:r>
          </a:p>
        </p:txBody>
      </p:sp>
      <p:cxnSp>
        <p:nvCxnSpPr>
          <p:cNvPr id="38" name="PROPOSED WIRE return"/>
          <p:cNvCxnSpPr/>
          <p:nvPr/>
        </p:nvCxnSpPr>
        <p:spPr>
          <a:xfrm>
            <a:off x="2761488" y="4791456"/>
            <a:ext cx="402336" cy="0"/>
          </a:xfrm>
          <a:prstGeom prst="line">
            <a:avLst/>
          </a:prstGeom>
          <a:ln w="27305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PORT NO"/>
          <p:cNvSpPr/>
          <p:nvPr/>
        </p:nvSpPr>
        <p:spPr>
          <a:xfrm>
            <a:off x="5157216" y="4334256"/>
            <a:ext cx="54864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 NO"/>
          <p:cNvSpPr txBox="1"/>
          <p:nvPr/>
        </p:nvSpPr>
        <p:spPr>
          <a:xfrm>
            <a:off x="5170931" y="4347972"/>
            <a:ext cx="52120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NO</a:t>
            </a:r>
          </a:p>
        </p:txBody>
      </p:sp>
      <p:sp>
        <p:nvSpPr>
          <p:cNvPr id="41" name="PORT 3"/>
          <p:cNvSpPr/>
          <p:nvPr/>
        </p:nvSpPr>
        <p:spPr>
          <a:xfrm>
            <a:off x="6464808" y="4334256"/>
            <a:ext cx="566928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 3"/>
          <p:cNvSpPr txBox="1"/>
          <p:nvPr/>
        </p:nvSpPr>
        <p:spPr>
          <a:xfrm>
            <a:off x="6478524" y="4347972"/>
            <a:ext cx="539496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3</a:t>
            </a:r>
          </a:p>
        </p:txBody>
      </p:sp>
      <p:cxnSp>
        <p:nvCxnSpPr>
          <p:cNvPr id="43" name="PROPOSED WIRE pulse"/>
          <p:cNvCxnSpPr/>
          <p:nvPr/>
        </p:nvCxnSpPr>
        <p:spPr>
          <a:xfrm>
            <a:off x="5705855" y="4517136"/>
            <a:ext cx="758953" cy="0"/>
          </a:xfrm>
          <a:prstGeom prst="line">
            <a:avLst/>
          </a:prstGeom>
          <a:ln w="29209">
            <a:solidFill>
              <a:srgbClr val="674E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ORT +24"/>
          <p:cNvSpPr/>
          <p:nvPr/>
        </p:nvSpPr>
        <p:spPr>
          <a:xfrm>
            <a:off x="2157984" y="3840480"/>
            <a:ext cx="60350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 +24"/>
          <p:cNvSpPr txBox="1"/>
          <p:nvPr/>
        </p:nvSpPr>
        <p:spPr>
          <a:xfrm>
            <a:off x="2171700" y="3854196"/>
            <a:ext cx="57607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+24</a:t>
            </a:r>
          </a:p>
        </p:txBody>
      </p:sp>
      <p:cxnSp>
        <p:nvCxnSpPr>
          <p:cNvPr id="46" name="PROPOSED WIRE v24"/>
          <p:cNvCxnSpPr/>
          <p:nvPr/>
        </p:nvCxnSpPr>
        <p:spPr>
          <a:xfrm>
            <a:off x="2761488" y="4023360"/>
            <a:ext cx="201168" cy="0"/>
          </a:xfrm>
          <a:prstGeom prst="line">
            <a:avLst/>
          </a:prstGeom>
          <a:ln w="26034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PROPOSED WIRE v24"/>
          <p:cNvCxnSpPr/>
          <p:nvPr/>
        </p:nvCxnSpPr>
        <p:spPr>
          <a:xfrm flipV="1">
            <a:off x="2962656" y="2340864"/>
            <a:ext cx="0" cy="1682496"/>
          </a:xfrm>
          <a:prstGeom prst="line">
            <a:avLst/>
          </a:prstGeom>
          <a:ln w="26034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PROPOSED WIRE v24"/>
          <p:cNvCxnSpPr/>
          <p:nvPr/>
        </p:nvCxnSpPr>
        <p:spPr>
          <a:xfrm>
            <a:off x="2962656" y="2340864"/>
            <a:ext cx="3200400" cy="0"/>
          </a:xfrm>
          <a:prstGeom prst="line">
            <a:avLst/>
          </a:prstGeom>
          <a:ln w="26034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PROPOSED WIRE v24"/>
          <p:cNvCxnSpPr/>
          <p:nvPr/>
        </p:nvCxnSpPr>
        <p:spPr>
          <a:xfrm>
            <a:off x="6163056" y="2340864"/>
            <a:ext cx="0" cy="1536192"/>
          </a:xfrm>
          <a:prstGeom prst="line">
            <a:avLst/>
          </a:prstGeom>
          <a:ln w="26034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ELECTRICAL JUNCTION"/>
          <p:cNvSpPr/>
          <p:nvPr/>
        </p:nvSpPr>
        <p:spPr>
          <a:xfrm>
            <a:off x="2929737" y="3496665"/>
            <a:ext cx="65836" cy="65836"/>
          </a:xfrm>
          <a:prstGeom prst="rect">
            <a:avLst/>
          </a:prstGeom>
          <a:solidFill>
            <a:srgbClr val="008192"/>
          </a:solidFill>
          <a:ln w="127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PORT L/+"/>
          <p:cNvSpPr/>
          <p:nvPr/>
        </p:nvSpPr>
        <p:spPr>
          <a:xfrm>
            <a:off x="6464808" y="3246120"/>
            <a:ext cx="60350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 L/+"/>
          <p:cNvSpPr txBox="1"/>
          <p:nvPr/>
        </p:nvSpPr>
        <p:spPr>
          <a:xfrm>
            <a:off x="6478524" y="3259836"/>
            <a:ext cx="57607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L/+</a:t>
            </a:r>
          </a:p>
        </p:txBody>
      </p:sp>
      <p:cxnSp>
        <p:nvCxnSpPr>
          <p:cNvPr id="53" name="PROPOSED WIRE v24"/>
          <p:cNvCxnSpPr/>
          <p:nvPr/>
        </p:nvCxnSpPr>
        <p:spPr>
          <a:xfrm>
            <a:off x="6163056" y="3429000"/>
            <a:ext cx="301752" cy="0"/>
          </a:xfrm>
          <a:prstGeom prst="line">
            <a:avLst/>
          </a:prstGeom>
          <a:ln w="26034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PORT 11"/>
          <p:cNvSpPr/>
          <p:nvPr/>
        </p:nvSpPr>
        <p:spPr>
          <a:xfrm>
            <a:off x="6464808" y="3694176"/>
            <a:ext cx="60350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 11"/>
          <p:cNvSpPr txBox="1"/>
          <p:nvPr/>
        </p:nvSpPr>
        <p:spPr>
          <a:xfrm>
            <a:off x="6478524" y="3707891"/>
            <a:ext cx="57607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11</a:t>
            </a:r>
          </a:p>
        </p:txBody>
      </p:sp>
      <p:cxnSp>
        <p:nvCxnSpPr>
          <p:cNvPr id="56" name="PROPOSED WIRE v24"/>
          <p:cNvCxnSpPr/>
          <p:nvPr/>
        </p:nvCxnSpPr>
        <p:spPr>
          <a:xfrm>
            <a:off x="6163056" y="3877056"/>
            <a:ext cx="301752" cy="0"/>
          </a:xfrm>
          <a:prstGeom prst="line">
            <a:avLst/>
          </a:prstGeom>
          <a:ln w="26034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ELECTRICAL JUNCTION"/>
          <p:cNvSpPr/>
          <p:nvPr/>
        </p:nvSpPr>
        <p:spPr>
          <a:xfrm>
            <a:off x="6130137" y="3396081"/>
            <a:ext cx="65836" cy="65836"/>
          </a:xfrm>
          <a:prstGeom prst="rect">
            <a:avLst/>
          </a:prstGeom>
          <a:solidFill>
            <a:srgbClr val="008192"/>
          </a:solidFill>
          <a:ln w="127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ELECTRICAL JUNCTION"/>
          <p:cNvSpPr/>
          <p:nvPr/>
        </p:nvSpPr>
        <p:spPr>
          <a:xfrm>
            <a:off x="6130137" y="3844137"/>
            <a:ext cx="65836" cy="65836"/>
          </a:xfrm>
          <a:prstGeom prst="rect">
            <a:avLst/>
          </a:prstGeom>
          <a:solidFill>
            <a:srgbClr val="008192"/>
          </a:solidFill>
          <a:ln w="127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PORT 14"/>
          <p:cNvSpPr/>
          <p:nvPr/>
        </p:nvSpPr>
        <p:spPr>
          <a:xfrm>
            <a:off x="9052560" y="5166359"/>
            <a:ext cx="576072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 14"/>
          <p:cNvSpPr txBox="1"/>
          <p:nvPr/>
        </p:nvSpPr>
        <p:spPr>
          <a:xfrm>
            <a:off x="9066276" y="5180075"/>
            <a:ext cx="548640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14</a:t>
            </a:r>
          </a:p>
        </p:txBody>
      </p:sp>
      <p:sp>
        <p:nvSpPr>
          <p:cNvPr id="61" name="PORT A1"/>
          <p:cNvSpPr/>
          <p:nvPr/>
        </p:nvSpPr>
        <p:spPr>
          <a:xfrm>
            <a:off x="10853928" y="5166359"/>
            <a:ext cx="621792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 A1"/>
          <p:cNvSpPr txBox="1"/>
          <p:nvPr/>
        </p:nvSpPr>
        <p:spPr>
          <a:xfrm>
            <a:off x="10867644" y="5180075"/>
            <a:ext cx="594360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A1</a:t>
            </a:r>
          </a:p>
        </p:txBody>
      </p:sp>
      <p:cxnSp>
        <p:nvCxnSpPr>
          <p:cNvPr id="63" name="PROPOSED WIRE v24"/>
          <p:cNvCxnSpPr/>
          <p:nvPr/>
        </p:nvCxnSpPr>
        <p:spPr>
          <a:xfrm>
            <a:off x="9628632" y="5349240"/>
            <a:ext cx="1225296" cy="0"/>
          </a:xfrm>
          <a:prstGeom prst="line">
            <a:avLst/>
          </a:prstGeom>
          <a:ln w="30480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PORT 0 V"/>
          <p:cNvSpPr/>
          <p:nvPr/>
        </p:nvSpPr>
        <p:spPr>
          <a:xfrm>
            <a:off x="2176272" y="5879592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 0 V"/>
          <p:cNvSpPr txBox="1"/>
          <p:nvPr/>
        </p:nvSpPr>
        <p:spPr>
          <a:xfrm>
            <a:off x="2189988" y="5893307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0 V</a:t>
            </a:r>
          </a:p>
        </p:txBody>
      </p:sp>
      <p:cxnSp>
        <p:nvCxnSpPr>
          <p:cNvPr id="66" name="PROPOSED WIRE return"/>
          <p:cNvCxnSpPr/>
          <p:nvPr/>
        </p:nvCxnSpPr>
        <p:spPr>
          <a:xfrm>
            <a:off x="2761488" y="6062472"/>
            <a:ext cx="219456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PROPOSED WIRE return"/>
          <p:cNvCxnSpPr/>
          <p:nvPr/>
        </p:nvCxnSpPr>
        <p:spPr>
          <a:xfrm>
            <a:off x="2980944" y="6062472"/>
            <a:ext cx="0" cy="1737359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PROPOSED WIRE return"/>
          <p:cNvCxnSpPr/>
          <p:nvPr/>
        </p:nvCxnSpPr>
        <p:spPr>
          <a:xfrm>
            <a:off x="2980944" y="7799831"/>
            <a:ext cx="7626096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PORT N/−"/>
          <p:cNvSpPr/>
          <p:nvPr/>
        </p:nvSpPr>
        <p:spPr>
          <a:xfrm>
            <a:off x="6464808" y="5998464"/>
            <a:ext cx="64008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 N/−"/>
          <p:cNvSpPr txBox="1"/>
          <p:nvPr/>
        </p:nvSpPr>
        <p:spPr>
          <a:xfrm>
            <a:off x="6478524" y="6012179"/>
            <a:ext cx="61264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N/−</a:t>
            </a:r>
          </a:p>
        </p:txBody>
      </p:sp>
      <p:cxnSp>
        <p:nvCxnSpPr>
          <p:cNvPr id="71" name="PROPOSED WIRE return"/>
          <p:cNvCxnSpPr/>
          <p:nvPr/>
        </p:nvCxnSpPr>
        <p:spPr>
          <a:xfrm flipV="1">
            <a:off x="6144768" y="6181344"/>
            <a:ext cx="0" cy="1618487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PROPOSED WIRE return"/>
          <p:cNvCxnSpPr/>
          <p:nvPr/>
        </p:nvCxnSpPr>
        <p:spPr>
          <a:xfrm>
            <a:off x="6144768" y="6181344"/>
            <a:ext cx="320040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PORT A2"/>
          <p:cNvSpPr/>
          <p:nvPr/>
        </p:nvSpPr>
        <p:spPr>
          <a:xfrm>
            <a:off x="10853928" y="5998464"/>
            <a:ext cx="621792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 A2"/>
          <p:cNvSpPr txBox="1"/>
          <p:nvPr/>
        </p:nvSpPr>
        <p:spPr>
          <a:xfrm>
            <a:off x="10867644" y="6012179"/>
            <a:ext cx="594360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A2</a:t>
            </a:r>
          </a:p>
        </p:txBody>
      </p:sp>
      <p:cxnSp>
        <p:nvCxnSpPr>
          <p:cNvPr id="75" name="PROPOSED WIRE return"/>
          <p:cNvCxnSpPr/>
          <p:nvPr/>
        </p:nvCxnSpPr>
        <p:spPr>
          <a:xfrm flipV="1">
            <a:off x="10607040" y="6181344"/>
            <a:ext cx="0" cy="1618487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PROPOSED WIRE return"/>
          <p:cNvCxnSpPr/>
          <p:nvPr/>
        </p:nvCxnSpPr>
        <p:spPr>
          <a:xfrm>
            <a:off x="10607040" y="6181344"/>
            <a:ext cx="246888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ELECTRICAL JUNCTION"/>
          <p:cNvSpPr/>
          <p:nvPr/>
        </p:nvSpPr>
        <p:spPr>
          <a:xfrm>
            <a:off x="6111849" y="7766913"/>
            <a:ext cx="65836" cy="65836"/>
          </a:xfrm>
          <a:prstGeom prst="rect">
            <a:avLst/>
          </a:prstGeom>
          <a:solidFill>
            <a:srgbClr val="607184"/>
          </a:solidFill>
          <a:ln w="1270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PORT LED+"/>
          <p:cNvSpPr/>
          <p:nvPr/>
        </p:nvSpPr>
        <p:spPr>
          <a:xfrm>
            <a:off x="5020055" y="5632704"/>
            <a:ext cx="68580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 LED+"/>
          <p:cNvSpPr txBox="1"/>
          <p:nvPr/>
        </p:nvSpPr>
        <p:spPr>
          <a:xfrm>
            <a:off x="5033771" y="5646420"/>
            <a:ext cx="658368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LED+</a:t>
            </a:r>
          </a:p>
        </p:txBody>
      </p:sp>
      <p:cxnSp>
        <p:nvCxnSpPr>
          <p:cNvPr id="80" name="PROPOSED WIRE v24"/>
          <p:cNvCxnSpPr/>
          <p:nvPr/>
        </p:nvCxnSpPr>
        <p:spPr>
          <a:xfrm>
            <a:off x="5705855" y="5815584"/>
            <a:ext cx="192025" cy="0"/>
          </a:xfrm>
          <a:prstGeom prst="line">
            <a:avLst/>
          </a:prstGeom>
          <a:ln w="26670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 EN2"/>
          <p:cNvSpPr txBox="1"/>
          <p:nvPr/>
        </p:nvSpPr>
        <p:spPr>
          <a:xfrm>
            <a:off x="5833872" y="5504688"/>
            <a:ext cx="630936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1">
                <a:solidFill>
                  <a:srgbClr val="008192"/>
                </a:solidFill>
                <a:latin typeface="Aptos"/>
              </a:rPr>
              <a:t>EN2</a:t>
            </a:r>
          </a:p>
        </p:txBody>
      </p:sp>
      <p:sp>
        <p:nvSpPr>
          <p:cNvPr id="82" name="TEXT EN2"/>
          <p:cNvSpPr txBox="1"/>
          <p:nvPr/>
        </p:nvSpPr>
        <p:spPr>
          <a:xfrm>
            <a:off x="9710928" y="4992624"/>
            <a:ext cx="1051560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10" b="1">
                <a:solidFill>
                  <a:srgbClr val="008192"/>
                </a:solidFill>
                <a:latin typeface="Aptos"/>
              </a:rPr>
              <a:t>EN2</a:t>
            </a:r>
          </a:p>
        </p:txBody>
      </p:sp>
      <p:sp>
        <p:nvSpPr>
          <p:cNvPr id="83" name="TEXT EN2: K2:14 / K4:A1 / SB2:"/>
          <p:cNvSpPr txBox="1"/>
          <p:nvPr/>
        </p:nvSpPr>
        <p:spPr>
          <a:xfrm>
            <a:off x="3502152" y="7059168"/>
            <a:ext cx="5669280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00" b="1">
                <a:solidFill>
                  <a:srgbClr val="1D599B"/>
                </a:solidFill>
                <a:latin typeface="Aptos"/>
              </a:rPr>
              <a:t>K2:14 → X4-EN2 → HL2:+  (alongside relay coil A1, EAO LED+ and Crydom +3)</a:t>
            </a:r>
          </a:p>
        </p:txBody>
      </p:sp>
      <p:sp>
        <p:nvSpPr>
          <p:cNvPr id="84" name="TEXT Matching EN reference ind"/>
          <p:cNvSpPr txBox="1"/>
          <p:nvPr/>
        </p:nvSpPr>
        <p:spPr>
          <a:xfrm>
            <a:off x="3502152" y="8119872"/>
            <a:ext cx="1097280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25" b="0">
                <a:solidFill>
                  <a:srgbClr val="607084"/>
                </a:solidFill>
                <a:latin typeface="Aptos"/>
              </a:rPr>
              <a:t>EN2 = K2:14 switched output; terminal group X4-EN2 distributes this to four loads including HL2:+.</a:t>
            </a:r>
          </a:p>
        </p:txBody>
      </p:sp>
      <p:sp>
        <p:nvSpPr>
          <p:cNvPr id="85" name="TEXT X4:+24 → button C and K2 "/>
          <p:cNvSpPr txBox="1"/>
          <p:nvPr/>
        </p:nvSpPr>
        <p:spPr>
          <a:xfrm>
            <a:off x="795528" y="8430768"/>
            <a:ext cx="13121640" cy="39319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10" b="0">
                <a:solidFill>
                  <a:srgbClr val="607084"/>
                </a:solidFill>
                <a:latin typeface="Aptos"/>
              </a:rPr>
              <a:t>X4-24G → SB2:C, K2:L/+, K2:11   |   SB2:NO → K2:3   |   X4-EN2 → SK4:A1, SB2:LED+, SSR2:A1/+3, HL2:+   |   X2-0V → K2:N/−, SK4:A2, SB2:LED−, W2:14(−)</a:t>
            </a:r>
          </a:p>
        </p:txBody>
      </p:sp>
      <p:sp>
        <p:nvSpPr>
          <p:cNvPr id="86" name="KEY"/>
          <p:cNvSpPr/>
          <p:nvPr/>
        </p:nvSpPr>
        <p:spPr>
          <a:xfrm>
            <a:off x="11155680" y="640080"/>
            <a:ext cx="320040" cy="27432"/>
          </a:xfrm>
          <a:prstGeom prst="rect">
            <a:avLst/>
          </a:prstGeom>
          <a:solidFill>
            <a:srgbClr val="008192"/>
          </a:solidFill>
          <a:ln w="127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 Gated +24 V"/>
          <p:cNvSpPr txBox="1"/>
          <p:nvPr/>
        </p:nvSpPr>
        <p:spPr>
          <a:xfrm>
            <a:off x="11548872" y="539496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Gated +24 V</a:t>
            </a:r>
          </a:p>
        </p:txBody>
      </p:sp>
      <p:sp>
        <p:nvSpPr>
          <p:cNvPr id="88" name="KEY"/>
          <p:cNvSpPr/>
          <p:nvPr/>
        </p:nvSpPr>
        <p:spPr>
          <a:xfrm>
            <a:off x="11155680" y="941832"/>
            <a:ext cx="320040" cy="27432"/>
          </a:xfrm>
          <a:prstGeom prst="rect">
            <a:avLst/>
          </a:prstGeom>
          <a:solidFill>
            <a:srgbClr val="607184"/>
          </a:solidFill>
          <a:ln w="1270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 0 V return"/>
          <p:cNvSpPr txBox="1"/>
          <p:nvPr/>
        </p:nvSpPr>
        <p:spPr>
          <a:xfrm>
            <a:off x="11548872" y="841248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0 V return</a:t>
            </a:r>
          </a:p>
        </p:txBody>
      </p:sp>
      <p:sp>
        <p:nvSpPr>
          <p:cNvPr id="90" name="KEY"/>
          <p:cNvSpPr/>
          <p:nvPr/>
        </p:nvSpPr>
        <p:spPr>
          <a:xfrm>
            <a:off x="11155680" y="1243584"/>
            <a:ext cx="320040" cy="27432"/>
          </a:xfrm>
          <a:prstGeom prst="rect">
            <a:avLst/>
          </a:prstGeom>
          <a:solidFill>
            <a:srgbClr val="674EA3"/>
          </a:solidFill>
          <a:ln w="1270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 Momentary input"/>
          <p:cNvSpPr txBox="1"/>
          <p:nvPr/>
        </p:nvSpPr>
        <p:spPr>
          <a:xfrm>
            <a:off x="11548872" y="1142999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Momentary input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5  /  CHANNEL 1 / SSR DR"/>
          <p:cNvSpPr txBox="1"/>
          <p:nvPr/>
        </p:nvSpPr>
        <p:spPr>
          <a:xfrm>
            <a:off x="566928" y="320040"/>
            <a:ext cx="13917168" cy="44805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2200" b="1">
                <a:solidFill>
                  <a:srgbClr val="1F344E"/>
                </a:solidFill>
                <a:latin typeface="Aptos"/>
              </a:rPr>
              <a:t>08  /  CHANNEL 1 / ENABLE-GATED SSR DRIVE + ACTIVITY LED</a:t>
            </a:r>
          </a:p>
        </p:txBody>
      </p:sp>
      <p:sp>
        <p:nvSpPr>
          <p:cNvPr id="3" name="TEXT Omron 12 V SSR demand con"/>
          <p:cNvSpPr txBox="1"/>
          <p:nvPr/>
        </p:nvSpPr>
        <p:spPr>
          <a:xfrm>
            <a:off x="585216" y="886968"/>
            <a:ext cx="13752576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0">
                <a:solidFill>
                  <a:srgbClr val="607084"/>
                </a:solidFill>
                <a:latin typeface="Aptos"/>
              </a:rPr>
              <a:t>CH1 ACTIVE LED+ supply: Finder 13.61 K1:14 → EN1 → HL1:+. LED− stays on W1-switched return.</a:t>
            </a:r>
          </a:p>
        </p:txBody>
      </p:sp>
      <p:sp>
        <p:nvSpPr>
          <p:cNvPr id="4" name="HEADER RULE"/>
          <p:cNvSpPr/>
          <p:nvPr/>
        </p:nvSpPr>
        <p:spPr>
          <a:xfrm>
            <a:off x="566928" y="1325880"/>
            <a:ext cx="13953744" cy="32004"/>
          </a:xfrm>
          <a:prstGeom prst="rect">
            <a:avLst/>
          </a:prstGeom>
          <a:solidFill>
            <a:srgbClr val="1D599B"/>
          </a:solidFill>
          <a:ln w="1270">
            <a:solidFill>
              <a:srgbClr val="1D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THERMOCOUPLE  /  PULSE IN"/>
          <p:cNvSpPr txBox="1"/>
          <p:nvPr/>
        </p:nvSpPr>
        <p:spPr>
          <a:xfrm>
            <a:off x="603504" y="1490472"/>
            <a:ext cx="1353312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10" b="1">
                <a:solidFill>
                  <a:srgbClr val="1D599B"/>
                </a:solidFill>
                <a:latin typeface="Aptos"/>
              </a:rPr>
              <a:t>THERMOCOUPLE / 12 V PULSE INTERFACE / EN1 ENABLED 24 V BRANCH</a:t>
            </a:r>
          </a:p>
        </p:txBody>
      </p:sp>
      <p:sp>
        <p:nvSpPr>
          <p:cNvPr id="6" name="ENGINEERING REVIEW NOTE"/>
          <p:cNvSpPr/>
          <p:nvPr/>
        </p:nvSpPr>
        <p:spPr>
          <a:xfrm>
            <a:off x="658368" y="8979408"/>
            <a:ext cx="13533120" cy="566928"/>
          </a:xfrm>
          <a:prstGeom prst="roundRect">
            <a:avLst>
              <a:gd name="adj" fmla="val 5500"/>
            </a:avLst>
          </a:prstGeom>
          <a:solidFill>
            <a:srgbClr val="FFF7E9"/>
          </a:solidFill>
          <a:ln w="9525">
            <a:solidFill>
              <a:srgbClr val="DAB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 DESIGN REVIEW ONLY  |  Te"/>
          <p:cNvSpPr txBox="1"/>
          <p:nvPr/>
        </p:nvSpPr>
        <p:spPr>
          <a:xfrm>
            <a:off x="822960" y="9079992"/>
            <a:ext cx="13167360" cy="31089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5" b="1">
                <a:solidFill>
                  <a:srgbClr val="A35B1B"/>
                </a:solidFill>
                <a:latin typeface="Aptos"/>
              </a:rPr>
              <a:t>REFERENCE WIRING   /   230 V AC CONTROL SUPPLY  •  24 V DC CONTROLS  •  0–60 V DC HEATER CIRCUITS</a:t>
            </a:r>
          </a:p>
        </p:txBody>
      </p:sp>
      <p:sp>
        <p:nvSpPr>
          <p:cNvPr id="8" name="TEXT HEATING RATE CONTROLLER  "/>
          <p:cNvSpPr txBox="1"/>
          <p:nvPr/>
        </p:nvSpPr>
        <p:spPr>
          <a:xfrm>
            <a:off x="649224" y="9820656"/>
            <a:ext cx="117043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HEATING RATE CONTROLLER   /   REFERENCE ELECTRICAL WIRING   /   R1.2  ·  26 OCT 2026</a:t>
            </a:r>
          </a:p>
        </p:txBody>
      </p:sp>
      <p:sp>
        <p:nvSpPr>
          <p:cNvPr id="9" name="TEXT SHEET 05"/>
          <p:cNvSpPr txBox="1"/>
          <p:nvPr/>
        </p:nvSpPr>
        <p:spPr>
          <a:xfrm>
            <a:off x="12984480" y="9820656"/>
            <a:ext cx="11887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r"/>
            <a:r>
              <a:rPr sz="860" b="1">
                <a:solidFill>
                  <a:srgbClr val="607084"/>
                </a:solidFill>
                <a:latin typeface="Aptos"/>
              </a:rPr>
              <a:t>SHEET 08 / 14</a:t>
            </a:r>
          </a:p>
        </p:txBody>
      </p:sp>
      <p:sp>
        <p:nvSpPr>
          <p:cNvPr id="10" name="TEXT LED is on the 24 V CONTRO"/>
          <p:cNvSpPr txBox="1"/>
          <p:nvPr/>
        </p:nvSpPr>
        <p:spPr>
          <a:xfrm>
            <a:off x="667512" y="9537192"/>
            <a:ext cx="13560552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50" b="0">
                <a:solidFill>
                  <a:srgbClr val="607084"/>
                </a:solidFill>
                <a:latin typeface="Aptos"/>
              </a:rPr>
              <a:t/>
            </a:r>
          </a:p>
        </p:txBody>
      </p:sp>
      <p:sp>
        <p:nvSpPr>
          <p:cNvPr id="11" name="COMPONENT JTC1  TYPE K"/>
          <p:cNvSpPr/>
          <p:nvPr/>
        </p:nvSpPr>
        <p:spPr>
          <a:xfrm>
            <a:off x="685800" y="2999232"/>
            <a:ext cx="2121408" cy="219456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 JTC1  TYPE K"/>
          <p:cNvSpPr txBox="1"/>
          <p:nvPr/>
        </p:nvSpPr>
        <p:spPr>
          <a:xfrm>
            <a:off x="850392" y="3136391"/>
            <a:ext cx="1819655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220" b="1">
                <a:solidFill>
                  <a:srgbClr val="1F344E"/>
                </a:solidFill>
                <a:latin typeface="Aptos"/>
              </a:rPr>
              <a:t>JTC1  TYPE K</a:t>
            </a:r>
          </a:p>
        </p:txBody>
      </p:sp>
      <p:sp>
        <p:nvSpPr>
          <p:cNvPr id="13" name="TEXT External sensor"/>
          <p:cNvSpPr txBox="1"/>
          <p:nvPr/>
        </p:nvSpPr>
        <p:spPr>
          <a:xfrm>
            <a:off x="850392" y="3447287"/>
            <a:ext cx="1819655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External sensor</a:t>
            </a:r>
          </a:p>
        </p:txBody>
      </p:sp>
      <p:sp>
        <p:nvSpPr>
          <p:cNvPr id="14" name="TEXT Connector model TBD"/>
          <p:cNvSpPr txBox="1"/>
          <p:nvPr/>
        </p:nvSpPr>
        <p:spPr>
          <a:xfrm>
            <a:off x="850392" y="3721608"/>
            <a:ext cx="1792224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Type K panel connector</a:t>
            </a:r>
          </a:p>
        </p:txBody>
      </p:sp>
      <p:sp>
        <p:nvSpPr>
          <p:cNvPr id="15" name="COMPONENT E1  OMRON"/>
          <p:cNvSpPr/>
          <p:nvPr/>
        </p:nvSpPr>
        <p:spPr>
          <a:xfrm>
            <a:off x="3447288" y="2743200"/>
            <a:ext cx="2615184" cy="3566160"/>
          </a:xfrm>
          <a:prstGeom prst="roundRect">
            <a:avLst>
              <a:gd name="adj" fmla="val 5500"/>
            </a:avLst>
          </a:prstGeom>
          <a:solidFill>
            <a:srgbClr val="EBF6FA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 E1  OMRON"/>
          <p:cNvSpPr txBox="1"/>
          <p:nvPr/>
        </p:nvSpPr>
        <p:spPr>
          <a:xfrm>
            <a:off x="3611880" y="2880360"/>
            <a:ext cx="2313432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40" b="1">
                <a:solidFill>
                  <a:srgbClr val="1F344E"/>
                </a:solidFill>
                <a:latin typeface="Aptos"/>
              </a:rPr>
              <a:t>E1  OMRON</a:t>
            </a:r>
          </a:p>
        </p:txBody>
      </p:sp>
      <p:sp>
        <p:nvSpPr>
          <p:cNvPr id="17" name="TEXT E5CC-TQX3A5M-000"/>
          <p:cNvSpPr txBox="1"/>
          <p:nvPr/>
        </p:nvSpPr>
        <p:spPr>
          <a:xfrm>
            <a:off x="3611880" y="3191256"/>
            <a:ext cx="2313432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E5CC-TQX3A5M-000</a:t>
            </a:r>
          </a:p>
        </p:txBody>
      </p:sp>
      <p:sp>
        <p:nvSpPr>
          <p:cNvPr id="18" name="TEXT 12 V SSR demand output; T"/>
          <p:cNvSpPr txBox="1"/>
          <p:nvPr/>
        </p:nvSpPr>
        <p:spPr>
          <a:xfrm>
            <a:off x="3611880" y="3465576"/>
            <a:ext cx="2286000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12 V SSR demand output; TC input</a:t>
            </a:r>
          </a:p>
        </p:txBody>
      </p:sp>
      <p:sp>
        <p:nvSpPr>
          <p:cNvPr id="19" name="MFR LINK E1  OMRON"/>
          <p:cNvSpPr txBox="1"/>
          <p:nvPr/>
        </p:nvSpPr>
        <p:spPr>
          <a:xfrm>
            <a:off x="3611880" y="5998464"/>
            <a:ext cx="2286000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2"/>
              </a:rPr>
              <a:t>Manufacturer datasheet  ↗</a:t>
            </a:r>
          </a:p>
        </p:txBody>
      </p:sp>
      <p:sp>
        <p:nvSpPr>
          <p:cNvPr id="20" name="COMPONENT W1  WEIDMÜLLER"/>
          <p:cNvSpPr/>
          <p:nvPr/>
        </p:nvSpPr>
        <p:spPr>
          <a:xfrm>
            <a:off x="6601968" y="2743200"/>
            <a:ext cx="2267712" cy="356616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 W1  WEIDMÜLLER"/>
          <p:cNvSpPr txBox="1"/>
          <p:nvPr/>
        </p:nvSpPr>
        <p:spPr>
          <a:xfrm>
            <a:off x="6766559" y="2880360"/>
            <a:ext cx="1965960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1F344E"/>
                </a:solidFill>
                <a:latin typeface="Aptos"/>
              </a:rPr>
              <a:t>W1  WEIDMÜLLER</a:t>
            </a:r>
          </a:p>
        </p:txBody>
      </p:sp>
      <p:sp>
        <p:nvSpPr>
          <p:cNvPr id="22" name="TEXT 8950770000"/>
          <p:cNvSpPr txBox="1"/>
          <p:nvPr/>
        </p:nvSpPr>
        <p:spPr>
          <a:xfrm>
            <a:off x="6766559" y="3191256"/>
            <a:ext cx="196596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8950770000</a:t>
            </a:r>
          </a:p>
        </p:txBody>
      </p:sp>
      <p:sp>
        <p:nvSpPr>
          <p:cNvPr id="23" name="TEXT Transistor switch 13 (+) "/>
          <p:cNvSpPr txBox="1"/>
          <p:nvPr/>
        </p:nvSpPr>
        <p:spPr>
          <a:xfrm>
            <a:off x="6766559" y="3465576"/>
            <a:ext cx="2423160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75" b="0">
                <a:solidFill>
                  <a:srgbClr val="607084"/>
                </a:solidFill>
                <a:latin typeface="Aptos"/>
              </a:rPr>
              <a:t>Isolated 12 V input; 13(+) to 14(−) DC switch</a:t>
            </a:r>
          </a:p>
        </p:txBody>
      </p:sp>
      <p:sp>
        <p:nvSpPr>
          <p:cNvPr id="24" name="MFR LINK W1  WEIDMÜLLER"/>
          <p:cNvSpPr txBox="1"/>
          <p:nvPr/>
        </p:nvSpPr>
        <p:spPr>
          <a:xfrm>
            <a:off x="6766559" y="5998464"/>
            <a:ext cx="1938528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3"/>
              </a:rPr>
              <a:t>Manufacturer datasheet  ↗</a:t>
            </a:r>
          </a:p>
        </p:txBody>
      </p:sp>
      <p:sp>
        <p:nvSpPr>
          <p:cNvPr id="25" name="COMPONENT SSR1  CRYDOM"/>
          <p:cNvSpPr/>
          <p:nvPr/>
        </p:nvSpPr>
        <p:spPr>
          <a:xfrm>
            <a:off x="10744200" y="2176272"/>
            <a:ext cx="2743200" cy="2039112"/>
          </a:xfrm>
          <a:prstGeom prst="roundRect">
            <a:avLst>
              <a:gd name="adj" fmla="val 5500"/>
            </a:avLst>
          </a:prstGeom>
          <a:solidFill>
            <a:srgbClr val="EBF6FA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SSR1  CRYDOM"/>
          <p:cNvSpPr txBox="1"/>
          <p:nvPr/>
        </p:nvSpPr>
        <p:spPr>
          <a:xfrm>
            <a:off x="10908792" y="2313432"/>
            <a:ext cx="2441448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20" b="1">
                <a:solidFill>
                  <a:srgbClr val="1F344E"/>
                </a:solidFill>
                <a:latin typeface="Aptos"/>
              </a:rPr>
              <a:t>SSR1  CRYDOM</a:t>
            </a:r>
          </a:p>
        </p:txBody>
      </p:sp>
      <p:sp>
        <p:nvSpPr>
          <p:cNvPr id="27" name="TEXT DR2220D30U"/>
          <p:cNvSpPr txBox="1"/>
          <p:nvPr/>
        </p:nvSpPr>
        <p:spPr>
          <a:xfrm>
            <a:off x="10908792" y="2624328"/>
            <a:ext cx="2441448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DR2220D30U</a:t>
            </a:r>
          </a:p>
        </p:txBody>
      </p:sp>
      <p:sp>
        <p:nvSpPr>
          <p:cNvPr id="28" name="TEXT 24 V control input (3+/4−"/>
          <p:cNvSpPr txBox="1"/>
          <p:nvPr/>
        </p:nvSpPr>
        <p:spPr>
          <a:xfrm>
            <a:off x="10908792" y="2898648"/>
            <a:ext cx="2414016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10" b="0">
                <a:solidFill>
                  <a:srgbClr val="607084"/>
                </a:solidFill>
                <a:latin typeface="Aptos"/>
              </a:rPr>
              <a:t>24 V input: +3/A1  and  −4/A2</a:t>
            </a:r>
          </a:p>
        </p:txBody>
      </p:sp>
      <p:sp>
        <p:nvSpPr>
          <p:cNvPr id="29" name="MFR LINK SSR1  CRYDOM"/>
          <p:cNvSpPr txBox="1"/>
          <p:nvPr/>
        </p:nvSpPr>
        <p:spPr>
          <a:xfrm>
            <a:off x="10908792" y="3904487"/>
            <a:ext cx="2414016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4"/>
              </a:rPr>
              <a:t>Manufacturer datasheet  ↗</a:t>
            </a:r>
          </a:p>
        </p:txBody>
      </p:sp>
      <p:sp>
        <p:nvSpPr>
          <p:cNvPr id="30" name="COMPONENT HL1  ACTIVITY LED"/>
          <p:cNvSpPr/>
          <p:nvPr/>
        </p:nvSpPr>
        <p:spPr>
          <a:xfrm>
            <a:off x="10744200" y="5084064"/>
            <a:ext cx="2743200" cy="2459736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 HL1  ACTIVITY LED"/>
          <p:cNvSpPr txBox="1"/>
          <p:nvPr/>
        </p:nvSpPr>
        <p:spPr>
          <a:xfrm>
            <a:off x="10908792" y="5221224"/>
            <a:ext cx="2441448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1F344E"/>
                </a:solidFill>
                <a:latin typeface="Aptos"/>
              </a:rPr>
              <a:t>HL1  ACTIVITY LED</a:t>
            </a:r>
          </a:p>
        </p:txBody>
      </p:sp>
      <p:sp>
        <p:nvSpPr>
          <p:cNvPr id="32" name="TEXT 24 V DC, integrated resis"/>
          <p:cNvSpPr txBox="1"/>
          <p:nvPr/>
        </p:nvSpPr>
        <p:spPr>
          <a:xfrm>
            <a:off x="10908792" y="5532120"/>
            <a:ext cx="2441448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24 V DC, integrated resistor</a:t>
            </a:r>
          </a:p>
        </p:txBody>
      </p:sp>
      <p:sp>
        <p:nvSpPr>
          <p:cNvPr id="33" name="TEXT Selected part &amp; current T"/>
          <p:cNvSpPr txBox="1"/>
          <p:nvPr/>
        </p:nvSpPr>
        <p:spPr>
          <a:xfrm>
            <a:off x="10908792" y="5806440"/>
            <a:ext cx="2414016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  <a:hlinkClick r:id="rId5"/>
              </a:rPr>
              <a:t>RS 130-1086  •  20 mA max</a:t>
            </a:r>
          </a:p>
        </p:txBody>
      </p:sp>
      <p:sp>
        <p:nvSpPr>
          <p:cNvPr id="34" name="COMPONENT X3  GATED +24"/>
          <p:cNvSpPr/>
          <p:nvPr/>
        </p:nvSpPr>
        <p:spPr>
          <a:xfrm>
            <a:off x="722376" y="1975104"/>
            <a:ext cx="2020824" cy="676656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 X3  GATED +24"/>
          <p:cNvSpPr txBox="1"/>
          <p:nvPr/>
        </p:nvSpPr>
        <p:spPr>
          <a:xfrm>
            <a:off x="886968" y="2112264"/>
            <a:ext cx="2103120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00" b="1">
                <a:solidFill>
                  <a:srgbClr val="1F344E"/>
                </a:solidFill>
                <a:latin typeface="Aptos"/>
              </a:rPr>
              <a:t>K1:14  →  EN1 +24 V</a:t>
            </a:r>
          </a:p>
        </p:txBody>
      </p:sp>
      <p:sp>
        <p:nvSpPr>
          <p:cNvPr id="36" name="TEXT From selector"/>
          <p:cNvSpPr txBox="1"/>
          <p:nvPr/>
        </p:nvSpPr>
        <p:spPr>
          <a:xfrm>
            <a:off x="886968" y="2423160"/>
            <a:ext cx="237744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10" b="0">
                <a:solidFill>
                  <a:srgbClr val="607084"/>
                </a:solidFill>
                <a:latin typeface="Aptos"/>
              </a:rPr>
              <a:t>From Finder K1:14 via X3-EN1</a:t>
            </a:r>
          </a:p>
        </p:txBody>
      </p:sp>
      <p:sp>
        <p:nvSpPr>
          <p:cNvPr id="37" name="COMPONENT X2  0 V RETURN"/>
          <p:cNvSpPr/>
          <p:nvPr/>
        </p:nvSpPr>
        <p:spPr>
          <a:xfrm>
            <a:off x="6583680" y="7114032"/>
            <a:ext cx="2267712" cy="768096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 X2  0 V RETURN"/>
          <p:cNvSpPr txBox="1"/>
          <p:nvPr/>
        </p:nvSpPr>
        <p:spPr>
          <a:xfrm>
            <a:off x="6748272" y="7251192"/>
            <a:ext cx="1965960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19" b="1">
                <a:solidFill>
                  <a:srgbClr val="1F344E"/>
                </a:solidFill>
                <a:latin typeface="Aptos"/>
              </a:rPr>
              <a:t>X2  0 V RETURN</a:t>
            </a:r>
          </a:p>
        </p:txBody>
      </p:sp>
      <p:sp>
        <p:nvSpPr>
          <p:cNvPr id="39" name="TEXT Shared control return"/>
          <p:cNvSpPr txBox="1"/>
          <p:nvPr/>
        </p:nvSpPr>
        <p:spPr>
          <a:xfrm>
            <a:off x="6748272" y="7562088"/>
            <a:ext cx="196596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Shared control return</a:t>
            </a:r>
          </a:p>
        </p:txBody>
      </p:sp>
      <p:sp>
        <p:nvSpPr>
          <p:cNvPr id="40" name="PORT TC+"/>
          <p:cNvSpPr/>
          <p:nvPr/>
        </p:nvSpPr>
        <p:spPr>
          <a:xfrm>
            <a:off x="2350008" y="3730752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 TC+"/>
          <p:cNvSpPr txBox="1"/>
          <p:nvPr/>
        </p:nvSpPr>
        <p:spPr>
          <a:xfrm>
            <a:off x="2363724" y="3744468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TC+</a:t>
            </a:r>
          </a:p>
        </p:txBody>
      </p:sp>
      <p:sp>
        <p:nvSpPr>
          <p:cNvPr id="42" name="PORT 6+"/>
          <p:cNvSpPr/>
          <p:nvPr/>
        </p:nvSpPr>
        <p:spPr>
          <a:xfrm>
            <a:off x="3319272" y="3730752"/>
            <a:ext cx="55778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 6+"/>
          <p:cNvSpPr txBox="1"/>
          <p:nvPr/>
        </p:nvSpPr>
        <p:spPr>
          <a:xfrm>
            <a:off x="3332988" y="3744468"/>
            <a:ext cx="53035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6+</a:t>
            </a:r>
          </a:p>
        </p:txBody>
      </p:sp>
      <p:cxnSp>
        <p:nvCxnSpPr>
          <p:cNvPr id="44" name="PROPOSED WIRE pulse"/>
          <p:cNvCxnSpPr/>
          <p:nvPr/>
        </p:nvCxnSpPr>
        <p:spPr>
          <a:xfrm>
            <a:off x="2935224" y="3913632"/>
            <a:ext cx="384048" cy="0"/>
          </a:xfrm>
          <a:prstGeom prst="line">
            <a:avLst/>
          </a:prstGeom>
          <a:ln w="27305">
            <a:solidFill>
              <a:srgbClr val="674E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PORT TC−"/>
          <p:cNvSpPr/>
          <p:nvPr/>
        </p:nvSpPr>
        <p:spPr>
          <a:xfrm>
            <a:off x="2350008" y="4443983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 TC−"/>
          <p:cNvSpPr txBox="1"/>
          <p:nvPr/>
        </p:nvSpPr>
        <p:spPr>
          <a:xfrm>
            <a:off x="2363724" y="4457699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TC−</a:t>
            </a:r>
          </a:p>
        </p:txBody>
      </p:sp>
      <p:sp>
        <p:nvSpPr>
          <p:cNvPr id="47" name="PORT 5−"/>
          <p:cNvSpPr/>
          <p:nvPr/>
        </p:nvSpPr>
        <p:spPr>
          <a:xfrm>
            <a:off x="3319272" y="4443983"/>
            <a:ext cx="55778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 5−"/>
          <p:cNvSpPr txBox="1"/>
          <p:nvPr/>
        </p:nvSpPr>
        <p:spPr>
          <a:xfrm>
            <a:off x="3332988" y="4457699"/>
            <a:ext cx="53035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5−</a:t>
            </a:r>
          </a:p>
        </p:txBody>
      </p:sp>
      <p:cxnSp>
        <p:nvCxnSpPr>
          <p:cNvPr id="49" name="PROPOSED WIRE pulse"/>
          <p:cNvCxnSpPr/>
          <p:nvPr/>
        </p:nvCxnSpPr>
        <p:spPr>
          <a:xfrm>
            <a:off x="2935224" y="4626864"/>
            <a:ext cx="384048" cy="0"/>
          </a:xfrm>
          <a:prstGeom prst="line">
            <a:avLst/>
          </a:prstGeom>
          <a:ln w="27305">
            <a:solidFill>
              <a:srgbClr val="674E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PORT 1+"/>
          <p:cNvSpPr/>
          <p:nvPr/>
        </p:nvSpPr>
        <p:spPr>
          <a:xfrm>
            <a:off x="5641848" y="3639311"/>
            <a:ext cx="54864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 1+"/>
          <p:cNvSpPr txBox="1"/>
          <p:nvPr/>
        </p:nvSpPr>
        <p:spPr>
          <a:xfrm>
            <a:off x="5655564" y="3653027"/>
            <a:ext cx="52120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1+</a:t>
            </a:r>
          </a:p>
        </p:txBody>
      </p:sp>
      <p:sp>
        <p:nvSpPr>
          <p:cNvPr id="52" name="PORT A1"/>
          <p:cNvSpPr/>
          <p:nvPr/>
        </p:nvSpPr>
        <p:spPr>
          <a:xfrm>
            <a:off x="6473952" y="3639311"/>
            <a:ext cx="54864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 A1"/>
          <p:cNvSpPr txBox="1"/>
          <p:nvPr/>
        </p:nvSpPr>
        <p:spPr>
          <a:xfrm>
            <a:off x="6487668" y="3653027"/>
            <a:ext cx="52120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A1</a:t>
            </a:r>
          </a:p>
        </p:txBody>
      </p:sp>
      <p:cxnSp>
        <p:nvCxnSpPr>
          <p:cNvPr id="54" name="PROPOSED WIRE pulse"/>
          <p:cNvCxnSpPr/>
          <p:nvPr/>
        </p:nvCxnSpPr>
        <p:spPr>
          <a:xfrm>
            <a:off x="6190488" y="3822191"/>
            <a:ext cx="283464" cy="0"/>
          </a:xfrm>
          <a:prstGeom prst="line">
            <a:avLst/>
          </a:prstGeom>
          <a:ln w="27305">
            <a:solidFill>
              <a:srgbClr val="674E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PORT 2−"/>
          <p:cNvSpPr/>
          <p:nvPr/>
        </p:nvSpPr>
        <p:spPr>
          <a:xfrm>
            <a:off x="5641848" y="4471416"/>
            <a:ext cx="54864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 2−"/>
          <p:cNvSpPr txBox="1"/>
          <p:nvPr/>
        </p:nvSpPr>
        <p:spPr>
          <a:xfrm>
            <a:off x="5655564" y="4485131"/>
            <a:ext cx="52120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2−</a:t>
            </a:r>
          </a:p>
        </p:txBody>
      </p:sp>
      <p:sp>
        <p:nvSpPr>
          <p:cNvPr id="57" name="PORT A2"/>
          <p:cNvSpPr/>
          <p:nvPr/>
        </p:nvSpPr>
        <p:spPr>
          <a:xfrm>
            <a:off x="6473952" y="4471416"/>
            <a:ext cx="54864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 A2"/>
          <p:cNvSpPr txBox="1"/>
          <p:nvPr/>
        </p:nvSpPr>
        <p:spPr>
          <a:xfrm>
            <a:off x="6487668" y="4485131"/>
            <a:ext cx="52120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A2</a:t>
            </a:r>
          </a:p>
        </p:txBody>
      </p:sp>
      <p:cxnSp>
        <p:nvCxnSpPr>
          <p:cNvPr id="59" name="PROPOSED WIRE pulse"/>
          <p:cNvCxnSpPr/>
          <p:nvPr/>
        </p:nvCxnSpPr>
        <p:spPr>
          <a:xfrm>
            <a:off x="6190488" y="4654296"/>
            <a:ext cx="283464" cy="0"/>
          </a:xfrm>
          <a:prstGeom prst="line">
            <a:avLst/>
          </a:prstGeom>
          <a:ln w="27305">
            <a:solidFill>
              <a:srgbClr val="674E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PORT +24"/>
          <p:cNvSpPr/>
          <p:nvPr/>
        </p:nvSpPr>
        <p:spPr>
          <a:xfrm>
            <a:off x="2313432" y="2112263"/>
            <a:ext cx="55778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 +24"/>
          <p:cNvSpPr txBox="1"/>
          <p:nvPr/>
        </p:nvSpPr>
        <p:spPr>
          <a:xfrm>
            <a:off x="2327148" y="2125979"/>
            <a:ext cx="685800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869" b="1">
                <a:solidFill>
                  <a:srgbClr val="008192"/>
                </a:solidFill>
                <a:latin typeface="Aptos"/>
              </a:rPr>
              <a:t>EN1</a:t>
            </a:r>
          </a:p>
        </p:txBody>
      </p:sp>
      <p:cxnSp>
        <p:nvCxnSpPr>
          <p:cNvPr id="62" name="PROPOSED WIRE v24"/>
          <p:cNvCxnSpPr/>
          <p:nvPr/>
        </p:nvCxnSpPr>
        <p:spPr>
          <a:xfrm>
            <a:off x="2871216" y="2295144"/>
            <a:ext cx="137160" cy="0"/>
          </a:xfrm>
          <a:prstGeom prst="line">
            <a:avLst/>
          </a:prstGeom>
          <a:ln w="2730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PROPOSED WIRE v24"/>
          <p:cNvCxnSpPr/>
          <p:nvPr/>
        </p:nvCxnSpPr>
        <p:spPr>
          <a:xfrm flipV="1">
            <a:off x="3008376" y="1847088"/>
            <a:ext cx="0" cy="448056"/>
          </a:xfrm>
          <a:prstGeom prst="line">
            <a:avLst/>
          </a:prstGeom>
          <a:ln w="2730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PROPOSED WIRE v24"/>
          <p:cNvCxnSpPr/>
          <p:nvPr/>
        </p:nvCxnSpPr>
        <p:spPr>
          <a:xfrm>
            <a:off x="3008376" y="1847088"/>
            <a:ext cx="7260336" cy="0"/>
          </a:xfrm>
          <a:prstGeom prst="line">
            <a:avLst/>
          </a:prstGeom>
          <a:ln w="2730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PROPOSED WIRE v24"/>
          <p:cNvCxnSpPr/>
          <p:nvPr/>
        </p:nvCxnSpPr>
        <p:spPr>
          <a:xfrm>
            <a:off x="10268712" y="1847088"/>
            <a:ext cx="0" cy="4453128"/>
          </a:xfrm>
          <a:prstGeom prst="line">
            <a:avLst/>
          </a:prstGeom>
          <a:ln w="2730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PORT +3"/>
          <p:cNvSpPr/>
          <p:nvPr/>
        </p:nvSpPr>
        <p:spPr>
          <a:xfrm>
            <a:off x="10616184" y="2798063"/>
            <a:ext cx="55778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 +3"/>
          <p:cNvSpPr txBox="1"/>
          <p:nvPr/>
        </p:nvSpPr>
        <p:spPr>
          <a:xfrm>
            <a:off x="10424160" y="2811779"/>
            <a:ext cx="749808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850" b="1">
                <a:solidFill>
                  <a:srgbClr val="008192"/>
                </a:solidFill>
                <a:latin typeface="Aptos"/>
              </a:rPr>
              <a:t>A1/+3</a:t>
            </a:r>
          </a:p>
        </p:txBody>
      </p:sp>
      <p:sp>
        <p:nvSpPr>
          <p:cNvPr id="68" name="PORT LED+"/>
          <p:cNvSpPr/>
          <p:nvPr/>
        </p:nvSpPr>
        <p:spPr>
          <a:xfrm>
            <a:off x="10616184" y="6117336"/>
            <a:ext cx="64008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 LED+"/>
          <p:cNvSpPr txBox="1"/>
          <p:nvPr/>
        </p:nvSpPr>
        <p:spPr>
          <a:xfrm>
            <a:off x="10629900" y="6131051"/>
            <a:ext cx="61264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LED+</a:t>
            </a:r>
          </a:p>
        </p:txBody>
      </p:sp>
      <p:cxnSp>
        <p:nvCxnSpPr>
          <p:cNvPr id="70" name="PROPOSED WIRE v24"/>
          <p:cNvCxnSpPr/>
          <p:nvPr/>
        </p:nvCxnSpPr>
        <p:spPr>
          <a:xfrm>
            <a:off x="10268712" y="2980944"/>
            <a:ext cx="347472" cy="0"/>
          </a:xfrm>
          <a:prstGeom prst="line">
            <a:avLst/>
          </a:prstGeom>
          <a:ln w="2730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PROPOSED WIRE v24"/>
          <p:cNvCxnSpPr/>
          <p:nvPr/>
        </p:nvCxnSpPr>
        <p:spPr>
          <a:xfrm>
            <a:off x="10268712" y="6300216"/>
            <a:ext cx="347472" cy="0"/>
          </a:xfrm>
          <a:prstGeom prst="line">
            <a:avLst/>
          </a:prstGeom>
          <a:ln w="2730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ELECTRICAL JUNCTION"/>
          <p:cNvSpPr/>
          <p:nvPr/>
        </p:nvSpPr>
        <p:spPr>
          <a:xfrm>
            <a:off x="10235793" y="2948025"/>
            <a:ext cx="65836" cy="65836"/>
          </a:xfrm>
          <a:prstGeom prst="rect">
            <a:avLst/>
          </a:prstGeom>
          <a:solidFill>
            <a:srgbClr val="008192"/>
          </a:solidFill>
          <a:ln w="127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PORT −4"/>
          <p:cNvSpPr/>
          <p:nvPr/>
        </p:nvSpPr>
        <p:spPr>
          <a:xfrm>
            <a:off x="13048488" y="3273551"/>
            <a:ext cx="566928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 −4"/>
          <p:cNvSpPr txBox="1"/>
          <p:nvPr/>
        </p:nvSpPr>
        <p:spPr>
          <a:xfrm>
            <a:off x="13011912" y="3287268"/>
            <a:ext cx="75895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850" b="1">
                <a:solidFill>
                  <a:srgbClr val="607184"/>
                </a:solidFill>
                <a:latin typeface="Aptos"/>
              </a:rPr>
              <a:t>A2/−4</a:t>
            </a:r>
          </a:p>
        </p:txBody>
      </p:sp>
      <p:sp>
        <p:nvSpPr>
          <p:cNvPr id="75" name="PORT LED−"/>
          <p:cNvSpPr/>
          <p:nvPr/>
        </p:nvSpPr>
        <p:spPr>
          <a:xfrm>
            <a:off x="12975336" y="6729983"/>
            <a:ext cx="64008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 LED−"/>
          <p:cNvSpPr txBox="1"/>
          <p:nvPr/>
        </p:nvSpPr>
        <p:spPr>
          <a:xfrm>
            <a:off x="12989052" y="6743699"/>
            <a:ext cx="61264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LED−</a:t>
            </a:r>
          </a:p>
        </p:txBody>
      </p:sp>
      <p:sp>
        <p:nvSpPr>
          <p:cNvPr id="77" name="PORT 13+"/>
          <p:cNvSpPr/>
          <p:nvPr/>
        </p:nvSpPr>
        <p:spPr>
          <a:xfrm>
            <a:off x="8385048" y="4800600"/>
            <a:ext cx="612648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 13+"/>
          <p:cNvSpPr txBox="1"/>
          <p:nvPr/>
        </p:nvSpPr>
        <p:spPr>
          <a:xfrm>
            <a:off x="8398764" y="4814316"/>
            <a:ext cx="585216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13+</a:t>
            </a:r>
          </a:p>
        </p:txBody>
      </p:sp>
      <p:cxnSp>
        <p:nvCxnSpPr>
          <p:cNvPr id="79" name="PROPOSED WIRE return"/>
          <p:cNvCxnSpPr/>
          <p:nvPr/>
        </p:nvCxnSpPr>
        <p:spPr>
          <a:xfrm>
            <a:off x="13615416" y="3456432"/>
            <a:ext cx="192024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PROPOSED WIRE return"/>
          <p:cNvCxnSpPr/>
          <p:nvPr/>
        </p:nvCxnSpPr>
        <p:spPr>
          <a:xfrm>
            <a:off x="13807440" y="3456432"/>
            <a:ext cx="0" cy="4700016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PROPOSED WIRE return"/>
          <p:cNvCxnSpPr/>
          <p:nvPr/>
        </p:nvCxnSpPr>
        <p:spPr>
          <a:xfrm flipH="1">
            <a:off x="9253728" y="8156448"/>
            <a:ext cx="4553712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PROPOSED WIRE return"/>
          <p:cNvCxnSpPr/>
          <p:nvPr/>
        </p:nvCxnSpPr>
        <p:spPr>
          <a:xfrm flipV="1">
            <a:off x="9253728" y="4983480"/>
            <a:ext cx="0" cy="3172968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PROPOSED WIRE return"/>
          <p:cNvCxnSpPr/>
          <p:nvPr/>
        </p:nvCxnSpPr>
        <p:spPr>
          <a:xfrm flipH="1">
            <a:off x="8997696" y="4983480"/>
            <a:ext cx="256032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PROPOSED WIRE return"/>
          <p:cNvCxnSpPr/>
          <p:nvPr/>
        </p:nvCxnSpPr>
        <p:spPr>
          <a:xfrm>
            <a:off x="13615416" y="6912864"/>
            <a:ext cx="192024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ELECTRICAL JUNCTION"/>
          <p:cNvSpPr/>
          <p:nvPr/>
        </p:nvSpPr>
        <p:spPr>
          <a:xfrm>
            <a:off x="13774521" y="6879945"/>
            <a:ext cx="65836" cy="65836"/>
          </a:xfrm>
          <a:prstGeom prst="rect">
            <a:avLst/>
          </a:prstGeom>
          <a:solidFill>
            <a:srgbClr val="607184"/>
          </a:solidFill>
          <a:ln w="1270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PORT 14−"/>
          <p:cNvSpPr/>
          <p:nvPr/>
        </p:nvSpPr>
        <p:spPr>
          <a:xfrm>
            <a:off x="8385048" y="5559552"/>
            <a:ext cx="612648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 14−"/>
          <p:cNvSpPr txBox="1"/>
          <p:nvPr/>
        </p:nvSpPr>
        <p:spPr>
          <a:xfrm>
            <a:off x="8398764" y="5573268"/>
            <a:ext cx="585216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14−</a:t>
            </a:r>
          </a:p>
        </p:txBody>
      </p:sp>
      <p:sp>
        <p:nvSpPr>
          <p:cNvPr id="88" name="PORT 0 V"/>
          <p:cNvSpPr/>
          <p:nvPr/>
        </p:nvSpPr>
        <p:spPr>
          <a:xfrm>
            <a:off x="8394192" y="732434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 0 V"/>
          <p:cNvSpPr txBox="1"/>
          <p:nvPr/>
        </p:nvSpPr>
        <p:spPr>
          <a:xfrm>
            <a:off x="8407908" y="733806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0 V</a:t>
            </a:r>
          </a:p>
        </p:txBody>
      </p:sp>
      <p:cxnSp>
        <p:nvCxnSpPr>
          <p:cNvPr id="90" name="PROPOSED WIRE return"/>
          <p:cNvCxnSpPr/>
          <p:nvPr/>
        </p:nvCxnSpPr>
        <p:spPr>
          <a:xfrm>
            <a:off x="8997696" y="5742432"/>
            <a:ext cx="82296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PROPOSED WIRE return"/>
          <p:cNvCxnSpPr/>
          <p:nvPr/>
        </p:nvCxnSpPr>
        <p:spPr>
          <a:xfrm>
            <a:off x="9079992" y="5742432"/>
            <a:ext cx="0" cy="1764792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PROPOSED WIRE return"/>
          <p:cNvCxnSpPr/>
          <p:nvPr/>
        </p:nvCxnSpPr>
        <p:spPr>
          <a:xfrm flipH="1">
            <a:off x="8979408" y="7507224"/>
            <a:ext cx="100584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 W13: switched returns  | "/>
          <p:cNvSpPr txBox="1"/>
          <p:nvPr/>
        </p:nvSpPr>
        <p:spPr>
          <a:xfrm>
            <a:off x="9400032" y="7644383"/>
            <a:ext cx="4809744" cy="22860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50" b="1">
                <a:solidFill>
                  <a:srgbClr val="607084"/>
                </a:solidFill>
                <a:latin typeface="Aptos"/>
              </a:rPr>
              <a:t>X3-DRV1: W1:13(+) / SSR1:A2(−4) / HL1:−     |     W1:14(−) → X2-0V</a:t>
            </a:r>
          </a:p>
        </p:txBody>
      </p:sp>
      <p:sp>
        <p:nvSpPr>
          <p:cNvPr id="94" name="TEXT Lamp follows heater deman"/>
          <p:cNvSpPr txBox="1"/>
          <p:nvPr/>
        </p:nvSpPr>
        <p:spPr>
          <a:xfrm>
            <a:off x="832104" y="5513832"/>
            <a:ext cx="2395728" cy="6858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40" b="0">
                <a:solidFill>
                  <a:srgbClr val="1F344E"/>
                </a:solidFill>
                <a:latin typeface="Aptos"/>
              </a:rPr>
              <a:t>LED+ is supplied from Finder K1:14 (EN1). LED− is switched by W1.</a:t>
            </a:r>
          </a:p>
        </p:txBody>
      </p:sp>
      <p:sp>
        <p:nvSpPr>
          <p:cNvPr id="95" name="TEXT Electrical check: SSR inp"/>
          <p:cNvSpPr txBox="1"/>
          <p:nvPr/>
        </p:nvSpPr>
        <p:spPr>
          <a:xfrm>
            <a:off x="850392" y="7973568"/>
            <a:ext cx="5852160" cy="32004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880" b="0">
                <a:solidFill>
                  <a:srgbClr val="A35B1B"/>
                </a:solidFill>
                <a:latin typeface="Aptos"/>
              </a:rPr>
              <a:t>W1 output: 100 mA maximum. SSR input plus 24 V activity lamp: up to 35 mA; use one conductor per PTFIX port.</a:t>
            </a:r>
          </a:p>
        </p:txBody>
      </p:sp>
      <p:sp>
        <p:nvSpPr>
          <p:cNvPr id="96" name="KEY"/>
          <p:cNvSpPr/>
          <p:nvPr/>
        </p:nvSpPr>
        <p:spPr>
          <a:xfrm>
            <a:off x="11155680" y="640080"/>
            <a:ext cx="320040" cy="27432"/>
          </a:xfrm>
          <a:prstGeom prst="rect">
            <a:avLst/>
          </a:prstGeom>
          <a:solidFill>
            <a:srgbClr val="674EA3"/>
          </a:solidFill>
          <a:ln w="1270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 TC / 12 V demand"/>
          <p:cNvSpPr txBox="1"/>
          <p:nvPr/>
        </p:nvSpPr>
        <p:spPr>
          <a:xfrm>
            <a:off x="11548872" y="539496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TC / 12 V demand</a:t>
            </a:r>
          </a:p>
        </p:txBody>
      </p:sp>
      <p:sp>
        <p:nvSpPr>
          <p:cNvPr id="98" name="KEY"/>
          <p:cNvSpPr/>
          <p:nvPr/>
        </p:nvSpPr>
        <p:spPr>
          <a:xfrm>
            <a:off x="11155680" y="941832"/>
            <a:ext cx="320040" cy="27432"/>
          </a:xfrm>
          <a:prstGeom prst="rect">
            <a:avLst/>
          </a:prstGeom>
          <a:solidFill>
            <a:srgbClr val="008192"/>
          </a:solidFill>
          <a:ln w="127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 24 V to both loads"/>
          <p:cNvSpPr txBox="1"/>
          <p:nvPr/>
        </p:nvSpPr>
        <p:spPr>
          <a:xfrm>
            <a:off x="11548872" y="841248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50" b="1">
                <a:solidFill>
                  <a:srgbClr val="607084"/>
                </a:solidFill>
                <a:latin typeface="Aptos"/>
              </a:rPr>
              <a:t>EN1 from Finder K1:14</a:t>
            </a:r>
          </a:p>
        </p:txBody>
      </p:sp>
      <p:sp>
        <p:nvSpPr>
          <p:cNvPr id="100" name="KEY"/>
          <p:cNvSpPr/>
          <p:nvPr/>
        </p:nvSpPr>
        <p:spPr>
          <a:xfrm>
            <a:off x="11155680" y="1243584"/>
            <a:ext cx="320040" cy="27432"/>
          </a:xfrm>
          <a:prstGeom prst="rect">
            <a:avLst/>
          </a:prstGeom>
          <a:solidFill>
            <a:srgbClr val="607184"/>
          </a:solidFill>
          <a:ln w="1270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 Switched return"/>
          <p:cNvSpPr txBox="1"/>
          <p:nvPr/>
        </p:nvSpPr>
        <p:spPr>
          <a:xfrm>
            <a:off x="11548872" y="1142999"/>
            <a:ext cx="2962656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25" b="1">
                <a:solidFill>
                  <a:srgbClr val="607084"/>
                </a:solidFill>
                <a:latin typeface="Aptos"/>
              </a:rPr>
              <a:t>SSR1:A2 + HL1:− → X3-DRV1 → W1:13; W1:14 → X2-0V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41248" y="6583680"/>
            <a:ext cx="5760720" cy="960120"/>
          </a:xfrm>
          <a:prstGeom prst="roundRect">
            <a:avLst/>
          </a:prstGeom>
          <a:solidFill>
            <a:srgbClr val="F8F8F6"/>
          </a:solidFill>
          <a:ln w="8890">
            <a:solidFill>
              <a:srgbClr val="B4C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60120" y="6702552"/>
            <a:ext cx="5458968" cy="24688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0">
                <a:solidFill>
                  <a:srgbClr val="9A5E23"/>
                </a:solidFill>
                <a:latin typeface="Aptos"/>
              </a:defRPr>
            </a:pPr>
            <a:r>
              <a:t>POSITIVE SUPPLY: FINDER K1:14 (EN1)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60120" y="6995160"/>
            <a:ext cx="5458968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C5981"/>
                </a:solidFill>
                <a:latin typeface="Aptos"/>
              </a:defRPr>
            </a:pPr>
            <a:r>
              <a:t>FINDER K1:14 → X3-EN1 → HL1:+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60120" y="7260336"/>
            <a:ext cx="5458968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00" b="0">
                <a:solidFill>
                  <a:srgbClr val="64788A"/>
                </a:solidFill>
                <a:latin typeface="Aptos"/>
              </a:defRPr>
            </a:pPr>
            <a:r>
              <a:t>EN1/EN2 are the switched outputs of Finder K1/K2 terminal 14.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6  /  CHANNEL 2 / SSR DR"/>
          <p:cNvSpPr txBox="1"/>
          <p:nvPr/>
        </p:nvSpPr>
        <p:spPr>
          <a:xfrm>
            <a:off x="566928" y="320040"/>
            <a:ext cx="13917168" cy="44805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2200" b="1">
                <a:solidFill>
                  <a:srgbClr val="1F344E"/>
                </a:solidFill>
                <a:latin typeface="Aptos"/>
              </a:rPr>
              <a:t>09  /  CHANNEL 2 / ENABLE-GATED SSR DRIVE + ACTIVITY LED</a:t>
            </a:r>
          </a:p>
        </p:txBody>
      </p:sp>
      <p:sp>
        <p:nvSpPr>
          <p:cNvPr id="3" name="TEXT Omron 12 V SSR demand con"/>
          <p:cNvSpPr txBox="1"/>
          <p:nvPr/>
        </p:nvSpPr>
        <p:spPr>
          <a:xfrm>
            <a:off x="585216" y="886968"/>
            <a:ext cx="13752576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0">
                <a:solidFill>
                  <a:srgbClr val="607084"/>
                </a:solidFill>
                <a:latin typeface="Aptos"/>
              </a:rPr>
              <a:t>CH2 ACTIVE LED+ supply: Finder 13.61 K2:14 → EN2 → HL2:+. LED− stays on W2-switched return.</a:t>
            </a:r>
          </a:p>
        </p:txBody>
      </p:sp>
      <p:sp>
        <p:nvSpPr>
          <p:cNvPr id="4" name="HEADER RULE"/>
          <p:cNvSpPr/>
          <p:nvPr/>
        </p:nvSpPr>
        <p:spPr>
          <a:xfrm>
            <a:off x="566928" y="1325880"/>
            <a:ext cx="13953744" cy="32004"/>
          </a:xfrm>
          <a:prstGeom prst="rect">
            <a:avLst/>
          </a:prstGeom>
          <a:solidFill>
            <a:srgbClr val="1D599B"/>
          </a:solidFill>
          <a:ln w="1270">
            <a:solidFill>
              <a:srgbClr val="1D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THERMOCOUPLE  /  PULSE IN"/>
          <p:cNvSpPr txBox="1"/>
          <p:nvPr/>
        </p:nvSpPr>
        <p:spPr>
          <a:xfrm>
            <a:off x="603504" y="1490472"/>
            <a:ext cx="1353312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10" b="1">
                <a:solidFill>
                  <a:srgbClr val="1D599B"/>
                </a:solidFill>
                <a:latin typeface="Aptos"/>
              </a:rPr>
              <a:t>THERMOCOUPLE / 12 V PULSE INTERFACE / EN2 ENABLED 24 V BRANCH</a:t>
            </a:r>
          </a:p>
        </p:txBody>
      </p:sp>
      <p:sp>
        <p:nvSpPr>
          <p:cNvPr id="6" name="ENGINEERING REVIEW NOTE"/>
          <p:cNvSpPr/>
          <p:nvPr/>
        </p:nvSpPr>
        <p:spPr>
          <a:xfrm>
            <a:off x="658368" y="8979408"/>
            <a:ext cx="13533120" cy="566928"/>
          </a:xfrm>
          <a:prstGeom prst="roundRect">
            <a:avLst>
              <a:gd name="adj" fmla="val 5500"/>
            </a:avLst>
          </a:prstGeom>
          <a:solidFill>
            <a:srgbClr val="FFF7E9"/>
          </a:solidFill>
          <a:ln w="9525">
            <a:solidFill>
              <a:srgbClr val="DAB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 DESIGN REVIEW ONLY  |  Te"/>
          <p:cNvSpPr txBox="1"/>
          <p:nvPr/>
        </p:nvSpPr>
        <p:spPr>
          <a:xfrm>
            <a:off x="822960" y="9079992"/>
            <a:ext cx="13167360" cy="31089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5" b="1">
                <a:solidFill>
                  <a:srgbClr val="A35B1B"/>
                </a:solidFill>
                <a:latin typeface="Aptos"/>
              </a:rPr>
              <a:t>REFERENCE WIRING   /   230 V AC CONTROL SUPPLY  •  24 V DC CONTROLS  •  0–60 V DC HEATER CIRCUITS</a:t>
            </a:r>
          </a:p>
        </p:txBody>
      </p:sp>
      <p:sp>
        <p:nvSpPr>
          <p:cNvPr id="8" name="TEXT HEATING RATE CONTROLLER  "/>
          <p:cNvSpPr txBox="1"/>
          <p:nvPr/>
        </p:nvSpPr>
        <p:spPr>
          <a:xfrm>
            <a:off x="649224" y="9820656"/>
            <a:ext cx="117043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HEATING RATE CONTROLLER   /   REFERENCE ELECTRICAL WIRING   /   R1.2  ·  26 OCT 2026</a:t>
            </a:r>
          </a:p>
        </p:txBody>
      </p:sp>
      <p:sp>
        <p:nvSpPr>
          <p:cNvPr id="9" name="TEXT SHEET 06"/>
          <p:cNvSpPr txBox="1"/>
          <p:nvPr/>
        </p:nvSpPr>
        <p:spPr>
          <a:xfrm>
            <a:off x="12984480" y="9820656"/>
            <a:ext cx="11887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r"/>
            <a:r>
              <a:rPr sz="860" b="1">
                <a:solidFill>
                  <a:srgbClr val="607084"/>
                </a:solidFill>
                <a:latin typeface="Aptos"/>
              </a:rPr>
              <a:t>SHEET 09 / 14</a:t>
            </a:r>
          </a:p>
        </p:txBody>
      </p:sp>
      <p:sp>
        <p:nvSpPr>
          <p:cNvPr id="10" name="TEXT LED is on the 24 V CONTRO"/>
          <p:cNvSpPr txBox="1"/>
          <p:nvPr/>
        </p:nvSpPr>
        <p:spPr>
          <a:xfrm>
            <a:off x="667512" y="9537192"/>
            <a:ext cx="13560552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50" b="0">
                <a:solidFill>
                  <a:srgbClr val="607084"/>
                </a:solidFill>
                <a:latin typeface="Aptos"/>
              </a:rPr>
              <a:t/>
            </a:r>
          </a:p>
        </p:txBody>
      </p:sp>
      <p:sp>
        <p:nvSpPr>
          <p:cNvPr id="11" name="COMPONENT JTC2  TYPE K"/>
          <p:cNvSpPr/>
          <p:nvPr/>
        </p:nvSpPr>
        <p:spPr>
          <a:xfrm>
            <a:off x="685800" y="2999232"/>
            <a:ext cx="2121408" cy="219456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 JTC2  TYPE K"/>
          <p:cNvSpPr txBox="1"/>
          <p:nvPr/>
        </p:nvSpPr>
        <p:spPr>
          <a:xfrm>
            <a:off x="850392" y="3136391"/>
            <a:ext cx="1819655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220" b="1">
                <a:solidFill>
                  <a:srgbClr val="1F344E"/>
                </a:solidFill>
                <a:latin typeface="Aptos"/>
              </a:rPr>
              <a:t>JTC2  TYPE K</a:t>
            </a:r>
          </a:p>
        </p:txBody>
      </p:sp>
      <p:sp>
        <p:nvSpPr>
          <p:cNvPr id="13" name="TEXT External sensor"/>
          <p:cNvSpPr txBox="1"/>
          <p:nvPr/>
        </p:nvSpPr>
        <p:spPr>
          <a:xfrm>
            <a:off x="850392" y="3447287"/>
            <a:ext cx="1819655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External sensor</a:t>
            </a:r>
          </a:p>
        </p:txBody>
      </p:sp>
      <p:sp>
        <p:nvSpPr>
          <p:cNvPr id="14" name="TEXT Connector model TBD"/>
          <p:cNvSpPr txBox="1"/>
          <p:nvPr/>
        </p:nvSpPr>
        <p:spPr>
          <a:xfrm>
            <a:off x="850392" y="3721608"/>
            <a:ext cx="1792224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Type K panel connector</a:t>
            </a:r>
          </a:p>
        </p:txBody>
      </p:sp>
      <p:sp>
        <p:nvSpPr>
          <p:cNvPr id="15" name="COMPONENT E2  OMRON"/>
          <p:cNvSpPr/>
          <p:nvPr/>
        </p:nvSpPr>
        <p:spPr>
          <a:xfrm>
            <a:off x="3447288" y="2743200"/>
            <a:ext cx="2615184" cy="3566160"/>
          </a:xfrm>
          <a:prstGeom prst="roundRect">
            <a:avLst>
              <a:gd name="adj" fmla="val 5500"/>
            </a:avLst>
          </a:prstGeom>
          <a:solidFill>
            <a:srgbClr val="EBF6FA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 E2  OMRON"/>
          <p:cNvSpPr txBox="1"/>
          <p:nvPr/>
        </p:nvSpPr>
        <p:spPr>
          <a:xfrm>
            <a:off x="3611880" y="2880360"/>
            <a:ext cx="2313432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40" b="1">
                <a:solidFill>
                  <a:srgbClr val="1F344E"/>
                </a:solidFill>
                <a:latin typeface="Aptos"/>
              </a:rPr>
              <a:t>E2  OMRON</a:t>
            </a:r>
          </a:p>
        </p:txBody>
      </p:sp>
      <p:sp>
        <p:nvSpPr>
          <p:cNvPr id="17" name="TEXT E5CC-TQX3A5M-003"/>
          <p:cNvSpPr txBox="1"/>
          <p:nvPr/>
        </p:nvSpPr>
        <p:spPr>
          <a:xfrm>
            <a:off x="3611880" y="3191256"/>
            <a:ext cx="2313432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E5CC-TQX3A5M-003</a:t>
            </a:r>
          </a:p>
        </p:txBody>
      </p:sp>
      <p:sp>
        <p:nvSpPr>
          <p:cNvPr id="18" name="TEXT 12 V SSR demand output; T"/>
          <p:cNvSpPr txBox="1"/>
          <p:nvPr/>
        </p:nvSpPr>
        <p:spPr>
          <a:xfrm>
            <a:off x="3611880" y="3465576"/>
            <a:ext cx="2286000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12 V SSR demand output; TC input</a:t>
            </a:r>
          </a:p>
        </p:txBody>
      </p:sp>
      <p:sp>
        <p:nvSpPr>
          <p:cNvPr id="19" name="MFR LINK E2  OMRON"/>
          <p:cNvSpPr txBox="1"/>
          <p:nvPr/>
        </p:nvSpPr>
        <p:spPr>
          <a:xfrm>
            <a:off x="3611880" y="5998464"/>
            <a:ext cx="2286000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2"/>
              </a:rPr>
              <a:t>Manufacturer datasheet  ↗</a:t>
            </a:r>
          </a:p>
        </p:txBody>
      </p:sp>
      <p:sp>
        <p:nvSpPr>
          <p:cNvPr id="20" name="COMPONENT W2  WEIDMÜLLER"/>
          <p:cNvSpPr/>
          <p:nvPr/>
        </p:nvSpPr>
        <p:spPr>
          <a:xfrm>
            <a:off x="6601968" y="2743200"/>
            <a:ext cx="2267712" cy="356616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 W2  WEIDMÜLLER"/>
          <p:cNvSpPr txBox="1"/>
          <p:nvPr/>
        </p:nvSpPr>
        <p:spPr>
          <a:xfrm>
            <a:off x="6766559" y="2880360"/>
            <a:ext cx="1965960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1F344E"/>
                </a:solidFill>
                <a:latin typeface="Aptos"/>
              </a:rPr>
              <a:t>W2  WEIDMÜLLER</a:t>
            </a:r>
          </a:p>
        </p:txBody>
      </p:sp>
      <p:sp>
        <p:nvSpPr>
          <p:cNvPr id="22" name="TEXT 8950770000"/>
          <p:cNvSpPr txBox="1"/>
          <p:nvPr/>
        </p:nvSpPr>
        <p:spPr>
          <a:xfrm>
            <a:off x="6766559" y="3191256"/>
            <a:ext cx="196596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8950770000</a:t>
            </a:r>
          </a:p>
        </p:txBody>
      </p:sp>
      <p:sp>
        <p:nvSpPr>
          <p:cNvPr id="23" name="TEXT Transistor switch 13 (+) "/>
          <p:cNvSpPr txBox="1"/>
          <p:nvPr/>
        </p:nvSpPr>
        <p:spPr>
          <a:xfrm>
            <a:off x="6766559" y="3465576"/>
            <a:ext cx="2423160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75" b="0">
                <a:solidFill>
                  <a:srgbClr val="607084"/>
                </a:solidFill>
                <a:latin typeface="Aptos"/>
              </a:rPr>
              <a:t>Isolated 12 V input; 13(+) to 14(−) DC switch</a:t>
            </a:r>
          </a:p>
        </p:txBody>
      </p:sp>
      <p:sp>
        <p:nvSpPr>
          <p:cNvPr id="24" name="MFR LINK W2  WEIDMÜLLER"/>
          <p:cNvSpPr txBox="1"/>
          <p:nvPr/>
        </p:nvSpPr>
        <p:spPr>
          <a:xfrm>
            <a:off x="6766559" y="5998464"/>
            <a:ext cx="1938528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3"/>
              </a:rPr>
              <a:t>Manufacturer datasheet  ↗</a:t>
            </a:r>
          </a:p>
        </p:txBody>
      </p:sp>
      <p:sp>
        <p:nvSpPr>
          <p:cNvPr id="25" name="COMPONENT SSR2  CRYDOM"/>
          <p:cNvSpPr/>
          <p:nvPr/>
        </p:nvSpPr>
        <p:spPr>
          <a:xfrm>
            <a:off x="10744200" y="2176272"/>
            <a:ext cx="2743200" cy="2039112"/>
          </a:xfrm>
          <a:prstGeom prst="roundRect">
            <a:avLst>
              <a:gd name="adj" fmla="val 5500"/>
            </a:avLst>
          </a:prstGeom>
          <a:solidFill>
            <a:srgbClr val="EBF6FA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SSR2  CRYDOM"/>
          <p:cNvSpPr txBox="1"/>
          <p:nvPr/>
        </p:nvSpPr>
        <p:spPr>
          <a:xfrm>
            <a:off x="10908792" y="2313432"/>
            <a:ext cx="2441448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20" b="1">
                <a:solidFill>
                  <a:srgbClr val="1F344E"/>
                </a:solidFill>
                <a:latin typeface="Aptos"/>
              </a:rPr>
              <a:t>SSR2  CRYDOM</a:t>
            </a:r>
          </a:p>
        </p:txBody>
      </p:sp>
      <p:sp>
        <p:nvSpPr>
          <p:cNvPr id="27" name="TEXT DR2220D30U"/>
          <p:cNvSpPr txBox="1"/>
          <p:nvPr/>
        </p:nvSpPr>
        <p:spPr>
          <a:xfrm>
            <a:off x="10908792" y="2624328"/>
            <a:ext cx="2441448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DR2220D30U</a:t>
            </a:r>
          </a:p>
        </p:txBody>
      </p:sp>
      <p:sp>
        <p:nvSpPr>
          <p:cNvPr id="28" name="TEXT 24 V control input (3+/4−"/>
          <p:cNvSpPr txBox="1"/>
          <p:nvPr/>
        </p:nvSpPr>
        <p:spPr>
          <a:xfrm>
            <a:off x="10908792" y="2898648"/>
            <a:ext cx="2414016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10" b="0">
                <a:solidFill>
                  <a:srgbClr val="607084"/>
                </a:solidFill>
                <a:latin typeface="Aptos"/>
              </a:rPr>
              <a:t>24 V input: +3/A1  and  −4/A2</a:t>
            </a:r>
          </a:p>
        </p:txBody>
      </p:sp>
      <p:sp>
        <p:nvSpPr>
          <p:cNvPr id="29" name="MFR LINK SSR2  CRYDOM"/>
          <p:cNvSpPr txBox="1"/>
          <p:nvPr/>
        </p:nvSpPr>
        <p:spPr>
          <a:xfrm>
            <a:off x="10908792" y="3904487"/>
            <a:ext cx="2414016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4"/>
              </a:rPr>
              <a:t>Manufacturer datasheet  ↗</a:t>
            </a:r>
          </a:p>
        </p:txBody>
      </p:sp>
      <p:sp>
        <p:nvSpPr>
          <p:cNvPr id="30" name="COMPONENT HL2  ACTIVITY LED"/>
          <p:cNvSpPr/>
          <p:nvPr/>
        </p:nvSpPr>
        <p:spPr>
          <a:xfrm>
            <a:off x="10744200" y="5084064"/>
            <a:ext cx="2743200" cy="2459736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 HL2  ACTIVITY LED"/>
          <p:cNvSpPr txBox="1"/>
          <p:nvPr/>
        </p:nvSpPr>
        <p:spPr>
          <a:xfrm>
            <a:off x="10908792" y="5221224"/>
            <a:ext cx="2441448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1F344E"/>
                </a:solidFill>
                <a:latin typeface="Aptos"/>
              </a:rPr>
              <a:t>HL2  ACTIVITY LED</a:t>
            </a:r>
          </a:p>
        </p:txBody>
      </p:sp>
      <p:sp>
        <p:nvSpPr>
          <p:cNvPr id="32" name="TEXT 24 V DC, integrated resis"/>
          <p:cNvSpPr txBox="1"/>
          <p:nvPr/>
        </p:nvSpPr>
        <p:spPr>
          <a:xfrm>
            <a:off x="10908792" y="5532120"/>
            <a:ext cx="2441448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24 V DC, integrated resistor</a:t>
            </a:r>
          </a:p>
        </p:txBody>
      </p:sp>
      <p:sp>
        <p:nvSpPr>
          <p:cNvPr id="33" name="TEXT Selected part &amp; current T"/>
          <p:cNvSpPr txBox="1"/>
          <p:nvPr/>
        </p:nvSpPr>
        <p:spPr>
          <a:xfrm>
            <a:off x="10908792" y="5806440"/>
            <a:ext cx="2414016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  <a:hlinkClick r:id="rId5"/>
              </a:rPr>
              <a:t>RS 130-1086  •  20 mA max</a:t>
            </a:r>
          </a:p>
        </p:txBody>
      </p:sp>
      <p:sp>
        <p:nvSpPr>
          <p:cNvPr id="34" name="COMPONENT X4  GATED +24"/>
          <p:cNvSpPr/>
          <p:nvPr/>
        </p:nvSpPr>
        <p:spPr>
          <a:xfrm>
            <a:off x="722376" y="1975104"/>
            <a:ext cx="2020824" cy="676656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 X4  GATED +24"/>
          <p:cNvSpPr txBox="1"/>
          <p:nvPr/>
        </p:nvSpPr>
        <p:spPr>
          <a:xfrm>
            <a:off x="886968" y="2112264"/>
            <a:ext cx="2103120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00" b="1">
                <a:solidFill>
                  <a:srgbClr val="1F344E"/>
                </a:solidFill>
                <a:latin typeface="Aptos"/>
              </a:rPr>
              <a:t>K2:14  →  EN2 +24 V</a:t>
            </a:r>
          </a:p>
        </p:txBody>
      </p:sp>
      <p:sp>
        <p:nvSpPr>
          <p:cNvPr id="36" name="TEXT From selector"/>
          <p:cNvSpPr txBox="1"/>
          <p:nvPr/>
        </p:nvSpPr>
        <p:spPr>
          <a:xfrm>
            <a:off x="886968" y="2423160"/>
            <a:ext cx="237744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10" b="0">
                <a:solidFill>
                  <a:srgbClr val="607084"/>
                </a:solidFill>
                <a:latin typeface="Aptos"/>
              </a:rPr>
              <a:t>From Finder K2:14 via X4-EN2</a:t>
            </a:r>
          </a:p>
        </p:txBody>
      </p:sp>
      <p:sp>
        <p:nvSpPr>
          <p:cNvPr id="37" name="COMPONENT X2  0 V RETURN"/>
          <p:cNvSpPr/>
          <p:nvPr/>
        </p:nvSpPr>
        <p:spPr>
          <a:xfrm>
            <a:off x="6583680" y="7114032"/>
            <a:ext cx="2267712" cy="768096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 X2  0 V RETURN"/>
          <p:cNvSpPr txBox="1"/>
          <p:nvPr/>
        </p:nvSpPr>
        <p:spPr>
          <a:xfrm>
            <a:off x="6748272" y="7251192"/>
            <a:ext cx="1965960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19" b="1">
                <a:solidFill>
                  <a:srgbClr val="1F344E"/>
                </a:solidFill>
                <a:latin typeface="Aptos"/>
              </a:rPr>
              <a:t>X2  0 V RETURN</a:t>
            </a:r>
          </a:p>
        </p:txBody>
      </p:sp>
      <p:sp>
        <p:nvSpPr>
          <p:cNvPr id="39" name="TEXT Shared control return"/>
          <p:cNvSpPr txBox="1"/>
          <p:nvPr/>
        </p:nvSpPr>
        <p:spPr>
          <a:xfrm>
            <a:off x="6748272" y="7562088"/>
            <a:ext cx="196596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Shared control return</a:t>
            </a:r>
          </a:p>
        </p:txBody>
      </p:sp>
      <p:sp>
        <p:nvSpPr>
          <p:cNvPr id="40" name="PORT TC+"/>
          <p:cNvSpPr/>
          <p:nvPr/>
        </p:nvSpPr>
        <p:spPr>
          <a:xfrm>
            <a:off x="2350008" y="3730752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 TC+"/>
          <p:cNvSpPr txBox="1"/>
          <p:nvPr/>
        </p:nvSpPr>
        <p:spPr>
          <a:xfrm>
            <a:off x="2363724" y="3744468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TC+</a:t>
            </a:r>
          </a:p>
        </p:txBody>
      </p:sp>
      <p:sp>
        <p:nvSpPr>
          <p:cNvPr id="42" name="PORT 6+"/>
          <p:cNvSpPr/>
          <p:nvPr/>
        </p:nvSpPr>
        <p:spPr>
          <a:xfrm>
            <a:off x="3319272" y="3730752"/>
            <a:ext cx="55778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 6+"/>
          <p:cNvSpPr txBox="1"/>
          <p:nvPr/>
        </p:nvSpPr>
        <p:spPr>
          <a:xfrm>
            <a:off x="3332988" y="3744468"/>
            <a:ext cx="53035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6+</a:t>
            </a:r>
          </a:p>
        </p:txBody>
      </p:sp>
      <p:cxnSp>
        <p:nvCxnSpPr>
          <p:cNvPr id="44" name="PROPOSED WIRE pulse"/>
          <p:cNvCxnSpPr/>
          <p:nvPr/>
        </p:nvCxnSpPr>
        <p:spPr>
          <a:xfrm>
            <a:off x="2935224" y="3913632"/>
            <a:ext cx="384048" cy="0"/>
          </a:xfrm>
          <a:prstGeom prst="line">
            <a:avLst/>
          </a:prstGeom>
          <a:ln w="27305">
            <a:solidFill>
              <a:srgbClr val="674E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PORT TC−"/>
          <p:cNvSpPr/>
          <p:nvPr/>
        </p:nvSpPr>
        <p:spPr>
          <a:xfrm>
            <a:off x="2350008" y="4443983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 TC−"/>
          <p:cNvSpPr txBox="1"/>
          <p:nvPr/>
        </p:nvSpPr>
        <p:spPr>
          <a:xfrm>
            <a:off x="2363724" y="4457699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TC−</a:t>
            </a:r>
          </a:p>
        </p:txBody>
      </p:sp>
      <p:sp>
        <p:nvSpPr>
          <p:cNvPr id="47" name="PORT 5−"/>
          <p:cNvSpPr/>
          <p:nvPr/>
        </p:nvSpPr>
        <p:spPr>
          <a:xfrm>
            <a:off x="3319272" y="4443983"/>
            <a:ext cx="55778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 5−"/>
          <p:cNvSpPr txBox="1"/>
          <p:nvPr/>
        </p:nvSpPr>
        <p:spPr>
          <a:xfrm>
            <a:off x="3332988" y="4457699"/>
            <a:ext cx="53035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5−</a:t>
            </a:r>
          </a:p>
        </p:txBody>
      </p:sp>
      <p:cxnSp>
        <p:nvCxnSpPr>
          <p:cNvPr id="49" name="PROPOSED WIRE pulse"/>
          <p:cNvCxnSpPr/>
          <p:nvPr/>
        </p:nvCxnSpPr>
        <p:spPr>
          <a:xfrm>
            <a:off x="2935224" y="4626864"/>
            <a:ext cx="384048" cy="0"/>
          </a:xfrm>
          <a:prstGeom prst="line">
            <a:avLst/>
          </a:prstGeom>
          <a:ln w="27305">
            <a:solidFill>
              <a:srgbClr val="674E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PORT 1+"/>
          <p:cNvSpPr/>
          <p:nvPr/>
        </p:nvSpPr>
        <p:spPr>
          <a:xfrm>
            <a:off x="5641848" y="3639311"/>
            <a:ext cx="54864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 1+"/>
          <p:cNvSpPr txBox="1"/>
          <p:nvPr/>
        </p:nvSpPr>
        <p:spPr>
          <a:xfrm>
            <a:off x="5655564" y="3653027"/>
            <a:ext cx="52120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1+</a:t>
            </a:r>
          </a:p>
        </p:txBody>
      </p:sp>
      <p:sp>
        <p:nvSpPr>
          <p:cNvPr id="52" name="PORT A1"/>
          <p:cNvSpPr/>
          <p:nvPr/>
        </p:nvSpPr>
        <p:spPr>
          <a:xfrm>
            <a:off x="6473952" y="3639311"/>
            <a:ext cx="54864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 A1"/>
          <p:cNvSpPr txBox="1"/>
          <p:nvPr/>
        </p:nvSpPr>
        <p:spPr>
          <a:xfrm>
            <a:off x="6487668" y="3653027"/>
            <a:ext cx="52120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A1</a:t>
            </a:r>
          </a:p>
        </p:txBody>
      </p:sp>
      <p:cxnSp>
        <p:nvCxnSpPr>
          <p:cNvPr id="54" name="PROPOSED WIRE pulse"/>
          <p:cNvCxnSpPr/>
          <p:nvPr/>
        </p:nvCxnSpPr>
        <p:spPr>
          <a:xfrm>
            <a:off x="6190488" y="3822191"/>
            <a:ext cx="283464" cy="0"/>
          </a:xfrm>
          <a:prstGeom prst="line">
            <a:avLst/>
          </a:prstGeom>
          <a:ln w="27305">
            <a:solidFill>
              <a:srgbClr val="674E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PORT 2−"/>
          <p:cNvSpPr/>
          <p:nvPr/>
        </p:nvSpPr>
        <p:spPr>
          <a:xfrm>
            <a:off x="5641848" y="4471416"/>
            <a:ext cx="54864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 2−"/>
          <p:cNvSpPr txBox="1"/>
          <p:nvPr/>
        </p:nvSpPr>
        <p:spPr>
          <a:xfrm>
            <a:off x="5655564" y="4485131"/>
            <a:ext cx="52120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2−</a:t>
            </a:r>
          </a:p>
        </p:txBody>
      </p:sp>
      <p:sp>
        <p:nvSpPr>
          <p:cNvPr id="57" name="PORT A2"/>
          <p:cNvSpPr/>
          <p:nvPr/>
        </p:nvSpPr>
        <p:spPr>
          <a:xfrm>
            <a:off x="6473952" y="4471416"/>
            <a:ext cx="54864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 A2"/>
          <p:cNvSpPr txBox="1"/>
          <p:nvPr/>
        </p:nvSpPr>
        <p:spPr>
          <a:xfrm>
            <a:off x="6487668" y="4485131"/>
            <a:ext cx="52120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A2</a:t>
            </a:r>
          </a:p>
        </p:txBody>
      </p:sp>
      <p:cxnSp>
        <p:nvCxnSpPr>
          <p:cNvPr id="59" name="PROPOSED WIRE pulse"/>
          <p:cNvCxnSpPr/>
          <p:nvPr/>
        </p:nvCxnSpPr>
        <p:spPr>
          <a:xfrm>
            <a:off x="6190488" y="4654296"/>
            <a:ext cx="283464" cy="0"/>
          </a:xfrm>
          <a:prstGeom prst="line">
            <a:avLst/>
          </a:prstGeom>
          <a:ln w="27305">
            <a:solidFill>
              <a:srgbClr val="674E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PORT +24"/>
          <p:cNvSpPr/>
          <p:nvPr/>
        </p:nvSpPr>
        <p:spPr>
          <a:xfrm>
            <a:off x="2313432" y="2112263"/>
            <a:ext cx="55778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 +24"/>
          <p:cNvSpPr txBox="1"/>
          <p:nvPr/>
        </p:nvSpPr>
        <p:spPr>
          <a:xfrm>
            <a:off x="2327148" y="2125979"/>
            <a:ext cx="685800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869" b="1">
                <a:solidFill>
                  <a:srgbClr val="008192"/>
                </a:solidFill>
                <a:latin typeface="Aptos"/>
              </a:rPr>
              <a:t>EN2</a:t>
            </a:r>
          </a:p>
        </p:txBody>
      </p:sp>
      <p:cxnSp>
        <p:nvCxnSpPr>
          <p:cNvPr id="62" name="PROPOSED WIRE v24"/>
          <p:cNvCxnSpPr/>
          <p:nvPr/>
        </p:nvCxnSpPr>
        <p:spPr>
          <a:xfrm>
            <a:off x="2871216" y="2295144"/>
            <a:ext cx="137160" cy="0"/>
          </a:xfrm>
          <a:prstGeom prst="line">
            <a:avLst/>
          </a:prstGeom>
          <a:ln w="2730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PROPOSED WIRE v24"/>
          <p:cNvCxnSpPr/>
          <p:nvPr/>
        </p:nvCxnSpPr>
        <p:spPr>
          <a:xfrm flipV="1">
            <a:off x="3008376" y="1847088"/>
            <a:ext cx="0" cy="448056"/>
          </a:xfrm>
          <a:prstGeom prst="line">
            <a:avLst/>
          </a:prstGeom>
          <a:ln w="2730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PROPOSED WIRE v24"/>
          <p:cNvCxnSpPr/>
          <p:nvPr/>
        </p:nvCxnSpPr>
        <p:spPr>
          <a:xfrm>
            <a:off x="3008376" y="1847088"/>
            <a:ext cx="7260336" cy="0"/>
          </a:xfrm>
          <a:prstGeom prst="line">
            <a:avLst/>
          </a:prstGeom>
          <a:ln w="2730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PROPOSED WIRE v24"/>
          <p:cNvCxnSpPr/>
          <p:nvPr/>
        </p:nvCxnSpPr>
        <p:spPr>
          <a:xfrm>
            <a:off x="10268712" y="1847088"/>
            <a:ext cx="0" cy="4453128"/>
          </a:xfrm>
          <a:prstGeom prst="line">
            <a:avLst/>
          </a:prstGeom>
          <a:ln w="2730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PORT +3"/>
          <p:cNvSpPr/>
          <p:nvPr/>
        </p:nvSpPr>
        <p:spPr>
          <a:xfrm>
            <a:off x="10616184" y="2798063"/>
            <a:ext cx="55778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 +3"/>
          <p:cNvSpPr txBox="1"/>
          <p:nvPr/>
        </p:nvSpPr>
        <p:spPr>
          <a:xfrm>
            <a:off x="10424160" y="2811779"/>
            <a:ext cx="749808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850" b="1">
                <a:solidFill>
                  <a:srgbClr val="008192"/>
                </a:solidFill>
                <a:latin typeface="Aptos"/>
              </a:rPr>
              <a:t>A1/+3</a:t>
            </a:r>
          </a:p>
        </p:txBody>
      </p:sp>
      <p:sp>
        <p:nvSpPr>
          <p:cNvPr id="68" name="PORT LED+"/>
          <p:cNvSpPr/>
          <p:nvPr/>
        </p:nvSpPr>
        <p:spPr>
          <a:xfrm>
            <a:off x="10616184" y="6117336"/>
            <a:ext cx="64008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 LED+"/>
          <p:cNvSpPr txBox="1"/>
          <p:nvPr/>
        </p:nvSpPr>
        <p:spPr>
          <a:xfrm>
            <a:off x="10629900" y="6131051"/>
            <a:ext cx="61264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LED+</a:t>
            </a:r>
          </a:p>
        </p:txBody>
      </p:sp>
      <p:cxnSp>
        <p:nvCxnSpPr>
          <p:cNvPr id="70" name="PROPOSED WIRE v24"/>
          <p:cNvCxnSpPr/>
          <p:nvPr/>
        </p:nvCxnSpPr>
        <p:spPr>
          <a:xfrm>
            <a:off x="10268712" y="2980944"/>
            <a:ext cx="347472" cy="0"/>
          </a:xfrm>
          <a:prstGeom prst="line">
            <a:avLst/>
          </a:prstGeom>
          <a:ln w="2730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PROPOSED WIRE v24"/>
          <p:cNvCxnSpPr/>
          <p:nvPr/>
        </p:nvCxnSpPr>
        <p:spPr>
          <a:xfrm>
            <a:off x="10268712" y="6300216"/>
            <a:ext cx="347472" cy="0"/>
          </a:xfrm>
          <a:prstGeom prst="line">
            <a:avLst/>
          </a:prstGeom>
          <a:ln w="2730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ELECTRICAL JUNCTION"/>
          <p:cNvSpPr/>
          <p:nvPr/>
        </p:nvSpPr>
        <p:spPr>
          <a:xfrm>
            <a:off x="10235793" y="2948025"/>
            <a:ext cx="65836" cy="65836"/>
          </a:xfrm>
          <a:prstGeom prst="rect">
            <a:avLst/>
          </a:prstGeom>
          <a:solidFill>
            <a:srgbClr val="008192"/>
          </a:solidFill>
          <a:ln w="127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PORT −4"/>
          <p:cNvSpPr/>
          <p:nvPr/>
        </p:nvSpPr>
        <p:spPr>
          <a:xfrm>
            <a:off x="13048488" y="3273551"/>
            <a:ext cx="566928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 −4"/>
          <p:cNvSpPr txBox="1"/>
          <p:nvPr/>
        </p:nvSpPr>
        <p:spPr>
          <a:xfrm>
            <a:off x="13011912" y="3287268"/>
            <a:ext cx="75895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850" b="1">
                <a:solidFill>
                  <a:srgbClr val="607184"/>
                </a:solidFill>
                <a:latin typeface="Aptos"/>
              </a:rPr>
              <a:t>A2/−4</a:t>
            </a:r>
          </a:p>
        </p:txBody>
      </p:sp>
      <p:sp>
        <p:nvSpPr>
          <p:cNvPr id="75" name="PORT LED−"/>
          <p:cNvSpPr/>
          <p:nvPr/>
        </p:nvSpPr>
        <p:spPr>
          <a:xfrm>
            <a:off x="12975336" y="6729983"/>
            <a:ext cx="64008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 LED−"/>
          <p:cNvSpPr txBox="1"/>
          <p:nvPr/>
        </p:nvSpPr>
        <p:spPr>
          <a:xfrm>
            <a:off x="12989052" y="6743699"/>
            <a:ext cx="61264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LED−</a:t>
            </a:r>
          </a:p>
        </p:txBody>
      </p:sp>
      <p:sp>
        <p:nvSpPr>
          <p:cNvPr id="77" name="PORT 13+"/>
          <p:cNvSpPr/>
          <p:nvPr/>
        </p:nvSpPr>
        <p:spPr>
          <a:xfrm>
            <a:off x="8385048" y="4800600"/>
            <a:ext cx="612648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 13+"/>
          <p:cNvSpPr txBox="1"/>
          <p:nvPr/>
        </p:nvSpPr>
        <p:spPr>
          <a:xfrm>
            <a:off x="8398764" y="4814316"/>
            <a:ext cx="585216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13+</a:t>
            </a:r>
          </a:p>
        </p:txBody>
      </p:sp>
      <p:cxnSp>
        <p:nvCxnSpPr>
          <p:cNvPr id="79" name="PROPOSED WIRE return"/>
          <p:cNvCxnSpPr/>
          <p:nvPr/>
        </p:nvCxnSpPr>
        <p:spPr>
          <a:xfrm>
            <a:off x="13615416" y="3456432"/>
            <a:ext cx="192024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PROPOSED WIRE return"/>
          <p:cNvCxnSpPr/>
          <p:nvPr/>
        </p:nvCxnSpPr>
        <p:spPr>
          <a:xfrm>
            <a:off x="13807440" y="3456432"/>
            <a:ext cx="0" cy="4700016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PROPOSED WIRE return"/>
          <p:cNvCxnSpPr/>
          <p:nvPr/>
        </p:nvCxnSpPr>
        <p:spPr>
          <a:xfrm flipH="1">
            <a:off x="9253728" y="8156448"/>
            <a:ext cx="4553712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PROPOSED WIRE return"/>
          <p:cNvCxnSpPr/>
          <p:nvPr/>
        </p:nvCxnSpPr>
        <p:spPr>
          <a:xfrm flipV="1">
            <a:off x="9253728" y="4983480"/>
            <a:ext cx="0" cy="3172968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PROPOSED WIRE return"/>
          <p:cNvCxnSpPr/>
          <p:nvPr/>
        </p:nvCxnSpPr>
        <p:spPr>
          <a:xfrm flipH="1">
            <a:off x="8997696" y="4983480"/>
            <a:ext cx="256032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PROPOSED WIRE return"/>
          <p:cNvCxnSpPr/>
          <p:nvPr/>
        </p:nvCxnSpPr>
        <p:spPr>
          <a:xfrm>
            <a:off x="13615416" y="6912864"/>
            <a:ext cx="192024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ELECTRICAL JUNCTION"/>
          <p:cNvSpPr/>
          <p:nvPr/>
        </p:nvSpPr>
        <p:spPr>
          <a:xfrm>
            <a:off x="13774521" y="6879945"/>
            <a:ext cx="65836" cy="65836"/>
          </a:xfrm>
          <a:prstGeom prst="rect">
            <a:avLst/>
          </a:prstGeom>
          <a:solidFill>
            <a:srgbClr val="607184"/>
          </a:solidFill>
          <a:ln w="1270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PORT 14−"/>
          <p:cNvSpPr/>
          <p:nvPr/>
        </p:nvSpPr>
        <p:spPr>
          <a:xfrm>
            <a:off x="8385048" y="5559552"/>
            <a:ext cx="612648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 14−"/>
          <p:cNvSpPr txBox="1"/>
          <p:nvPr/>
        </p:nvSpPr>
        <p:spPr>
          <a:xfrm>
            <a:off x="8398764" y="5573268"/>
            <a:ext cx="585216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14−</a:t>
            </a:r>
          </a:p>
        </p:txBody>
      </p:sp>
      <p:sp>
        <p:nvSpPr>
          <p:cNvPr id="88" name="PORT 0 V"/>
          <p:cNvSpPr/>
          <p:nvPr/>
        </p:nvSpPr>
        <p:spPr>
          <a:xfrm>
            <a:off x="8394192" y="732434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 0 V"/>
          <p:cNvSpPr txBox="1"/>
          <p:nvPr/>
        </p:nvSpPr>
        <p:spPr>
          <a:xfrm>
            <a:off x="8407908" y="733806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0 V</a:t>
            </a:r>
          </a:p>
        </p:txBody>
      </p:sp>
      <p:cxnSp>
        <p:nvCxnSpPr>
          <p:cNvPr id="90" name="PROPOSED WIRE return"/>
          <p:cNvCxnSpPr/>
          <p:nvPr/>
        </p:nvCxnSpPr>
        <p:spPr>
          <a:xfrm>
            <a:off x="8997696" y="5742432"/>
            <a:ext cx="82296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PROPOSED WIRE return"/>
          <p:cNvCxnSpPr/>
          <p:nvPr/>
        </p:nvCxnSpPr>
        <p:spPr>
          <a:xfrm>
            <a:off x="9079992" y="5742432"/>
            <a:ext cx="0" cy="1764792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PROPOSED WIRE return"/>
          <p:cNvCxnSpPr/>
          <p:nvPr/>
        </p:nvCxnSpPr>
        <p:spPr>
          <a:xfrm flipH="1">
            <a:off x="8979408" y="7507224"/>
            <a:ext cx="100584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 W13: switched returns  | "/>
          <p:cNvSpPr txBox="1"/>
          <p:nvPr/>
        </p:nvSpPr>
        <p:spPr>
          <a:xfrm>
            <a:off x="9400032" y="7644383"/>
            <a:ext cx="4809744" cy="22860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50" b="1">
                <a:solidFill>
                  <a:srgbClr val="607084"/>
                </a:solidFill>
                <a:latin typeface="Aptos"/>
              </a:rPr>
              <a:t>X4-DRV2: W2:13(+) / SSR2:A2(−4) / HL2:−     |     W2:14(−) → X2-0V</a:t>
            </a:r>
          </a:p>
        </p:txBody>
      </p:sp>
      <p:sp>
        <p:nvSpPr>
          <p:cNvPr id="94" name="TEXT Lamp follows heater deman"/>
          <p:cNvSpPr txBox="1"/>
          <p:nvPr/>
        </p:nvSpPr>
        <p:spPr>
          <a:xfrm>
            <a:off x="832104" y="5513832"/>
            <a:ext cx="2395728" cy="6858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40" b="0">
                <a:solidFill>
                  <a:srgbClr val="1F344E"/>
                </a:solidFill>
                <a:latin typeface="Aptos"/>
              </a:rPr>
              <a:t>LED+ is supplied from Finder K2:14 (EN2). LED− is switched by W2.</a:t>
            </a:r>
          </a:p>
        </p:txBody>
      </p:sp>
      <p:sp>
        <p:nvSpPr>
          <p:cNvPr id="95" name="TEXT Electrical check: SSR inp"/>
          <p:cNvSpPr txBox="1"/>
          <p:nvPr/>
        </p:nvSpPr>
        <p:spPr>
          <a:xfrm>
            <a:off x="850392" y="7973568"/>
            <a:ext cx="5852160" cy="32004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880" b="0">
                <a:solidFill>
                  <a:srgbClr val="A35B1B"/>
                </a:solidFill>
                <a:latin typeface="Aptos"/>
              </a:rPr>
              <a:t>W2 output: 100 mA maximum. SSR input plus 24 V activity lamp: up to 35 mA; use one conductor per PTFIX port.</a:t>
            </a:r>
          </a:p>
        </p:txBody>
      </p:sp>
      <p:sp>
        <p:nvSpPr>
          <p:cNvPr id="96" name="KEY"/>
          <p:cNvSpPr/>
          <p:nvPr/>
        </p:nvSpPr>
        <p:spPr>
          <a:xfrm>
            <a:off x="11155680" y="640080"/>
            <a:ext cx="320040" cy="27432"/>
          </a:xfrm>
          <a:prstGeom prst="rect">
            <a:avLst/>
          </a:prstGeom>
          <a:solidFill>
            <a:srgbClr val="674EA3"/>
          </a:solidFill>
          <a:ln w="1270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 TC / 12 V demand"/>
          <p:cNvSpPr txBox="1"/>
          <p:nvPr/>
        </p:nvSpPr>
        <p:spPr>
          <a:xfrm>
            <a:off x="11548872" y="539496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TC / 12 V demand</a:t>
            </a:r>
          </a:p>
        </p:txBody>
      </p:sp>
      <p:sp>
        <p:nvSpPr>
          <p:cNvPr id="98" name="KEY"/>
          <p:cNvSpPr/>
          <p:nvPr/>
        </p:nvSpPr>
        <p:spPr>
          <a:xfrm>
            <a:off x="11155680" y="941832"/>
            <a:ext cx="320040" cy="27432"/>
          </a:xfrm>
          <a:prstGeom prst="rect">
            <a:avLst/>
          </a:prstGeom>
          <a:solidFill>
            <a:srgbClr val="008192"/>
          </a:solidFill>
          <a:ln w="127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 24 V to both loads"/>
          <p:cNvSpPr txBox="1"/>
          <p:nvPr/>
        </p:nvSpPr>
        <p:spPr>
          <a:xfrm>
            <a:off x="11548872" y="841248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50" b="1">
                <a:solidFill>
                  <a:srgbClr val="607084"/>
                </a:solidFill>
                <a:latin typeface="Aptos"/>
              </a:rPr>
              <a:t>EN2 from Finder K2:14</a:t>
            </a:r>
          </a:p>
        </p:txBody>
      </p:sp>
      <p:sp>
        <p:nvSpPr>
          <p:cNvPr id="100" name="KEY"/>
          <p:cNvSpPr/>
          <p:nvPr/>
        </p:nvSpPr>
        <p:spPr>
          <a:xfrm>
            <a:off x="11155680" y="1243584"/>
            <a:ext cx="320040" cy="27432"/>
          </a:xfrm>
          <a:prstGeom prst="rect">
            <a:avLst/>
          </a:prstGeom>
          <a:solidFill>
            <a:srgbClr val="607184"/>
          </a:solidFill>
          <a:ln w="1270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 Switched return"/>
          <p:cNvSpPr txBox="1"/>
          <p:nvPr/>
        </p:nvSpPr>
        <p:spPr>
          <a:xfrm>
            <a:off x="11548872" y="1142999"/>
            <a:ext cx="2962656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25" b="1">
                <a:solidFill>
                  <a:srgbClr val="607084"/>
                </a:solidFill>
                <a:latin typeface="Aptos"/>
              </a:rPr>
              <a:t>SSR2:A2 + HL2:− → X4-DRV2 → W2:13; W2:14 → X2-0V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41248" y="6583680"/>
            <a:ext cx="5760720" cy="960120"/>
          </a:xfrm>
          <a:prstGeom prst="roundRect">
            <a:avLst/>
          </a:prstGeom>
          <a:solidFill>
            <a:srgbClr val="F8F8F6"/>
          </a:solidFill>
          <a:ln w="8890">
            <a:solidFill>
              <a:srgbClr val="B4C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60120" y="6702552"/>
            <a:ext cx="5458968" cy="24688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0">
                <a:solidFill>
                  <a:srgbClr val="9A5E23"/>
                </a:solidFill>
                <a:latin typeface="Aptos"/>
              </a:defRPr>
            </a:pPr>
            <a:r>
              <a:t>POSITIVE SUPPLY: FINDER K2:14 (EN2)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60120" y="6995160"/>
            <a:ext cx="5458968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C5981"/>
                </a:solidFill>
                <a:latin typeface="Aptos"/>
              </a:defRPr>
            </a:pPr>
            <a:r>
              <a:t>FINDER K2:14 → X4-EN2 → HL2:+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60120" y="7260336"/>
            <a:ext cx="5458968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00" b="0">
                <a:solidFill>
                  <a:srgbClr val="64788A"/>
                </a:solidFill>
                <a:latin typeface="Aptos"/>
              </a:defRPr>
            </a:pPr>
            <a:r>
              <a:t>EN1/EN2 are the switched outputs of Finder K1/K2 terminal 14.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7  /  CHANNEL 1 / COMPLE"/>
          <p:cNvSpPr txBox="1"/>
          <p:nvPr/>
        </p:nvSpPr>
        <p:spPr>
          <a:xfrm>
            <a:off x="566928" y="320040"/>
            <a:ext cx="13917168" cy="44805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2200" b="1">
                <a:solidFill>
                  <a:srgbClr val="1F344E"/>
                </a:solidFill>
                <a:latin typeface="Aptos"/>
              </a:rPr>
              <a:t>10  /  CHANNEL 1 / COMPLETE DC HEATER POWER LOOP</a:t>
            </a:r>
          </a:p>
        </p:txBody>
      </p:sp>
      <p:sp>
        <p:nvSpPr>
          <p:cNvPr id="3" name="TEXT External 0–60 V DC supply"/>
          <p:cNvSpPr txBox="1"/>
          <p:nvPr/>
        </p:nvSpPr>
        <p:spPr>
          <a:xfrm>
            <a:off x="585216" y="886968"/>
            <a:ext cx="13752576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60" b="0">
                <a:solidFill>
                  <a:srgbClr val="607084"/>
                </a:solidFill>
                <a:latin typeface="Aptos"/>
              </a:rPr>
              <a:t>External 0–60 V DC supply, breaker, polarity-sensitive Finder DC relay, Crydom SSR and direct return.</a:t>
            </a:r>
          </a:p>
        </p:txBody>
      </p:sp>
      <p:sp>
        <p:nvSpPr>
          <p:cNvPr id="4" name="HEADER RULE"/>
          <p:cNvSpPr/>
          <p:nvPr/>
        </p:nvSpPr>
        <p:spPr>
          <a:xfrm>
            <a:off x="566928" y="1325880"/>
            <a:ext cx="13953744" cy="32004"/>
          </a:xfrm>
          <a:prstGeom prst="rect">
            <a:avLst/>
          </a:prstGeom>
          <a:solidFill>
            <a:srgbClr val="1D599B"/>
          </a:solidFill>
          <a:ln w="1270">
            <a:solidFill>
              <a:srgbClr val="1D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INDEPENDENT HEATER SUPPLY"/>
          <p:cNvSpPr txBox="1"/>
          <p:nvPr/>
        </p:nvSpPr>
        <p:spPr>
          <a:xfrm>
            <a:off x="603504" y="1490472"/>
            <a:ext cx="1353312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10" b="1">
                <a:solidFill>
                  <a:srgbClr val="1D599B"/>
                </a:solidFill>
                <a:latin typeface="Aptos"/>
              </a:rPr>
              <a:t>INDEPENDENT HEATER SUPPLY  /  15 A MAX DESIGN</a:t>
            </a:r>
          </a:p>
        </p:txBody>
      </p:sp>
      <p:sp>
        <p:nvSpPr>
          <p:cNvPr id="6" name="ENGINEERING REVIEW NOTE"/>
          <p:cNvSpPr/>
          <p:nvPr/>
        </p:nvSpPr>
        <p:spPr>
          <a:xfrm>
            <a:off x="658368" y="8979408"/>
            <a:ext cx="13533120" cy="566928"/>
          </a:xfrm>
          <a:prstGeom prst="roundRect">
            <a:avLst>
              <a:gd name="adj" fmla="val 5500"/>
            </a:avLst>
          </a:prstGeom>
          <a:solidFill>
            <a:srgbClr val="FFF7E9"/>
          </a:solidFill>
          <a:ln w="9525">
            <a:solidFill>
              <a:srgbClr val="DAB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 DESIGN REVIEW ONLY  |  Te"/>
          <p:cNvSpPr txBox="1"/>
          <p:nvPr/>
        </p:nvSpPr>
        <p:spPr>
          <a:xfrm>
            <a:off x="822960" y="9079992"/>
            <a:ext cx="13167360" cy="31089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5" b="1">
                <a:solidFill>
                  <a:srgbClr val="A35B1B"/>
                </a:solidFill>
                <a:latin typeface="Aptos"/>
              </a:rPr>
              <a:t>REFERENCE WIRING   /   230 V AC CONTROL SUPPLY  •  24 V DC CONTROLS  •  0–60 V DC HEATER CIRCUITS</a:t>
            </a:r>
          </a:p>
        </p:txBody>
      </p:sp>
      <p:sp>
        <p:nvSpPr>
          <p:cNvPr id="8" name="TEXT HEATING RATE CONTROLLER  "/>
          <p:cNvSpPr txBox="1"/>
          <p:nvPr/>
        </p:nvSpPr>
        <p:spPr>
          <a:xfrm>
            <a:off x="649224" y="9820656"/>
            <a:ext cx="117043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HEATING RATE CONTROLLER   /   REFERENCE ELECTRICAL WIRING   /   R1.2  ·  26 OCT 2026</a:t>
            </a:r>
          </a:p>
        </p:txBody>
      </p:sp>
      <p:sp>
        <p:nvSpPr>
          <p:cNvPr id="9" name="TEXT SHEET 07"/>
          <p:cNvSpPr txBox="1"/>
          <p:nvPr/>
        </p:nvSpPr>
        <p:spPr>
          <a:xfrm>
            <a:off x="12984480" y="9820656"/>
            <a:ext cx="11887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r"/>
            <a:r>
              <a:rPr sz="860" b="1">
                <a:solidFill>
                  <a:srgbClr val="607084"/>
                </a:solidFill>
                <a:latin typeface="Aptos"/>
              </a:rPr>
              <a:t>SHEET 10 / 14</a:t>
            </a:r>
          </a:p>
        </p:txBody>
      </p:sp>
      <p:sp>
        <p:nvSpPr>
          <p:cNvPr id="10" name="TEXT Finder contact 34 (+) → 1"/>
          <p:cNvSpPr txBox="1"/>
          <p:nvPr/>
        </p:nvSpPr>
        <p:spPr>
          <a:xfrm>
            <a:off x="667512" y="9537192"/>
            <a:ext cx="13560552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90" b="0">
                <a:solidFill>
                  <a:srgbClr val="607084"/>
                </a:solidFill>
                <a:latin typeface="Aptos"/>
              </a:rPr>
              <a:t>Finder 62.31 34(+)→14(−) and Crydom load +1→−2 are in SWITCHED DC+; neither terminal is DC−.</a:t>
            </a:r>
          </a:p>
        </p:txBody>
      </p:sp>
      <p:sp>
        <p:nvSpPr>
          <p:cNvPr id="11" name="COMPONENT JP1-IN  DC SUPPLY"/>
          <p:cNvSpPr/>
          <p:nvPr/>
        </p:nvSpPr>
        <p:spPr>
          <a:xfrm>
            <a:off x="640080" y="2505456"/>
            <a:ext cx="2121408" cy="301752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 JP1-IN  DC SUPPLY"/>
          <p:cNvSpPr txBox="1"/>
          <p:nvPr/>
        </p:nvSpPr>
        <p:spPr>
          <a:xfrm>
            <a:off x="804671" y="2642616"/>
            <a:ext cx="1819655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50" b="1">
                <a:solidFill>
                  <a:srgbClr val="1F344E"/>
                </a:solidFill>
                <a:latin typeface="Aptos"/>
              </a:rPr>
              <a:t>JP1-IN  DC SUPPLY</a:t>
            </a:r>
          </a:p>
        </p:txBody>
      </p:sp>
      <p:sp>
        <p:nvSpPr>
          <p:cNvPr id="13" name="TEXT 0–60 V / up to 15 A"/>
          <p:cNvSpPr txBox="1"/>
          <p:nvPr/>
        </p:nvSpPr>
        <p:spPr>
          <a:xfrm>
            <a:off x="804671" y="2953512"/>
            <a:ext cx="1819655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0–60 V / up to 15 A</a:t>
            </a:r>
          </a:p>
        </p:txBody>
      </p:sp>
      <p:sp>
        <p:nvSpPr>
          <p:cNvPr id="14" name="TEXT Connector &amp; cable TBD"/>
          <p:cNvSpPr txBox="1"/>
          <p:nvPr/>
        </p:nvSpPr>
        <p:spPr>
          <a:xfrm>
            <a:off x="804671" y="3227832"/>
            <a:ext cx="1792224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DC input / cable sized for 15 A</a:t>
            </a:r>
          </a:p>
        </p:txBody>
      </p:sp>
      <p:sp>
        <p:nvSpPr>
          <p:cNvPr id="15" name="COMPONENT QF1  LOVATO"/>
          <p:cNvSpPr/>
          <p:nvPr/>
        </p:nvSpPr>
        <p:spPr>
          <a:xfrm>
            <a:off x="3282696" y="2505456"/>
            <a:ext cx="1929384" cy="301752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 QF1  LOVATO"/>
          <p:cNvSpPr txBox="1"/>
          <p:nvPr/>
        </p:nvSpPr>
        <p:spPr>
          <a:xfrm>
            <a:off x="3447288" y="2642616"/>
            <a:ext cx="1627631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50" b="1">
                <a:solidFill>
                  <a:srgbClr val="1F344E"/>
                </a:solidFill>
                <a:latin typeface="Aptos"/>
              </a:rPr>
              <a:t>QF1  LOVATO</a:t>
            </a:r>
          </a:p>
        </p:txBody>
      </p:sp>
      <p:sp>
        <p:nvSpPr>
          <p:cNvPr id="17" name="TEXT P1MB1PC16"/>
          <p:cNvSpPr txBox="1"/>
          <p:nvPr/>
        </p:nvSpPr>
        <p:spPr>
          <a:xfrm>
            <a:off x="3447288" y="2953512"/>
            <a:ext cx="1627631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P1MB1PC16</a:t>
            </a:r>
          </a:p>
        </p:txBody>
      </p:sp>
      <p:sp>
        <p:nvSpPr>
          <p:cNvPr id="18" name="TEXT 16 A / 80 V DC MCB"/>
          <p:cNvSpPr txBox="1"/>
          <p:nvPr/>
        </p:nvSpPr>
        <p:spPr>
          <a:xfrm>
            <a:off x="3447288" y="3227832"/>
            <a:ext cx="1600200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16 A / 80 V DC MCB</a:t>
            </a:r>
          </a:p>
        </p:txBody>
      </p:sp>
      <p:sp>
        <p:nvSpPr>
          <p:cNvPr id="19" name="MFR LINK QF1  LOVATO"/>
          <p:cNvSpPr txBox="1"/>
          <p:nvPr/>
        </p:nvSpPr>
        <p:spPr>
          <a:xfrm>
            <a:off x="3447288" y="5212080"/>
            <a:ext cx="1600200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2"/>
              </a:rPr>
              <a:t>Manufacturer datasheet  ↗</a:t>
            </a:r>
          </a:p>
        </p:txBody>
      </p:sp>
      <p:sp>
        <p:nvSpPr>
          <p:cNvPr id="20" name="COMPONENT K3/SK3  62.31"/>
          <p:cNvSpPr/>
          <p:nvPr/>
        </p:nvSpPr>
        <p:spPr>
          <a:xfrm>
            <a:off x="5724144" y="2505456"/>
            <a:ext cx="2286000" cy="3017520"/>
          </a:xfrm>
          <a:prstGeom prst="roundRect">
            <a:avLst>
              <a:gd name="adj" fmla="val 5500"/>
            </a:avLst>
          </a:prstGeom>
          <a:solidFill>
            <a:srgbClr val="EBF6FA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 K3/SK3  62.31"/>
          <p:cNvSpPr txBox="1"/>
          <p:nvPr/>
        </p:nvSpPr>
        <p:spPr>
          <a:xfrm>
            <a:off x="5888736" y="2642616"/>
            <a:ext cx="1984248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50" b="1">
                <a:solidFill>
                  <a:srgbClr val="1F344E"/>
                </a:solidFill>
                <a:latin typeface="Aptos"/>
              </a:rPr>
              <a:t>K3/SK3  62.31</a:t>
            </a:r>
          </a:p>
        </p:txBody>
      </p:sp>
      <p:sp>
        <p:nvSpPr>
          <p:cNvPr id="22" name="TEXT 62.31.9.024.4800"/>
          <p:cNvSpPr txBox="1"/>
          <p:nvPr/>
        </p:nvSpPr>
        <p:spPr>
          <a:xfrm>
            <a:off x="5888736" y="2953512"/>
            <a:ext cx="1984248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62.31.9.024.4800</a:t>
            </a:r>
          </a:p>
        </p:txBody>
      </p:sp>
      <p:sp>
        <p:nvSpPr>
          <p:cNvPr id="23" name="TEXT 92.03-family socket; actu"/>
          <p:cNvSpPr txBox="1"/>
          <p:nvPr/>
        </p:nvSpPr>
        <p:spPr>
          <a:xfrm>
            <a:off x="5888736" y="3227832"/>
            <a:ext cx="1956816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92.03SMA socket for 62.31</a:t>
            </a:r>
          </a:p>
        </p:txBody>
      </p:sp>
      <p:sp>
        <p:nvSpPr>
          <p:cNvPr id="24" name="MFR LINK K3/SK3  62.31"/>
          <p:cNvSpPr txBox="1"/>
          <p:nvPr/>
        </p:nvSpPr>
        <p:spPr>
          <a:xfrm>
            <a:off x="5888736" y="5212080"/>
            <a:ext cx="1956816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3"/>
              </a:rPr>
              <a:t>Manufacturer datasheet  ↗</a:t>
            </a:r>
          </a:p>
        </p:txBody>
      </p:sp>
      <p:sp>
        <p:nvSpPr>
          <p:cNvPr id="25" name="COMPONENT SSR1  CRYDOM"/>
          <p:cNvSpPr/>
          <p:nvPr/>
        </p:nvSpPr>
        <p:spPr>
          <a:xfrm>
            <a:off x="8522208" y="2505456"/>
            <a:ext cx="2167128" cy="3017520"/>
          </a:xfrm>
          <a:prstGeom prst="roundRect">
            <a:avLst>
              <a:gd name="adj" fmla="val 5500"/>
            </a:avLst>
          </a:prstGeom>
          <a:solidFill>
            <a:srgbClr val="EBF6FA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SSR1  CRYDOM"/>
          <p:cNvSpPr txBox="1"/>
          <p:nvPr/>
        </p:nvSpPr>
        <p:spPr>
          <a:xfrm>
            <a:off x="8686800" y="2642616"/>
            <a:ext cx="1865376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50" b="1">
                <a:solidFill>
                  <a:srgbClr val="1F344E"/>
                </a:solidFill>
                <a:latin typeface="Aptos"/>
              </a:rPr>
              <a:t>SSR1  CRYDOM</a:t>
            </a:r>
          </a:p>
        </p:txBody>
      </p:sp>
      <p:sp>
        <p:nvSpPr>
          <p:cNvPr id="27" name="TEXT DR2220D30U"/>
          <p:cNvSpPr txBox="1"/>
          <p:nvPr/>
        </p:nvSpPr>
        <p:spPr>
          <a:xfrm>
            <a:off x="8686800" y="2953512"/>
            <a:ext cx="1865376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DR2220D30U</a:t>
            </a:r>
          </a:p>
        </p:txBody>
      </p:sp>
      <p:sp>
        <p:nvSpPr>
          <p:cNvPr id="28" name="TEXT Solid-state DC switch"/>
          <p:cNvSpPr txBox="1"/>
          <p:nvPr/>
        </p:nvSpPr>
        <p:spPr>
          <a:xfrm>
            <a:off x="8686800" y="3227832"/>
            <a:ext cx="1837944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Solid-state DC switch</a:t>
            </a:r>
          </a:p>
        </p:txBody>
      </p:sp>
      <p:sp>
        <p:nvSpPr>
          <p:cNvPr id="29" name="MFR LINK SSR1  CRYDOM"/>
          <p:cNvSpPr txBox="1"/>
          <p:nvPr/>
        </p:nvSpPr>
        <p:spPr>
          <a:xfrm>
            <a:off x="8686800" y="5212080"/>
            <a:ext cx="1837944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4"/>
              </a:rPr>
              <a:t>Manufacturer datasheet  ↗</a:t>
            </a:r>
          </a:p>
        </p:txBody>
      </p:sp>
      <p:sp>
        <p:nvSpPr>
          <p:cNvPr id="30" name="COMPONENT JP1-OUT  HEATER"/>
          <p:cNvSpPr/>
          <p:nvPr/>
        </p:nvSpPr>
        <p:spPr>
          <a:xfrm>
            <a:off x="11219688" y="2505456"/>
            <a:ext cx="2697480" cy="301752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 JP1-OUT  HEATER"/>
          <p:cNvSpPr txBox="1"/>
          <p:nvPr/>
        </p:nvSpPr>
        <p:spPr>
          <a:xfrm>
            <a:off x="11384280" y="2642616"/>
            <a:ext cx="2395728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90" b="1">
                <a:solidFill>
                  <a:srgbClr val="1F344E"/>
                </a:solidFill>
                <a:latin typeface="Aptos"/>
              </a:rPr>
              <a:t>JP1-OUT  HEATER</a:t>
            </a:r>
          </a:p>
        </p:txBody>
      </p:sp>
      <p:sp>
        <p:nvSpPr>
          <p:cNvPr id="32" name="TEXT External resistive load"/>
          <p:cNvSpPr txBox="1"/>
          <p:nvPr/>
        </p:nvSpPr>
        <p:spPr>
          <a:xfrm>
            <a:off x="11384280" y="2953512"/>
            <a:ext cx="2395728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External resistive load</a:t>
            </a:r>
          </a:p>
        </p:txBody>
      </p:sp>
      <p:sp>
        <p:nvSpPr>
          <p:cNvPr id="33" name="TEXT Connector &amp; cable TBD"/>
          <p:cNvSpPr txBox="1"/>
          <p:nvPr/>
        </p:nvSpPr>
        <p:spPr>
          <a:xfrm>
            <a:off x="11384280" y="3227832"/>
            <a:ext cx="2368296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DC heater output / 15 A-rated cable</a:t>
            </a:r>
          </a:p>
        </p:txBody>
      </p:sp>
      <p:sp>
        <p:nvSpPr>
          <p:cNvPr id="34" name="PORT DC+"/>
          <p:cNvSpPr/>
          <p:nvPr/>
        </p:nvSpPr>
        <p:spPr>
          <a:xfrm>
            <a:off x="2304288" y="403250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 DC+"/>
          <p:cNvSpPr txBox="1"/>
          <p:nvPr/>
        </p:nvSpPr>
        <p:spPr>
          <a:xfrm>
            <a:off x="2318004" y="40462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B23E4C"/>
                </a:solidFill>
                <a:latin typeface="Aptos"/>
              </a:rPr>
              <a:t>DC+</a:t>
            </a:r>
          </a:p>
        </p:txBody>
      </p:sp>
      <p:sp>
        <p:nvSpPr>
          <p:cNvPr id="36" name="PORT 1"/>
          <p:cNvSpPr/>
          <p:nvPr/>
        </p:nvSpPr>
        <p:spPr>
          <a:xfrm>
            <a:off x="3154679" y="403250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 1"/>
          <p:cNvSpPr txBox="1"/>
          <p:nvPr/>
        </p:nvSpPr>
        <p:spPr>
          <a:xfrm>
            <a:off x="3168396" y="40462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B23E4C"/>
                </a:solidFill>
                <a:latin typeface="Aptos"/>
              </a:rPr>
              <a:t>1</a:t>
            </a:r>
          </a:p>
        </p:txBody>
      </p:sp>
      <p:cxnSp>
        <p:nvCxnSpPr>
          <p:cNvPr id="38" name="PROPOSED WIRE P1-01"/>
          <p:cNvCxnSpPr/>
          <p:nvPr/>
        </p:nvCxnSpPr>
        <p:spPr>
          <a:xfrm>
            <a:off x="2889504" y="4215384"/>
            <a:ext cx="265175" cy="0"/>
          </a:xfrm>
          <a:prstGeom prst="line">
            <a:avLst/>
          </a:prstGeom>
          <a:ln w="3429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 P1-01"/>
          <p:cNvSpPr txBox="1"/>
          <p:nvPr/>
        </p:nvSpPr>
        <p:spPr>
          <a:xfrm>
            <a:off x="2820923" y="3831336"/>
            <a:ext cx="402336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770" b="1">
                <a:solidFill>
                  <a:srgbClr val="B23E4C"/>
                </a:solidFill>
                <a:latin typeface="Aptos"/>
              </a:rPr>
              <a:t>P1-01</a:t>
            </a:r>
          </a:p>
        </p:txBody>
      </p:sp>
      <p:sp>
        <p:nvSpPr>
          <p:cNvPr id="40" name="PORT 2"/>
          <p:cNvSpPr/>
          <p:nvPr/>
        </p:nvSpPr>
        <p:spPr>
          <a:xfrm>
            <a:off x="4754880" y="403250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 2"/>
          <p:cNvSpPr txBox="1"/>
          <p:nvPr/>
        </p:nvSpPr>
        <p:spPr>
          <a:xfrm>
            <a:off x="4768596" y="40462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B23E4C"/>
                </a:solidFill>
                <a:latin typeface="Aptos"/>
              </a:rPr>
              <a:t>2</a:t>
            </a:r>
          </a:p>
        </p:txBody>
      </p:sp>
      <p:sp>
        <p:nvSpPr>
          <p:cNvPr id="42" name="PORT 34+"/>
          <p:cNvSpPr/>
          <p:nvPr/>
        </p:nvSpPr>
        <p:spPr>
          <a:xfrm>
            <a:off x="5596128" y="403250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 34+"/>
          <p:cNvSpPr txBox="1"/>
          <p:nvPr/>
        </p:nvSpPr>
        <p:spPr>
          <a:xfrm>
            <a:off x="5609844" y="40462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B23E4C"/>
                </a:solidFill>
                <a:latin typeface="Aptos"/>
              </a:rPr>
              <a:t>34+</a:t>
            </a:r>
          </a:p>
        </p:txBody>
      </p:sp>
      <p:cxnSp>
        <p:nvCxnSpPr>
          <p:cNvPr id="44" name="PROPOSED WIRE P1-02"/>
          <p:cNvCxnSpPr/>
          <p:nvPr/>
        </p:nvCxnSpPr>
        <p:spPr>
          <a:xfrm>
            <a:off x="5340096" y="4215384"/>
            <a:ext cx="256032" cy="0"/>
          </a:xfrm>
          <a:prstGeom prst="line">
            <a:avLst/>
          </a:prstGeom>
          <a:ln w="3429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 P1-02"/>
          <p:cNvSpPr txBox="1"/>
          <p:nvPr/>
        </p:nvSpPr>
        <p:spPr>
          <a:xfrm>
            <a:off x="5266944" y="3831336"/>
            <a:ext cx="402336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770" b="1">
                <a:solidFill>
                  <a:srgbClr val="B23E4C"/>
                </a:solidFill>
                <a:latin typeface="Aptos"/>
              </a:rPr>
              <a:t>P1-02</a:t>
            </a:r>
          </a:p>
        </p:txBody>
      </p:sp>
      <p:sp>
        <p:nvSpPr>
          <p:cNvPr id="46" name="PORT 14−"/>
          <p:cNvSpPr/>
          <p:nvPr/>
        </p:nvSpPr>
        <p:spPr>
          <a:xfrm>
            <a:off x="7552944" y="403250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 14−"/>
          <p:cNvSpPr txBox="1"/>
          <p:nvPr/>
        </p:nvSpPr>
        <p:spPr>
          <a:xfrm>
            <a:off x="7566660" y="40462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B23E4C"/>
                </a:solidFill>
                <a:latin typeface="Aptos"/>
              </a:rPr>
              <a:t>14−</a:t>
            </a:r>
          </a:p>
        </p:txBody>
      </p:sp>
      <p:sp>
        <p:nvSpPr>
          <p:cNvPr id="48" name="PORT +1"/>
          <p:cNvSpPr/>
          <p:nvPr/>
        </p:nvSpPr>
        <p:spPr>
          <a:xfrm>
            <a:off x="8394192" y="403250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 +1"/>
          <p:cNvSpPr txBox="1"/>
          <p:nvPr/>
        </p:nvSpPr>
        <p:spPr>
          <a:xfrm>
            <a:off x="8407908" y="40462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B23E4C"/>
                </a:solidFill>
                <a:latin typeface="Aptos"/>
              </a:rPr>
              <a:t>+1</a:t>
            </a:r>
          </a:p>
        </p:txBody>
      </p:sp>
      <p:cxnSp>
        <p:nvCxnSpPr>
          <p:cNvPr id="50" name="PROPOSED WIRE P1-03"/>
          <p:cNvCxnSpPr/>
          <p:nvPr/>
        </p:nvCxnSpPr>
        <p:spPr>
          <a:xfrm>
            <a:off x="8138160" y="4215384"/>
            <a:ext cx="256032" cy="0"/>
          </a:xfrm>
          <a:prstGeom prst="line">
            <a:avLst/>
          </a:prstGeom>
          <a:ln w="3429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 P1-03"/>
          <p:cNvSpPr txBox="1"/>
          <p:nvPr/>
        </p:nvSpPr>
        <p:spPr>
          <a:xfrm>
            <a:off x="8065007" y="3831336"/>
            <a:ext cx="402336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770" b="1">
                <a:solidFill>
                  <a:srgbClr val="B23E4C"/>
                </a:solidFill>
                <a:latin typeface="Aptos"/>
              </a:rPr>
              <a:t>P1-03</a:t>
            </a:r>
          </a:p>
        </p:txBody>
      </p:sp>
      <p:sp>
        <p:nvSpPr>
          <p:cNvPr id="52" name="PORT −2"/>
          <p:cNvSpPr/>
          <p:nvPr/>
        </p:nvSpPr>
        <p:spPr>
          <a:xfrm>
            <a:off x="10232136" y="403250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 −2"/>
          <p:cNvSpPr txBox="1"/>
          <p:nvPr/>
        </p:nvSpPr>
        <p:spPr>
          <a:xfrm>
            <a:off x="10245852" y="40462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B23E4C"/>
                </a:solidFill>
                <a:latin typeface="Aptos"/>
              </a:rPr>
              <a:t>−2</a:t>
            </a:r>
          </a:p>
        </p:txBody>
      </p:sp>
      <p:sp>
        <p:nvSpPr>
          <p:cNvPr id="54" name="PORT H+"/>
          <p:cNvSpPr/>
          <p:nvPr/>
        </p:nvSpPr>
        <p:spPr>
          <a:xfrm>
            <a:off x="11091672" y="403250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 H+"/>
          <p:cNvSpPr txBox="1"/>
          <p:nvPr/>
        </p:nvSpPr>
        <p:spPr>
          <a:xfrm>
            <a:off x="11105388" y="40462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B23E4C"/>
                </a:solidFill>
                <a:latin typeface="Aptos"/>
              </a:rPr>
              <a:t>H+</a:t>
            </a:r>
          </a:p>
        </p:txBody>
      </p:sp>
      <p:cxnSp>
        <p:nvCxnSpPr>
          <p:cNvPr id="56" name="PROPOSED WIRE P1-04"/>
          <p:cNvCxnSpPr/>
          <p:nvPr/>
        </p:nvCxnSpPr>
        <p:spPr>
          <a:xfrm>
            <a:off x="10817352" y="4215384"/>
            <a:ext cx="274320" cy="0"/>
          </a:xfrm>
          <a:prstGeom prst="line">
            <a:avLst/>
          </a:prstGeom>
          <a:ln w="3429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 P1-04"/>
          <p:cNvSpPr txBox="1"/>
          <p:nvPr/>
        </p:nvSpPr>
        <p:spPr>
          <a:xfrm>
            <a:off x="10753344" y="3831336"/>
            <a:ext cx="402336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770" b="1">
                <a:solidFill>
                  <a:srgbClr val="B23E4C"/>
                </a:solidFill>
                <a:latin typeface="Aptos"/>
              </a:rPr>
              <a:t>P1-04</a:t>
            </a:r>
          </a:p>
        </p:txBody>
      </p:sp>
      <p:cxnSp>
        <p:nvCxnSpPr>
          <p:cNvPr id="58" name="PROPOSED WIRE heater"/>
          <p:cNvCxnSpPr/>
          <p:nvPr/>
        </p:nvCxnSpPr>
        <p:spPr>
          <a:xfrm>
            <a:off x="3749039" y="4215384"/>
            <a:ext cx="356616" cy="0"/>
          </a:xfrm>
          <a:prstGeom prst="line">
            <a:avLst/>
          </a:prstGeom>
          <a:ln w="2413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PROPOSED WIRE heater"/>
          <p:cNvCxnSpPr/>
          <p:nvPr/>
        </p:nvCxnSpPr>
        <p:spPr>
          <a:xfrm>
            <a:off x="4379976" y="4215384"/>
            <a:ext cx="356616" cy="0"/>
          </a:xfrm>
          <a:prstGeom prst="line">
            <a:avLst/>
          </a:prstGeom>
          <a:ln w="2413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PROPOSED WIRE heater"/>
          <p:cNvCxnSpPr/>
          <p:nvPr/>
        </p:nvCxnSpPr>
        <p:spPr>
          <a:xfrm flipV="1">
            <a:off x="4105655" y="4114800"/>
            <a:ext cx="205741" cy="100584"/>
          </a:xfrm>
          <a:prstGeom prst="line">
            <a:avLst/>
          </a:prstGeom>
          <a:ln w="2159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ONTACT TERMINAL DOT"/>
          <p:cNvSpPr/>
          <p:nvPr/>
        </p:nvSpPr>
        <p:spPr>
          <a:xfrm>
            <a:off x="4080967" y="4190695"/>
            <a:ext cx="49377" cy="49377"/>
          </a:xfrm>
          <a:prstGeom prst="rect">
            <a:avLst/>
          </a:prstGeom>
          <a:solidFill>
            <a:srgbClr val="FFFFFF"/>
          </a:solidFill>
          <a:ln w="12700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CONTACT TERMINAL DOT"/>
          <p:cNvSpPr/>
          <p:nvPr/>
        </p:nvSpPr>
        <p:spPr>
          <a:xfrm>
            <a:off x="4355287" y="4190695"/>
            <a:ext cx="49377" cy="49377"/>
          </a:xfrm>
          <a:prstGeom prst="rect">
            <a:avLst/>
          </a:prstGeom>
          <a:solidFill>
            <a:srgbClr val="FFFFFF"/>
          </a:solidFill>
          <a:ln w="12700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3" name="PROPOSED WIRE heater"/>
          <p:cNvCxnSpPr/>
          <p:nvPr/>
        </p:nvCxnSpPr>
        <p:spPr>
          <a:xfrm>
            <a:off x="6181344" y="4215384"/>
            <a:ext cx="544068" cy="0"/>
          </a:xfrm>
          <a:prstGeom prst="line">
            <a:avLst/>
          </a:prstGeom>
          <a:ln w="2413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PROPOSED WIRE heater"/>
          <p:cNvCxnSpPr/>
          <p:nvPr/>
        </p:nvCxnSpPr>
        <p:spPr>
          <a:xfrm>
            <a:off x="6999732" y="4215384"/>
            <a:ext cx="544068" cy="0"/>
          </a:xfrm>
          <a:prstGeom prst="line">
            <a:avLst/>
          </a:prstGeom>
          <a:ln w="2413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PROPOSED WIRE heater"/>
          <p:cNvCxnSpPr/>
          <p:nvPr/>
        </p:nvCxnSpPr>
        <p:spPr>
          <a:xfrm flipV="1">
            <a:off x="6725412" y="4114800"/>
            <a:ext cx="205740" cy="100584"/>
          </a:xfrm>
          <a:prstGeom prst="line">
            <a:avLst/>
          </a:prstGeom>
          <a:ln w="2159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CONTACT TERMINAL DOT"/>
          <p:cNvSpPr/>
          <p:nvPr/>
        </p:nvSpPr>
        <p:spPr>
          <a:xfrm>
            <a:off x="6700723" y="4190695"/>
            <a:ext cx="49377" cy="49377"/>
          </a:xfrm>
          <a:prstGeom prst="rect">
            <a:avLst/>
          </a:prstGeom>
          <a:solidFill>
            <a:srgbClr val="FFFFFF"/>
          </a:solidFill>
          <a:ln w="12700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CONTACT TERMINAL DOT"/>
          <p:cNvSpPr/>
          <p:nvPr/>
        </p:nvSpPr>
        <p:spPr>
          <a:xfrm>
            <a:off x="6975043" y="4190695"/>
            <a:ext cx="49377" cy="49377"/>
          </a:xfrm>
          <a:prstGeom prst="rect">
            <a:avLst/>
          </a:prstGeom>
          <a:solidFill>
            <a:srgbClr val="FFFFFF"/>
          </a:solidFill>
          <a:ln w="12700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8" name="PROPOSED WIRE heater"/>
          <p:cNvCxnSpPr/>
          <p:nvPr/>
        </p:nvCxnSpPr>
        <p:spPr>
          <a:xfrm>
            <a:off x="8979408" y="4215384"/>
            <a:ext cx="338328" cy="0"/>
          </a:xfrm>
          <a:prstGeom prst="line">
            <a:avLst/>
          </a:prstGeom>
          <a:ln w="2286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INTERNAL SSR SWITCH SYMBOL"/>
          <p:cNvSpPr/>
          <p:nvPr/>
        </p:nvSpPr>
        <p:spPr>
          <a:xfrm>
            <a:off x="9317736" y="4023360"/>
            <a:ext cx="658368" cy="384048"/>
          </a:xfrm>
          <a:prstGeom prst="rect">
            <a:avLst/>
          </a:prstGeom>
          <a:solidFill>
            <a:srgbClr val="FFFFFF"/>
          </a:solidFill>
          <a:ln w="16510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 SSR"/>
          <p:cNvSpPr txBox="1"/>
          <p:nvPr/>
        </p:nvSpPr>
        <p:spPr>
          <a:xfrm>
            <a:off x="9345168" y="4069080"/>
            <a:ext cx="603504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869" b="1">
                <a:solidFill>
                  <a:srgbClr val="B23E4C"/>
                </a:solidFill>
                <a:latin typeface="Aptos"/>
              </a:rPr>
              <a:t>SSR</a:t>
            </a:r>
          </a:p>
        </p:txBody>
      </p:sp>
      <p:cxnSp>
        <p:nvCxnSpPr>
          <p:cNvPr id="71" name="PROPOSED WIRE heater"/>
          <p:cNvCxnSpPr/>
          <p:nvPr/>
        </p:nvCxnSpPr>
        <p:spPr>
          <a:xfrm>
            <a:off x="9976104" y="4215384"/>
            <a:ext cx="256032" cy="0"/>
          </a:xfrm>
          <a:prstGeom prst="line">
            <a:avLst/>
          </a:prstGeom>
          <a:ln w="2286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 NO contact"/>
          <p:cNvSpPr txBox="1"/>
          <p:nvPr/>
        </p:nvSpPr>
        <p:spPr>
          <a:xfrm>
            <a:off x="6117336" y="4965192"/>
            <a:ext cx="1581912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50" b="1">
                <a:solidFill>
                  <a:srgbClr val="607084"/>
                </a:solidFill>
                <a:latin typeface="Aptos"/>
              </a:rPr>
              <a:t>NO contact</a:t>
            </a:r>
          </a:p>
        </p:txBody>
      </p:sp>
      <p:sp>
        <p:nvSpPr>
          <p:cNvPr id="73" name="TEXT Electronic switch"/>
          <p:cNvSpPr txBox="1"/>
          <p:nvPr/>
        </p:nvSpPr>
        <p:spPr>
          <a:xfrm>
            <a:off x="8915400" y="4965192"/>
            <a:ext cx="143560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10" b="1">
                <a:solidFill>
                  <a:srgbClr val="607084"/>
                </a:solidFill>
                <a:latin typeface="Aptos"/>
              </a:rPr>
              <a:t>Electronic switch</a:t>
            </a:r>
          </a:p>
        </p:txBody>
      </p:sp>
      <p:sp>
        <p:nvSpPr>
          <p:cNvPr id="74" name="PORT DC−"/>
          <p:cNvSpPr/>
          <p:nvPr/>
        </p:nvSpPr>
        <p:spPr>
          <a:xfrm>
            <a:off x="2249424" y="4782312"/>
            <a:ext cx="64008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 DC−"/>
          <p:cNvSpPr txBox="1"/>
          <p:nvPr/>
        </p:nvSpPr>
        <p:spPr>
          <a:xfrm>
            <a:off x="2263140" y="4796027"/>
            <a:ext cx="61264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DC−</a:t>
            </a:r>
          </a:p>
        </p:txBody>
      </p:sp>
      <p:sp>
        <p:nvSpPr>
          <p:cNvPr id="76" name="PORT H−"/>
          <p:cNvSpPr/>
          <p:nvPr/>
        </p:nvSpPr>
        <p:spPr>
          <a:xfrm>
            <a:off x="11091672" y="4782312"/>
            <a:ext cx="64008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 H−"/>
          <p:cNvSpPr txBox="1"/>
          <p:nvPr/>
        </p:nvSpPr>
        <p:spPr>
          <a:xfrm>
            <a:off x="11105388" y="4796027"/>
            <a:ext cx="61264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H−</a:t>
            </a:r>
          </a:p>
        </p:txBody>
      </p:sp>
      <p:cxnSp>
        <p:nvCxnSpPr>
          <p:cNvPr id="78" name="PROPOSED WIRE SEPARATE DC NEGATIVE"/>
          <p:cNvCxnSpPr/>
          <p:nvPr/>
        </p:nvCxnSpPr>
        <p:spPr>
          <a:xfrm>
            <a:off x="2889504" y="4965192"/>
            <a:ext cx="246888" cy="0"/>
          </a:xfrm>
          <a:prstGeom prst="line">
            <a:avLst/>
          </a:prstGeom>
          <a:ln w="31115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PROPOSED WIRE SEPARATE DC NEGATIVE"/>
          <p:cNvCxnSpPr/>
          <p:nvPr/>
        </p:nvCxnSpPr>
        <p:spPr>
          <a:xfrm>
            <a:off x="3136392" y="4965192"/>
            <a:ext cx="0" cy="1682496"/>
          </a:xfrm>
          <a:prstGeom prst="line">
            <a:avLst/>
          </a:prstGeom>
          <a:ln w="31115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PROPOSED WIRE SEPARATE DC NEGATIVE"/>
          <p:cNvCxnSpPr/>
          <p:nvPr/>
        </p:nvCxnSpPr>
        <p:spPr>
          <a:xfrm>
            <a:off x="3136392" y="6647688"/>
            <a:ext cx="7690104" cy="0"/>
          </a:xfrm>
          <a:prstGeom prst="line">
            <a:avLst/>
          </a:prstGeom>
          <a:ln w="31115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PROPOSED WIRE SEPARATE DC NEGATIVE"/>
          <p:cNvCxnSpPr/>
          <p:nvPr/>
        </p:nvCxnSpPr>
        <p:spPr>
          <a:xfrm flipV="1">
            <a:off x="10826496" y="4965192"/>
            <a:ext cx="0" cy="1682496"/>
          </a:xfrm>
          <a:prstGeom prst="line">
            <a:avLst/>
          </a:prstGeom>
          <a:ln w="31115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PROPOSED WIRE SEPARATE DC NEGATIVE"/>
          <p:cNvCxnSpPr/>
          <p:nvPr/>
        </p:nvCxnSpPr>
        <p:spPr>
          <a:xfrm>
            <a:off x="10826496" y="4965192"/>
            <a:ext cx="265176" cy="0"/>
          </a:xfrm>
          <a:prstGeom prst="line">
            <a:avLst/>
          </a:prstGeom>
          <a:ln w="31115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 DC NEGATIVE RETURN  —  SE"/>
          <p:cNvSpPr txBox="1"/>
          <p:nvPr/>
        </p:nvSpPr>
        <p:spPr>
          <a:xfrm>
            <a:off x="5157216" y="6803136"/>
            <a:ext cx="5989320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00" b="1">
                <a:solidFill>
                  <a:srgbClr val="607184"/>
                </a:solidFill>
                <a:latin typeface="Aptos"/>
              </a:rPr>
              <a:t>DC NEGATIVE RETURN  —  SEPARATE FROM SWITCHED POSITIVE</a:t>
            </a:r>
          </a:p>
        </p:txBody>
      </p:sp>
      <p:sp>
        <p:nvSpPr>
          <p:cNvPr id="84" name="DC POWER REVIEW NOTE"/>
          <p:cNvSpPr/>
          <p:nvPr/>
        </p:nvSpPr>
        <p:spPr>
          <a:xfrm>
            <a:off x="795528" y="7516368"/>
            <a:ext cx="13386816" cy="74066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9271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 Finder terminal 14 (−) an"/>
          <p:cNvSpPr txBox="1"/>
          <p:nvPr/>
        </p:nvSpPr>
        <p:spPr>
          <a:xfrm>
            <a:off x="978408" y="7626096"/>
            <a:ext cx="12893040" cy="44805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35" b="0">
                <a:solidFill>
                  <a:srgbClr val="1F344E"/>
                </a:solidFill>
                <a:latin typeface="Aptos"/>
              </a:rPr>
              <a:t>Finder 14(−) and SSR −2 belong to the switched POSITIVE conductor, not DC negative. | Size the protective breaker, relay/socket, output connector, cable and SSR heat sink for the operating duty.</a:t>
            </a:r>
          </a:p>
        </p:txBody>
      </p:sp>
      <p:sp>
        <p:nvSpPr>
          <p:cNvPr id="86" name="KEY"/>
          <p:cNvSpPr/>
          <p:nvPr/>
        </p:nvSpPr>
        <p:spPr>
          <a:xfrm>
            <a:off x="11155680" y="640080"/>
            <a:ext cx="320040" cy="27432"/>
          </a:xfrm>
          <a:prstGeom prst="rect">
            <a:avLst/>
          </a:prstGeom>
          <a:solidFill>
            <a:srgbClr val="B23E4C"/>
          </a:solidFill>
          <a:ln w="1270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 Switched positive"/>
          <p:cNvSpPr txBox="1"/>
          <p:nvPr/>
        </p:nvSpPr>
        <p:spPr>
          <a:xfrm>
            <a:off x="11548872" y="539496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Switched positive</a:t>
            </a:r>
          </a:p>
        </p:txBody>
      </p:sp>
      <p:sp>
        <p:nvSpPr>
          <p:cNvPr id="88" name="KEY"/>
          <p:cNvSpPr/>
          <p:nvPr/>
        </p:nvSpPr>
        <p:spPr>
          <a:xfrm>
            <a:off x="11155680" y="941832"/>
            <a:ext cx="320040" cy="27432"/>
          </a:xfrm>
          <a:prstGeom prst="rect">
            <a:avLst/>
          </a:prstGeom>
          <a:solidFill>
            <a:srgbClr val="607184"/>
          </a:solidFill>
          <a:ln w="1270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 Separate DC− return"/>
          <p:cNvSpPr txBox="1"/>
          <p:nvPr/>
        </p:nvSpPr>
        <p:spPr>
          <a:xfrm>
            <a:off x="11548872" y="841248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Separate DC− return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8  /  CHANNEL 2 / COMPLE"/>
          <p:cNvSpPr txBox="1"/>
          <p:nvPr/>
        </p:nvSpPr>
        <p:spPr>
          <a:xfrm>
            <a:off x="566928" y="320040"/>
            <a:ext cx="13917168" cy="44805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2200" b="1">
                <a:solidFill>
                  <a:srgbClr val="1F344E"/>
                </a:solidFill>
                <a:latin typeface="Aptos"/>
              </a:rPr>
              <a:t>11  /  CHANNEL 2 / COMPLETE DC HEATER POWER LOOP</a:t>
            </a:r>
          </a:p>
        </p:txBody>
      </p:sp>
      <p:sp>
        <p:nvSpPr>
          <p:cNvPr id="3" name="TEXT External 0–60 V DC supply"/>
          <p:cNvSpPr txBox="1"/>
          <p:nvPr/>
        </p:nvSpPr>
        <p:spPr>
          <a:xfrm>
            <a:off x="585216" y="886968"/>
            <a:ext cx="13752576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60" b="0">
                <a:solidFill>
                  <a:srgbClr val="607084"/>
                </a:solidFill>
                <a:latin typeface="Aptos"/>
              </a:rPr>
              <a:t>External 0–60 V DC supply, breaker, polarity-sensitive Finder DC relay, Crydom SSR and direct return.</a:t>
            </a:r>
          </a:p>
        </p:txBody>
      </p:sp>
      <p:sp>
        <p:nvSpPr>
          <p:cNvPr id="4" name="HEADER RULE"/>
          <p:cNvSpPr/>
          <p:nvPr/>
        </p:nvSpPr>
        <p:spPr>
          <a:xfrm>
            <a:off x="566928" y="1325880"/>
            <a:ext cx="13953744" cy="32004"/>
          </a:xfrm>
          <a:prstGeom prst="rect">
            <a:avLst/>
          </a:prstGeom>
          <a:solidFill>
            <a:srgbClr val="1D599B"/>
          </a:solidFill>
          <a:ln w="1270">
            <a:solidFill>
              <a:srgbClr val="1D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INDEPENDENT HEATER SUPPLY"/>
          <p:cNvSpPr txBox="1"/>
          <p:nvPr/>
        </p:nvSpPr>
        <p:spPr>
          <a:xfrm>
            <a:off x="603504" y="1490472"/>
            <a:ext cx="1353312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10" b="1">
                <a:solidFill>
                  <a:srgbClr val="1D599B"/>
                </a:solidFill>
                <a:latin typeface="Aptos"/>
              </a:rPr>
              <a:t>INDEPENDENT HEATER SUPPLY  /  15 A MAX DESIGN</a:t>
            </a:r>
          </a:p>
        </p:txBody>
      </p:sp>
      <p:sp>
        <p:nvSpPr>
          <p:cNvPr id="6" name="ENGINEERING REVIEW NOTE"/>
          <p:cNvSpPr/>
          <p:nvPr/>
        </p:nvSpPr>
        <p:spPr>
          <a:xfrm>
            <a:off x="658368" y="8979408"/>
            <a:ext cx="13533120" cy="566928"/>
          </a:xfrm>
          <a:prstGeom prst="roundRect">
            <a:avLst>
              <a:gd name="adj" fmla="val 5500"/>
            </a:avLst>
          </a:prstGeom>
          <a:solidFill>
            <a:srgbClr val="FFF7E9"/>
          </a:solidFill>
          <a:ln w="9525">
            <a:solidFill>
              <a:srgbClr val="DAB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 DESIGN REVIEW ONLY  |  Te"/>
          <p:cNvSpPr txBox="1"/>
          <p:nvPr/>
        </p:nvSpPr>
        <p:spPr>
          <a:xfrm>
            <a:off x="822960" y="9079992"/>
            <a:ext cx="13167360" cy="31089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5" b="1">
                <a:solidFill>
                  <a:srgbClr val="A35B1B"/>
                </a:solidFill>
                <a:latin typeface="Aptos"/>
              </a:rPr>
              <a:t>REFERENCE WIRING   /   230 V AC CONTROL SUPPLY  •  24 V DC CONTROLS  •  0–60 V DC HEATER CIRCUITS</a:t>
            </a:r>
          </a:p>
        </p:txBody>
      </p:sp>
      <p:sp>
        <p:nvSpPr>
          <p:cNvPr id="8" name="TEXT HEATING RATE CONTROLLER  "/>
          <p:cNvSpPr txBox="1"/>
          <p:nvPr/>
        </p:nvSpPr>
        <p:spPr>
          <a:xfrm>
            <a:off x="649224" y="9820656"/>
            <a:ext cx="117043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HEATING RATE CONTROLLER   /   REFERENCE ELECTRICAL WIRING   /   R1.2  ·  26 OCT 2026</a:t>
            </a:r>
          </a:p>
        </p:txBody>
      </p:sp>
      <p:sp>
        <p:nvSpPr>
          <p:cNvPr id="9" name="TEXT SHEET 08"/>
          <p:cNvSpPr txBox="1"/>
          <p:nvPr/>
        </p:nvSpPr>
        <p:spPr>
          <a:xfrm>
            <a:off x="12984480" y="9820656"/>
            <a:ext cx="11887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r"/>
            <a:r>
              <a:rPr sz="860" b="1">
                <a:solidFill>
                  <a:srgbClr val="607084"/>
                </a:solidFill>
                <a:latin typeface="Aptos"/>
              </a:rPr>
              <a:t>SHEET 11 / 14</a:t>
            </a:r>
          </a:p>
        </p:txBody>
      </p:sp>
      <p:sp>
        <p:nvSpPr>
          <p:cNvPr id="10" name="TEXT Finder contact 34 (+) → 1"/>
          <p:cNvSpPr txBox="1"/>
          <p:nvPr/>
        </p:nvSpPr>
        <p:spPr>
          <a:xfrm>
            <a:off x="667512" y="9537192"/>
            <a:ext cx="13560552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90" b="0">
                <a:solidFill>
                  <a:srgbClr val="607084"/>
                </a:solidFill>
                <a:latin typeface="Aptos"/>
              </a:rPr>
              <a:t>Finder 62.31 34(+)→14(−) and Crydom load +1→−2 are in SWITCHED DC+; neither terminal is DC−.</a:t>
            </a:r>
          </a:p>
        </p:txBody>
      </p:sp>
      <p:sp>
        <p:nvSpPr>
          <p:cNvPr id="11" name="COMPONENT JP2-IN  DC SUPPLY"/>
          <p:cNvSpPr/>
          <p:nvPr/>
        </p:nvSpPr>
        <p:spPr>
          <a:xfrm>
            <a:off x="640080" y="2505456"/>
            <a:ext cx="2121408" cy="301752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 JP2-IN  DC SUPPLY"/>
          <p:cNvSpPr txBox="1"/>
          <p:nvPr/>
        </p:nvSpPr>
        <p:spPr>
          <a:xfrm>
            <a:off x="804671" y="2642616"/>
            <a:ext cx="1819655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50" b="1">
                <a:solidFill>
                  <a:srgbClr val="1F344E"/>
                </a:solidFill>
                <a:latin typeface="Aptos"/>
              </a:rPr>
              <a:t>JP2-IN  DC SUPPLY</a:t>
            </a:r>
          </a:p>
        </p:txBody>
      </p:sp>
      <p:sp>
        <p:nvSpPr>
          <p:cNvPr id="13" name="TEXT 0–60 V / up to 15 A"/>
          <p:cNvSpPr txBox="1"/>
          <p:nvPr/>
        </p:nvSpPr>
        <p:spPr>
          <a:xfrm>
            <a:off x="804671" y="2953512"/>
            <a:ext cx="1819655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0–60 V / up to 15 A</a:t>
            </a:r>
          </a:p>
        </p:txBody>
      </p:sp>
      <p:sp>
        <p:nvSpPr>
          <p:cNvPr id="14" name="TEXT Connector &amp; cable TBD"/>
          <p:cNvSpPr txBox="1"/>
          <p:nvPr/>
        </p:nvSpPr>
        <p:spPr>
          <a:xfrm>
            <a:off x="804671" y="3227832"/>
            <a:ext cx="1792224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DC input / cable sized for 15 A</a:t>
            </a:r>
          </a:p>
        </p:txBody>
      </p:sp>
      <p:sp>
        <p:nvSpPr>
          <p:cNvPr id="15" name="COMPONENT QF2  LOVATO"/>
          <p:cNvSpPr/>
          <p:nvPr/>
        </p:nvSpPr>
        <p:spPr>
          <a:xfrm>
            <a:off x="3282696" y="2505456"/>
            <a:ext cx="1929384" cy="301752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 QF2  LOVATO"/>
          <p:cNvSpPr txBox="1"/>
          <p:nvPr/>
        </p:nvSpPr>
        <p:spPr>
          <a:xfrm>
            <a:off x="3447288" y="2642616"/>
            <a:ext cx="1627631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50" b="1">
                <a:solidFill>
                  <a:srgbClr val="1F344E"/>
                </a:solidFill>
                <a:latin typeface="Aptos"/>
              </a:rPr>
              <a:t>QF2  LOVATO</a:t>
            </a:r>
          </a:p>
        </p:txBody>
      </p:sp>
      <p:sp>
        <p:nvSpPr>
          <p:cNvPr id="17" name="TEXT P1MB1PC16"/>
          <p:cNvSpPr txBox="1"/>
          <p:nvPr/>
        </p:nvSpPr>
        <p:spPr>
          <a:xfrm>
            <a:off x="3447288" y="2953512"/>
            <a:ext cx="1627631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P1MB1PC16</a:t>
            </a:r>
          </a:p>
        </p:txBody>
      </p:sp>
      <p:sp>
        <p:nvSpPr>
          <p:cNvPr id="18" name="TEXT 16 A / 80 V DC MCB"/>
          <p:cNvSpPr txBox="1"/>
          <p:nvPr/>
        </p:nvSpPr>
        <p:spPr>
          <a:xfrm>
            <a:off x="3447288" y="3227832"/>
            <a:ext cx="1600200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16 A / 80 V DC MCB</a:t>
            </a:r>
          </a:p>
        </p:txBody>
      </p:sp>
      <p:sp>
        <p:nvSpPr>
          <p:cNvPr id="19" name="MFR LINK QF2  LOVATO"/>
          <p:cNvSpPr txBox="1"/>
          <p:nvPr/>
        </p:nvSpPr>
        <p:spPr>
          <a:xfrm>
            <a:off x="3447288" y="5212080"/>
            <a:ext cx="1600200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2"/>
              </a:rPr>
              <a:t>Manufacturer datasheet  ↗</a:t>
            </a:r>
          </a:p>
        </p:txBody>
      </p:sp>
      <p:sp>
        <p:nvSpPr>
          <p:cNvPr id="20" name="COMPONENT K4/SK4  62.31"/>
          <p:cNvSpPr/>
          <p:nvPr/>
        </p:nvSpPr>
        <p:spPr>
          <a:xfrm>
            <a:off x="5724144" y="2505456"/>
            <a:ext cx="2286000" cy="3017520"/>
          </a:xfrm>
          <a:prstGeom prst="roundRect">
            <a:avLst>
              <a:gd name="adj" fmla="val 5500"/>
            </a:avLst>
          </a:prstGeom>
          <a:solidFill>
            <a:srgbClr val="EBF6FA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 K4/SK4  62.31"/>
          <p:cNvSpPr txBox="1"/>
          <p:nvPr/>
        </p:nvSpPr>
        <p:spPr>
          <a:xfrm>
            <a:off x="5888736" y="2642616"/>
            <a:ext cx="1984248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50" b="1">
                <a:solidFill>
                  <a:srgbClr val="1F344E"/>
                </a:solidFill>
                <a:latin typeface="Aptos"/>
              </a:rPr>
              <a:t>K4/SK4  62.31</a:t>
            </a:r>
          </a:p>
        </p:txBody>
      </p:sp>
      <p:sp>
        <p:nvSpPr>
          <p:cNvPr id="22" name="TEXT 62.31.9.024.4800"/>
          <p:cNvSpPr txBox="1"/>
          <p:nvPr/>
        </p:nvSpPr>
        <p:spPr>
          <a:xfrm>
            <a:off x="5888736" y="2953512"/>
            <a:ext cx="1984248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62.31.9.024.4800</a:t>
            </a:r>
          </a:p>
        </p:txBody>
      </p:sp>
      <p:sp>
        <p:nvSpPr>
          <p:cNvPr id="23" name="TEXT 92.03-family socket; actu"/>
          <p:cNvSpPr txBox="1"/>
          <p:nvPr/>
        </p:nvSpPr>
        <p:spPr>
          <a:xfrm>
            <a:off x="5888736" y="3227832"/>
            <a:ext cx="1956816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92.03SMA socket for 62.31</a:t>
            </a:r>
          </a:p>
        </p:txBody>
      </p:sp>
      <p:sp>
        <p:nvSpPr>
          <p:cNvPr id="24" name="MFR LINK K4/SK4  62.31"/>
          <p:cNvSpPr txBox="1"/>
          <p:nvPr/>
        </p:nvSpPr>
        <p:spPr>
          <a:xfrm>
            <a:off x="5888736" y="5212080"/>
            <a:ext cx="1956816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3"/>
              </a:rPr>
              <a:t>Manufacturer datasheet  ↗</a:t>
            </a:r>
          </a:p>
        </p:txBody>
      </p:sp>
      <p:sp>
        <p:nvSpPr>
          <p:cNvPr id="25" name="COMPONENT SSR2  CRYDOM"/>
          <p:cNvSpPr/>
          <p:nvPr/>
        </p:nvSpPr>
        <p:spPr>
          <a:xfrm>
            <a:off x="8522208" y="2505456"/>
            <a:ext cx="2167128" cy="3017520"/>
          </a:xfrm>
          <a:prstGeom prst="roundRect">
            <a:avLst>
              <a:gd name="adj" fmla="val 5500"/>
            </a:avLst>
          </a:prstGeom>
          <a:solidFill>
            <a:srgbClr val="EBF6FA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SSR2  CRYDOM"/>
          <p:cNvSpPr txBox="1"/>
          <p:nvPr/>
        </p:nvSpPr>
        <p:spPr>
          <a:xfrm>
            <a:off x="8686800" y="2642616"/>
            <a:ext cx="1865376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50" b="1">
                <a:solidFill>
                  <a:srgbClr val="1F344E"/>
                </a:solidFill>
                <a:latin typeface="Aptos"/>
              </a:rPr>
              <a:t>SSR2  CRYDOM</a:t>
            </a:r>
          </a:p>
        </p:txBody>
      </p:sp>
      <p:sp>
        <p:nvSpPr>
          <p:cNvPr id="27" name="TEXT DR2220D30U"/>
          <p:cNvSpPr txBox="1"/>
          <p:nvPr/>
        </p:nvSpPr>
        <p:spPr>
          <a:xfrm>
            <a:off x="8686800" y="2953512"/>
            <a:ext cx="1865376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DR2220D30U</a:t>
            </a:r>
          </a:p>
        </p:txBody>
      </p:sp>
      <p:sp>
        <p:nvSpPr>
          <p:cNvPr id="28" name="TEXT Solid-state DC switch"/>
          <p:cNvSpPr txBox="1"/>
          <p:nvPr/>
        </p:nvSpPr>
        <p:spPr>
          <a:xfrm>
            <a:off x="8686800" y="3227832"/>
            <a:ext cx="1837944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Solid-state DC switch</a:t>
            </a:r>
          </a:p>
        </p:txBody>
      </p:sp>
      <p:sp>
        <p:nvSpPr>
          <p:cNvPr id="29" name="MFR LINK SSR2  CRYDOM"/>
          <p:cNvSpPr txBox="1"/>
          <p:nvPr/>
        </p:nvSpPr>
        <p:spPr>
          <a:xfrm>
            <a:off x="8686800" y="5212080"/>
            <a:ext cx="1837944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4"/>
              </a:rPr>
              <a:t>Manufacturer datasheet  ↗</a:t>
            </a:r>
          </a:p>
        </p:txBody>
      </p:sp>
      <p:sp>
        <p:nvSpPr>
          <p:cNvPr id="30" name="COMPONENT JP2-OUT  HEATER"/>
          <p:cNvSpPr/>
          <p:nvPr/>
        </p:nvSpPr>
        <p:spPr>
          <a:xfrm>
            <a:off x="11219688" y="2505456"/>
            <a:ext cx="2697480" cy="301752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 JP2-OUT  HEATER"/>
          <p:cNvSpPr txBox="1"/>
          <p:nvPr/>
        </p:nvSpPr>
        <p:spPr>
          <a:xfrm>
            <a:off x="11384280" y="2642616"/>
            <a:ext cx="2395728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90" b="1">
                <a:solidFill>
                  <a:srgbClr val="1F344E"/>
                </a:solidFill>
                <a:latin typeface="Aptos"/>
              </a:rPr>
              <a:t>JP2-OUT  HEATER</a:t>
            </a:r>
          </a:p>
        </p:txBody>
      </p:sp>
      <p:sp>
        <p:nvSpPr>
          <p:cNvPr id="32" name="TEXT External resistive load"/>
          <p:cNvSpPr txBox="1"/>
          <p:nvPr/>
        </p:nvSpPr>
        <p:spPr>
          <a:xfrm>
            <a:off x="11384280" y="2953512"/>
            <a:ext cx="2395728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External resistive load</a:t>
            </a:r>
          </a:p>
        </p:txBody>
      </p:sp>
      <p:sp>
        <p:nvSpPr>
          <p:cNvPr id="33" name="TEXT Connector &amp; cable TBD"/>
          <p:cNvSpPr txBox="1"/>
          <p:nvPr/>
        </p:nvSpPr>
        <p:spPr>
          <a:xfrm>
            <a:off x="11384280" y="3227832"/>
            <a:ext cx="2368296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DC heater output / 15 A-rated cable</a:t>
            </a:r>
          </a:p>
        </p:txBody>
      </p:sp>
      <p:sp>
        <p:nvSpPr>
          <p:cNvPr id="34" name="PORT DC+"/>
          <p:cNvSpPr/>
          <p:nvPr/>
        </p:nvSpPr>
        <p:spPr>
          <a:xfrm>
            <a:off x="2304288" y="403250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 DC+"/>
          <p:cNvSpPr txBox="1"/>
          <p:nvPr/>
        </p:nvSpPr>
        <p:spPr>
          <a:xfrm>
            <a:off x="2318004" y="40462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B23E4C"/>
                </a:solidFill>
                <a:latin typeface="Aptos"/>
              </a:rPr>
              <a:t>DC+</a:t>
            </a:r>
          </a:p>
        </p:txBody>
      </p:sp>
      <p:sp>
        <p:nvSpPr>
          <p:cNvPr id="36" name="PORT 1"/>
          <p:cNvSpPr/>
          <p:nvPr/>
        </p:nvSpPr>
        <p:spPr>
          <a:xfrm>
            <a:off x="3154679" y="403250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 1"/>
          <p:cNvSpPr txBox="1"/>
          <p:nvPr/>
        </p:nvSpPr>
        <p:spPr>
          <a:xfrm>
            <a:off x="3168396" y="40462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B23E4C"/>
                </a:solidFill>
                <a:latin typeface="Aptos"/>
              </a:rPr>
              <a:t>1</a:t>
            </a:r>
          </a:p>
        </p:txBody>
      </p:sp>
      <p:cxnSp>
        <p:nvCxnSpPr>
          <p:cNvPr id="38" name="PROPOSED WIRE P2-01"/>
          <p:cNvCxnSpPr/>
          <p:nvPr/>
        </p:nvCxnSpPr>
        <p:spPr>
          <a:xfrm>
            <a:off x="2889504" y="4215384"/>
            <a:ext cx="265175" cy="0"/>
          </a:xfrm>
          <a:prstGeom prst="line">
            <a:avLst/>
          </a:prstGeom>
          <a:ln w="3429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 P2-01"/>
          <p:cNvSpPr txBox="1"/>
          <p:nvPr/>
        </p:nvSpPr>
        <p:spPr>
          <a:xfrm>
            <a:off x="2820923" y="3831336"/>
            <a:ext cx="402336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770" b="1">
                <a:solidFill>
                  <a:srgbClr val="B23E4C"/>
                </a:solidFill>
                <a:latin typeface="Aptos"/>
              </a:rPr>
              <a:t>P2-01</a:t>
            </a:r>
          </a:p>
        </p:txBody>
      </p:sp>
      <p:sp>
        <p:nvSpPr>
          <p:cNvPr id="40" name="PORT 2"/>
          <p:cNvSpPr/>
          <p:nvPr/>
        </p:nvSpPr>
        <p:spPr>
          <a:xfrm>
            <a:off x="4754880" y="403250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 2"/>
          <p:cNvSpPr txBox="1"/>
          <p:nvPr/>
        </p:nvSpPr>
        <p:spPr>
          <a:xfrm>
            <a:off x="4768596" y="40462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B23E4C"/>
                </a:solidFill>
                <a:latin typeface="Aptos"/>
              </a:rPr>
              <a:t>2</a:t>
            </a:r>
          </a:p>
        </p:txBody>
      </p:sp>
      <p:sp>
        <p:nvSpPr>
          <p:cNvPr id="42" name="PORT 34+"/>
          <p:cNvSpPr/>
          <p:nvPr/>
        </p:nvSpPr>
        <p:spPr>
          <a:xfrm>
            <a:off x="5596128" y="403250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 34+"/>
          <p:cNvSpPr txBox="1"/>
          <p:nvPr/>
        </p:nvSpPr>
        <p:spPr>
          <a:xfrm>
            <a:off x="5609844" y="40462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B23E4C"/>
                </a:solidFill>
                <a:latin typeface="Aptos"/>
              </a:rPr>
              <a:t>34+</a:t>
            </a:r>
          </a:p>
        </p:txBody>
      </p:sp>
      <p:cxnSp>
        <p:nvCxnSpPr>
          <p:cNvPr id="44" name="PROPOSED WIRE P2-02"/>
          <p:cNvCxnSpPr/>
          <p:nvPr/>
        </p:nvCxnSpPr>
        <p:spPr>
          <a:xfrm>
            <a:off x="5340096" y="4215384"/>
            <a:ext cx="256032" cy="0"/>
          </a:xfrm>
          <a:prstGeom prst="line">
            <a:avLst/>
          </a:prstGeom>
          <a:ln w="3429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 P2-02"/>
          <p:cNvSpPr txBox="1"/>
          <p:nvPr/>
        </p:nvSpPr>
        <p:spPr>
          <a:xfrm>
            <a:off x="5266944" y="3831336"/>
            <a:ext cx="402336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770" b="1">
                <a:solidFill>
                  <a:srgbClr val="B23E4C"/>
                </a:solidFill>
                <a:latin typeface="Aptos"/>
              </a:rPr>
              <a:t>P2-02</a:t>
            </a:r>
          </a:p>
        </p:txBody>
      </p:sp>
      <p:sp>
        <p:nvSpPr>
          <p:cNvPr id="46" name="PORT 14−"/>
          <p:cNvSpPr/>
          <p:nvPr/>
        </p:nvSpPr>
        <p:spPr>
          <a:xfrm>
            <a:off x="7552944" y="403250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 14−"/>
          <p:cNvSpPr txBox="1"/>
          <p:nvPr/>
        </p:nvSpPr>
        <p:spPr>
          <a:xfrm>
            <a:off x="7566660" y="40462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B23E4C"/>
                </a:solidFill>
                <a:latin typeface="Aptos"/>
              </a:rPr>
              <a:t>14−</a:t>
            </a:r>
          </a:p>
        </p:txBody>
      </p:sp>
      <p:sp>
        <p:nvSpPr>
          <p:cNvPr id="48" name="PORT +1"/>
          <p:cNvSpPr/>
          <p:nvPr/>
        </p:nvSpPr>
        <p:spPr>
          <a:xfrm>
            <a:off x="8394192" y="403250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 +1"/>
          <p:cNvSpPr txBox="1"/>
          <p:nvPr/>
        </p:nvSpPr>
        <p:spPr>
          <a:xfrm>
            <a:off x="8407908" y="40462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B23E4C"/>
                </a:solidFill>
                <a:latin typeface="Aptos"/>
              </a:rPr>
              <a:t>+1</a:t>
            </a:r>
          </a:p>
        </p:txBody>
      </p:sp>
      <p:cxnSp>
        <p:nvCxnSpPr>
          <p:cNvPr id="50" name="PROPOSED WIRE P2-03"/>
          <p:cNvCxnSpPr/>
          <p:nvPr/>
        </p:nvCxnSpPr>
        <p:spPr>
          <a:xfrm>
            <a:off x="8138160" y="4215384"/>
            <a:ext cx="256032" cy="0"/>
          </a:xfrm>
          <a:prstGeom prst="line">
            <a:avLst/>
          </a:prstGeom>
          <a:ln w="3429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 P2-03"/>
          <p:cNvSpPr txBox="1"/>
          <p:nvPr/>
        </p:nvSpPr>
        <p:spPr>
          <a:xfrm>
            <a:off x="8065007" y="3831336"/>
            <a:ext cx="402336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770" b="1">
                <a:solidFill>
                  <a:srgbClr val="B23E4C"/>
                </a:solidFill>
                <a:latin typeface="Aptos"/>
              </a:rPr>
              <a:t>P2-03</a:t>
            </a:r>
          </a:p>
        </p:txBody>
      </p:sp>
      <p:sp>
        <p:nvSpPr>
          <p:cNvPr id="52" name="PORT −2"/>
          <p:cNvSpPr/>
          <p:nvPr/>
        </p:nvSpPr>
        <p:spPr>
          <a:xfrm>
            <a:off x="10232136" y="403250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 −2"/>
          <p:cNvSpPr txBox="1"/>
          <p:nvPr/>
        </p:nvSpPr>
        <p:spPr>
          <a:xfrm>
            <a:off x="10245852" y="40462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B23E4C"/>
                </a:solidFill>
                <a:latin typeface="Aptos"/>
              </a:rPr>
              <a:t>−2</a:t>
            </a:r>
          </a:p>
        </p:txBody>
      </p:sp>
      <p:sp>
        <p:nvSpPr>
          <p:cNvPr id="54" name="PORT H+"/>
          <p:cNvSpPr/>
          <p:nvPr/>
        </p:nvSpPr>
        <p:spPr>
          <a:xfrm>
            <a:off x="11091672" y="403250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 H+"/>
          <p:cNvSpPr txBox="1"/>
          <p:nvPr/>
        </p:nvSpPr>
        <p:spPr>
          <a:xfrm>
            <a:off x="11105388" y="40462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B23E4C"/>
                </a:solidFill>
                <a:latin typeface="Aptos"/>
              </a:rPr>
              <a:t>H+</a:t>
            </a:r>
          </a:p>
        </p:txBody>
      </p:sp>
      <p:cxnSp>
        <p:nvCxnSpPr>
          <p:cNvPr id="56" name="PROPOSED WIRE P2-04"/>
          <p:cNvCxnSpPr/>
          <p:nvPr/>
        </p:nvCxnSpPr>
        <p:spPr>
          <a:xfrm>
            <a:off x="10817352" y="4215384"/>
            <a:ext cx="274320" cy="0"/>
          </a:xfrm>
          <a:prstGeom prst="line">
            <a:avLst/>
          </a:prstGeom>
          <a:ln w="3429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 P2-04"/>
          <p:cNvSpPr txBox="1"/>
          <p:nvPr/>
        </p:nvSpPr>
        <p:spPr>
          <a:xfrm>
            <a:off x="10753344" y="3831336"/>
            <a:ext cx="402336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770" b="1">
                <a:solidFill>
                  <a:srgbClr val="B23E4C"/>
                </a:solidFill>
                <a:latin typeface="Aptos"/>
              </a:rPr>
              <a:t>P2-04</a:t>
            </a:r>
          </a:p>
        </p:txBody>
      </p:sp>
      <p:cxnSp>
        <p:nvCxnSpPr>
          <p:cNvPr id="58" name="PROPOSED WIRE heater"/>
          <p:cNvCxnSpPr/>
          <p:nvPr/>
        </p:nvCxnSpPr>
        <p:spPr>
          <a:xfrm>
            <a:off x="3749039" y="4215384"/>
            <a:ext cx="356616" cy="0"/>
          </a:xfrm>
          <a:prstGeom prst="line">
            <a:avLst/>
          </a:prstGeom>
          <a:ln w="2413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PROPOSED WIRE heater"/>
          <p:cNvCxnSpPr/>
          <p:nvPr/>
        </p:nvCxnSpPr>
        <p:spPr>
          <a:xfrm>
            <a:off x="4379976" y="4215384"/>
            <a:ext cx="356616" cy="0"/>
          </a:xfrm>
          <a:prstGeom prst="line">
            <a:avLst/>
          </a:prstGeom>
          <a:ln w="2413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PROPOSED WIRE heater"/>
          <p:cNvCxnSpPr/>
          <p:nvPr/>
        </p:nvCxnSpPr>
        <p:spPr>
          <a:xfrm flipV="1">
            <a:off x="4105655" y="4114800"/>
            <a:ext cx="205741" cy="100584"/>
          </a:xfrm>
          <a:prstGeom prst="line">
            <a:avLst/>
          </a:prstGeom>
          <a:ln w="2159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ONTACT TERMINAL DOT"/>
          <p:cNvSpPr/>
          <p:nvPr/>
        </p:nvSpPr>
        <p:spPr>
          <a:xfrm>
            <a:off x="4080967" y="4190695"/>
            <a:ext cx="49377" cy="49377"/>
          </a:xfrm>
          <a:prstGeom prst="rect">
            <a:avLst/>
          </a:prstGeom>
          <a:solidFill>
            <a:srgbClr val="FFFFFF"/>
          </a:solidFill>
          <a:ln w="12700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CONTACT TERMINAL DOT"/>
          <p:cNvSpPr/>
          <p:nvPr/>
        </p:nvSpPr>
        <p:spPr>
          <a:xfrm>
            <a:off x="4355287" y="4190695"/>
            <a:ext cx="49377" cy="49377"/>
          </a:xfrm>
          <a:prstGeom prst="rect">
            <a:avLst/>
          </a:prstGeom>
          <a:solidFill>
            <a:srgbClr val="FFFFFF"/>
          </a:solidFill>
          <a:ln w="12700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3" name="PROPOSED WIRE heater"/>
          <p:cNvCxnSpPr/>
          <p:nvPr/>
        </p:nvCxnSpPr>
        <p:spPr>
          <a:xfrm>
            <a:off x="6181344" y="4215384"/>
            <a:ext cx="544068" cy="0"/>
          </a:xfrm>
          <a:prstGeom prst="line">
            <a:avLst/>
          </a:prstGeom>
          <a:ln w="2413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PROPOSED WIRE heater"/>
          <p:cNvCxnSpPr/>
          <p:nvPr/>
        </p:nvCxnSpPr>
        <p:spPr>
          <a:xfrm>
            <a:off x="6999732" y="4215384"/>
            <a:ext cx="544068" cy="0"/>
          </a:xfrm>
          <a:prstGeom prst="line">
            <a:avLst/>
          </a:prstGeom>
          <a:ln w="2413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PROPOSED WIRE heater"/>
          <p:cNvCxnSpPr/>
          <p:nvPr/>
        </p:nvCxnSpPr>
        <p:spPr>
          <a:xfrm flipV="1">
            <a:off x="6725412" y="4114800"/>
            <a:ext cx="205740" cy="100584"/>
          </a:xfrm>
          <a:prstGeom prst="line">
            <a:avLst/>
          </a:prstGeom>
          <a:ln w="2159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CONTACT TERMINAL DOT"/>
          <p:cNvSpPr/>
          <p:nvPr/>
        </p:nvSpPr>
        <p:spPr>
          <a:xfrm>
            <a:off x="6700723" y="4190695"/>
            <a:ext cx="49377" cy="49377"/>
          </a:xfrm>
          <a:prstGeom prst="rect">
            <a:avLst/>
          </a:prstGeom>
          <a:solidFill>
            <a:srgbClr val="FFFFFF"/>
          </a:solidFill>
          <a:ln w="12700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CONTACT TERMINAL DOT"/>
          <p:cNvSpPr/>
          <p:nvPr/>
        </p:nvSpPr>
        <p:spPr>
          <a:xfrm>
            <a:off x="6975043" y="4190695"/>
            <a:ext cx="49377" cy="49377"/>
          </a:xfrm>
          <a:prstGeom prst="rect">
            <a:avLst/>
          </a:prstGeom>
          <a:solidFill>
            <a:srgbClr val="FFFFFF"/>
          </a:solidFill>
          <a:ln w="12700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8" name="PROPOSED WIRE heater"/>
          <p:cNvCxnSpPr/>
          <p:nvPr/>
        </p:nvCxnSpPr>
        <p:spPr>
          <a:xfrm>
            <a:off x="8979408" y="4215384"/>
            <a:ext cx="338328" cy="0"/>
          </a:xfrm>
          <a:prstGeom prst="line">
            <a:avLst/>
          </a:prstGeom>
          <a:ln w="2286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INTERNAL SSR SWITCH SYMBOL"/>
          <p:cNvSpPr/>
          <p:nvPr/>
        </p:nvSpPr>
        <p:spPr>
          <a:xfrm>
            <a:off x="9317736" y="4023360"/>
            <a:ext cx="658368" cy="384048"/>
          </a:xfrm>
          <a:prstGeom prst="rect">
            <a:avLst/>
          </a:prstGeom>
          <a:solidFill>
            <a:srgbClr val="FFFFFF"/>
          </a:solidFill>
          <a:ln w="16510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 SSR"/>
          <p:cNvSpPr txBox="1"/>
          <p:nvPr/>
        </p:nvSpPr>
        <p:spPr>
          <a:xfrm>
            <a:off x="9345168" y="4069080"/>
            <a:ext cx="603504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869" b="1">
                <a:solidFill>
                  <a:srgbClr val="B23E4C"/>
                </a:solidFill>
                <a:latin typeface="Aptos"/>
              </a:rPr>
              <a:t>SSR</a:t>
            </a:r>
          </a:p>
        </p:txBody>
      </p:sp>
      <p:cxnSp>
        <p:nvCxnSpPr>
          <p:cNvPr id="71" name="PROPOSED WIRE heater"/>
          <p:cNvCxnSpPr/>
          <p:nvPr/>
        </p:nvCxnSpPr>
        <p:spPr>
          <a:xfrm>
            <a:off x="9976104" y="4215384"/>
            <a:ext cx="256032" cy="0"/>
          </a:xfrm>
          <a:prstGeom prst="line">
            <a:avLst/>
          </a:prstGeom>
          <a:ln w="2286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 NO contact"/>
          <p:cNvSpPr txBox="1"/>
          <p:nvPr/>
        </p:nvSpPr>
        <p:spPr>
          <a:xfrm>
            <a:off x="6117336" y="4965192"/>
            <a:ext cx="1581912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50" b="1">
                <a:solidFill>
                  <a:srgbClr val="607084"/>
                </a:solidFill>
                <a:latin typeface="Aptos"/>
              </a:rPr>
              <a:t>NO contact</a:t>
            </a:r>
          </a:p>
        </p:txBody>
      </p:sp>
      <p:sp>
        <p:nvSpPr>
          <p:cNvPr id="73" name="TEXT Electronic switch"/>
          <p:cNvSpPr txBox="1"/>
          <p:nvPr/>
        </p:nvSpPr>
        <p:spPr>
          <a:xfrm>
            <a:off x="8915400" y="4965192"/>
            <a:ext cx="143560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10" b="1">
                <a:solidFill>
                  <a:srgbClr val="607084"/>
                </a:solidFill>
                <a:latin typeface="Aptos"/>
              </a:rPr>
              <a:t>Electronic switch</a:t>
            </a:r>
          </a:p>
        </p:txBody>
      </p:sp>
      <p:sp>
        <p:nvSpPr>
          <p:cNvPr id="74" name="PORT DC−"/>
          <p:cNvSpPr/>
          <p:nvPr/>
        </p:nvSpPr>
        <p:spPr>
          <a:xfrm>
            <a:off x="2249424" y="4782312"/>
            <a:ext cx="64008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 DC−"/>
          <p:cNvSpPr txBox="1"/>
          <p:nvPr/>
        </p:nvSpPr>
        <p:spPr>
          <a:xfrm>
            <a:off x="2263140" y="4796027"/>
            <a:ext cx="61264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DC−</a:t>
            </a:r>
          </a:p>
        </p:txBody>
      </p:sp>
      <p:sp>
        <p:nvSpPr>
          <p:cNvPr id="76" name="PORT H−"/>
          <p:cNvSpPr/>
          <p:nvPr/>
        </p:nvSpPr>
        <p:spPr>
          <a:xfrm>
            <a:off x="11091672" y="4782312"/>
            <a:ext cx="64008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 H−"/>
          <p:cNvSpPr txBox="1"/>
          <p:nvPr/>
        </p:nvSpPr>
        <p:spPr>
          <a:xfrm>
            <a:off x="11105388" y="4796027"/>
            <a:ext cx="61264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H−</a:t>
            </a:r>
          </a:p>
        </p:txBody>
      </p:sp>
      <p:cxnSp>
        <p:nvCxnSpPr>
          <p:cNvPr id="78" name="PROPOSED WIRE SEPARATE DC NEGATIVE"/>
          <p:cNvCxnSpPr/>
          <p:nvPr/>
        </p:nvCxnSpPr>
        <p:spPr>
          <a:xfrm>
            <a:off x="2889504" y="4965192"/>
            <a:ext cx="246888" cy="0"/>
          </a:xfrm>
          <a:prstGeom prst="line">
            <a:avLst/>
          </a:prstGeom>
          <a:ln w="31115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PROPOSED WIRE SEPARATE DC NEGATIVE"/>
          <p:cNvCxnSpPr/>
          <p:nvPr/>
        </p:nvCxnSpPr>
        <p:spPr>
          <a:xfrm>
            <a:off x="3136392" y="4965192"/>
            <a:ext cx="0" cy="1682496"/>
          </a:xfrm>
          <a:prstGeom prst="line">
            <a:avLst/>
          </a:prstGeom>
          <a:ln w="31115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PROPOSED WIRE SEPARATE DC NEGATIVE"/>
          <p:cNvCxnSpPr/>
          <p:nvPr/>
        </p:nvCxnSpPr>
        <p:spPr>
          <a:xfrm>
            <a:off x="3136392" y="6647688"/>
            <a:ext cx="7690104" cy="0"/>
          </a:xfrm>
          <a:prstGeom prst="line">
            <a:avLst/>
          </a:prstGeom>
          <a:ln w="31115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PROPOSED WIRE SEPARATE DC NEGATIVE"/>
          <p:cNvCxnSpPr/>
          <p:nvPr/>
        </p:nvCxnSpPr>
        <p:spPr>
          <a:xfrm flipV="1">
            <a:off x="10826496" y="4965192"/>
            <a:ext cx="0" cy="1682496"/>
          </a:xfrm>
          <a:prstGeom prst="line">
            <a:avLst/>
          </a:prstGeom>
          <a:ln w="31115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PROPOSED WIRE SEPARATE DC NEGATIVE"/>
          <p:cNvCxnSpPr/>
          <p:nvPr/>
        </p:nvCxnSpPr>
        <p:spPr>
          <a:xfrm>
            <a:off x="10826496" y="4965192"/>
            <a:ext cx="265176" cy="0"/>
          </a:xfrm>
          <a:prstGeom prst="line">
            <a:avLst/>
          </a:prstGeom>
          <a:ln w="31115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 DC NEGATIVE RETURN  —  SE"/>
          <p:cNvSpPr txBox="1"/>
          <p:nvPr/>
        </p:nvSpPr>
        <p:spPr>
          <a:xfrm>
            <a:off x="5157216" y="6803136"/>
            <a:ext cx="5989320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00" b="1">
                <a:solidFill>
                  <a:srgbClr val="607184"/>
                </a:solidFill>
                <a:latin typeface="Aptos"/>
              </a:rPr>
              <a:t>DC NEGATIVE RETURN  —  SEPARATE FROM SWITCHED POSITIVE</a:t>
            </a:r>
          </a:p>
        </p:txBody>
      </p:sp>
      <p:sp>
        <p:nvSpPr>
          <p:cNvPr id="84" name="DC POWER REVIEW NOTE"/>
          <p:cNvSpPr/>
          <p:nvPr/>
        </p:nvSpPr>
        <p:spPr>
          <a:xfrm>
            <a:off x="795528" y="7516368"/>
            <a:ext cx="13386816" cy="74066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9271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 Finder terminal 14 (−) an"/>
          <p:cNvSpPr txBox="1"/>
          <p:nvPr/>
        </p:nvSpPr>
        <p:spPr>
          <a:xfrm>
            <a:off x="978408" y="7626096"/>
            <a:ext cx="12893040" cy="44805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35" b="0">
                <a:solidFill>
                  <a:srgbClr val="1F344E"/>
                </a:solidFill>
                <a:latin typeface="Aptos"/>
              </a:rPr>
              <a:t>Finder 14(−) and SSR −2 belong to the switched POSITIVE conductor, not DC negative. | Size the protective breaker, relay/socket, output connector, cable and SSR heat sink for the operating duty.</a:t>
            </a:r>
          </a:p>
        </p:txBody>
      </p:sp>
      <p:sp>
        <p:nvSpPr>
          <p:cNvPr id="86" name="KEY"/>
          <p:cNvSpPr/>
          <p:nvPr/>
        </p:nvSpPr>
        <p:spPr>
          <a:xfrm>
            <a:off x="11155680" y="640080"/>
            <a:ext cx="320040" cy="27432"/>
          </a:xfrm>
          <a:prstGeom prst="rect">
            <a:avLst/>
          </a:prstGeom>
          <a:solidFill>
            <a:srgbClr val="B23E4C"/>
          </a:solidFill>
          <a:ln w="1270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 Switched positive"/>
          <p:cNvSpPr txBox="1"/>
          <p:nvPr/>
        </p:nvSpPr>
        <p:spPr>
          <a:xfrm>
            <a:off x="11548872" y="539496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Switched positive</a:t>
            </a:r>
          </a:p>
        </p:txBody>
      </p:sp>
      <p:sp>
        <p:nvSpPr>
          <p:cNvPr id="88" name="KEY"/>
          <p:cNvSpPr/>
          <p:nvPr/>
        </p:nvSpPr>
        <p:spPr>
          <a:xfrm>
            <a:off x="11155680" y="941832"/>
            <a:ext cx="320040" cy="27432"/>
          </a:xfrm>
          <a:prstGeom prst="rect">
            <a:avLst/>
          </a:prstGeom>
          <a:solidFill>
            <a:srgbClr val="607184"/>
          </a:solidFill>
          <a:ln w="1270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 Separate DC− return"/>
          <p:cNvSpPr txBox="1"/>
          <p:nvPr/>
        </p:nvSpPr>
        <p:spPr>
          <a:xfrm>
            <a:off x="11548872" y="841248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Separate DC− return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9  /  CONNECTION SCHEDUL"/>
          <p:cNvSpPr txBox="1"/>
          <p:nvPr/>
        </p:nvSpPr>
        <p:spPr>
          <a:xfrm>
            <a:off x="566928" y="320040"/>
            <a:ext cx="13917168" cy="44805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2200" b="1">
                <a:solidFill>
                  <a:srgbClr val="1F344E"/>
                </a:solidFill>
                <a:latin typeface="Aptos"/>
              </a:rPr>
              <a:t>12  /  CONNECTION SCHEDULE / MAINS + 24 V DISTRIBUTION</a:t>
            </a:r>
          </a:p>
        </p:txBody>
      </p:sp>
      <p:sp>
        <p:nvSpPr>
          <p:cNvPr id="3" name="TEXT Functional point-to-point"/>
          <p:cNvSpPr txBox="1"/>
          <p:nvPr/>
        </p:nvSpPr>
        <p:spPr>
          <a:xfrm>
            <a:off x="585216" y="886968"/>
            <a:ext cx="13752576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60" b="0">
                <a:solidFill>
                  <a:srgbClr val="607084"/>
                </a:solidFill>
                <a:latin typeface="Aptos"/>
              </a:rPr>
              <a:t>Terminal references for the three mains destinations, the 24 V supply and two independent control channels.</a:t>
            </a:r>
          </a:p>
        </p:txBody>
      </p:sp>
      <p:sp>
        <p:nvSpPr>
          <p:cNvPr id="4" name="HEADER RULE"/>
          <p:cNvSpPr/>
          <p:nvPr/>
        </p:nvSpPr>
        <p:spPr>
          <a:xfrm>
            <a:off x="566928" y="1325880"/>
            <a:ext cx="13953744" cy="32004"/>
          </a:xfrm>
          <a:prstGeom prst="rect">
            <a:avLst/>
          </a:prstGeom>
          <a:solidFill>
            <a:srgbClr val="1D599B"/>
          </a:solidFill>
          <a:ln w="1270">
            <a:solidFill>
              <a:srgbClr val="1D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TERMINAL-LEVEL REFERENCE "/>
          <p:cNvSpPr txBox="1"/>
          <p:nvPr/>
        </p:nvSpPr>
        <p:spPr>
          <a:xfrm>
            <a:off x="603504" y="1490472"/>
            <a:ext cx="1353312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10" b="1">
                <a:solidFill>
                  <a:srgbClr val="1D599B"/>
                </a:solidFill>
                <a:latin typeface="Aptos"/>
              </a:rPr>
              <a:t>TERMINAL-LEVEL REFERENCE   /   MAINS AND 24 V</a:t>
            </a:r>
          </a:p>
        </p:txBody>
      </p:sp>
      <p:sp>
        <p:nvSpPr>
          <p:cNvPr id="6" name="ENGINEERING REVIEW NOTE"/>
          <p:cNvSpPr/>
          <p:nvPr/>
        </p:nvSpPr>
        <p:spPr>
          <a:xfrm>
            <a:off x="658368" y="8979408"/>
            <a:ext cx="13533120" cy="566928"/>
          </a:xfrm>
          <a:prstGeom prst="roundRect">
            <a:avLst>
              <a:gd name="adj" fmla="val 5500"/>
            </a:avLst>
          </a:prstGeom>
          <a:solidFill>
            <a:srgbClr val="FFF7E9"/>
          </a:solidFill>
          <a:ln w="9525">
            <a:solidFill>
              <a:srgbClr val="DAB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 DESIGN REVIEW ONLY  |  Te"/>
          <p:cNvSpPr txBox="1"/>
          <p:nvPr/>
        </p:nvSpPr>
        <p:spPr>
          <a:xfrm>
            <a:off x="822960" y="9079992"/>
            <a:ext cx="13167360" cy="31089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5" b="1">
                <a:solidFill>
                  <a:srgbClr val="A35B1B"/>
                </a:solidFill>
                <a:latin typeface="Aptos"/>
              </a:rPr>
              <a:t>REFERENCE WIRING   /   230 V AC CONTROL SUPPLY  •  24 V DC CONTROLS  •  0–60 V DC HEATER CIRCUITS</a:t>
            </a:r>
          </a:p>
        </p:txBody>
      </p:sp>
      <p:sp>
        <p:nvSpPr>
          <p:cNvPr id="8" name="TEXT HEATING RATE CONTROLLER  "/>
          <p:cNvSpPr txBox="1"/>
          <p:nvPr/>
        </p:nvSpPr>
        <p:spPr>
          <a:xfrm>
            <a:off x="649224" y="9820656"/>
            <a:ext cx="117043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HEATING RATE CONTROLLER   /   REFERENCE ELECTRICAL WIRING   /   R1.2  ·  26 OCT 2026</a:t>
            </a:r>
          </a:p>
        </p:txBody>
      </p:sp>
      <p:sp>
        <p:nvSpPr>
          <p:cNvPr id="9" name="TEXT SHEET 09"/>
          <p:cNvSpPr txBox="1"/>
          <p:nvPr/>
        </p:nvSpPr>
        <p:spPr>
          <a:xfrm>
            <a:off x="12984480" y="9820656"/>
            <a:ext cx="11887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r"/>
            <a:r>
              <a:rPr sz="860" b="1">
                <a:solidFill>
                  <a:srgbClr val="607084"/>
                </a:solidFill>
                <a:latin typeface="Aptos"/>
              </a:rPr>
              <a:t>SHEET 12 / 14</a:t>
            </a:r>
          </a:p>
        </p:txBody>
      </p:sp>
      <p:sp>
        <p:nvSpPr>
          <p:cNvPr id="10" name="TEXT Any X1–X4 numbers are log"/>
          <p:cNvSpPr txBox="1"/>
          <p:nvPr/>
        </p:nvSpPr>
        <p:spPr>
          <a:xfrm>
            <a:off x="667512" y="9537192"/>
            <a:ext cx="13560552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00" b="0">
                <a:solidFill>
                  <a:srgbClr val="607084"/>
                </a:solidFill>
                <a:latin typeface="Aptos"/>
              </a:rPr>
              <a:t>Terminal positions on X1/X2 and X3/X4 are assigned individually on Sheets 02 and 03.</a:t>
            </a:r>
          </a:p>
        </p:txBody>
      </p:sp>
      <p:sp>
        <p:nvSpPr>
          <p:cNvPr id="11" name="NET ROW AC01"/>
          <p:cNvSpPr/>
          <p:nvPr/>
        </p:nvSpPr>
        <p:spPr>
          <a:xfrm>
            <a:off x="832104" y="1883664"/>
            <a:ext cx="13231368" cy="429768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8255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OMPONENT"/>
          <p:cNvSpPr/>
          <p:nvPr/>
        </p:nvSpPr>
        <p:spPr>
          <a:xfrm>
            <a:off x="950976" y="2002536"/>
            <a:ext cx="118872" cy="173736"/>
          </a:xfrm>
          <a:prstGeom prst="rect">
            <a:avLst/>
          </a:prstGeom>
          <a:solidFill>
            <a:srgbClr val="9A5127"/>
          </a:solidFill>
          <a:ln w="1270">
            <a:solidFill>
              <a:srgbClr val="9A5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 AC01"/>
          <p:cNvSpPr txBox="1"/>
          <p:nvPr/>
        </p:nvSpPr>
        <p:spPr>
          <a:xfrm>
            <a:off x="1197864" y="1947672"/>
            <a:ext cx="923544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1D599B"/>
                </a:solidFill>
                <a:latin typeface="Aptos"/>
              </a:rPr>
              <a:t>AC01</a:t>
            </a:r>
          </a:p>
        </p:txBody>
      </p:sp>
      <p:sp>
        <p:nvSpPr>
          <p:cNvPr id="14" name="TEXT J1 switched fused L"/>
          <p:cNvSpPr txBox="1"/>
          <p:nvPr/>
        </p:nvSpPr>
        <p:spPr>
          <a:xfrm>
            <a:off x="2194560" y="1947672"/>
            <a:ext cx="5166360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J1 switched fused L</a:t>
            </a:r>
          </a:p>
        </p:txBody>
      </p:sp>
      <p:sp>
        <p:nvSpPr>
          <p:cNvPr id="15" name="TEXT →"/>
          <p:cNvSpPr txBox="1"/>
          <p:nvPr/>
        </p:nvSpPr>
        <p:spPr>
          <a:xfrm>
            <a:off x="7424927" y="1956816"/>
            <a:ext cx="256032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9A5127"/>
                </a:solidFill>
                <a:latin typeface="Aptos"/>
              </a:rPr>
              <a:t>→</a:t>
            </a:r>
          </a:p>
        </p:txBody>
      </p:sp>
      <p:sp>
        <p:nvSpPr>
          <p:cNvPr id="16" name="TEXT X1:L bus"/>
          <p:cNvSpPr txBox="1"/>
          <p:nvPr/>
        </p:nvSpPr>
        <p:spPr>
          <a:xfrm>
            <a:off x="7790688" y="1947672"/>
            <a:ext cx="5952744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X1-L: mains live (brown block)</a:t>
            </a:r>
          </a:p>
        </p:txBody>
      </p:sp>
      <p:sp>
        <p:nvSpPr>
          <p:cNvPr id="17" name="NET ROW AC02"/>
          <p:cNvSpPr/>
          <p:nvPr/>
        </p:nvSpPr>
        <p:spPr>
          <a:xfrm>
            <a:off x="832104" y="2368296"/>
            <a:ext cx="13231368" cy="429768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8255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OMPONENT"/>
          <p:cNvSpPr/>
          <p:nvPr/>
        </p:nvSpPr>
        <p:spPr>
          <a:xfrm>
            <a:off x="950976" y="2487168"/>
            <a:ext cx="118872" cy="173736"/>
          </a:xfrm>
          <a:prstGeom prst="rect">
            <a:avLst/>
          </a:prstGeom>
          <a:solidFill>
            <a:srgbClr val="1A5BAE"/>
          </a:solidFill>
          <a:ln w="1270">
            <a:solidFill>
              <a:srgbClr val="1A5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 AC02"/>
          <p:cNvSpPr txBox="1"/>
          <p:nvPr/>
        </p:nvSpPr>
        <p:spPr>
          <a:xfrm>
            <a:off x="1197864" y="2432303"/>
            <a:ext cx="923544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1D599B"/>
                </a:solidFill>
                <a:latin typeface="Aptos"/>
              </a:rPr>
              <a:t>AC02</a:t>
            </a:r>
          </a:p>
        </p:txBody>
      </p:sp>
      <p:sp>
        <p:nvSpPr>
          <p:cNvPr id="20" name="TEXT J1 switched N"/>
          <p:cNvSpPr txBox="1"/>
          <p:nvPr/>
        </p:nvSpPr>
        <p:spPr>
          <a:xfrm>
            <a:off x="2194560" y="2432303"/>
            <a:ext cx="5166360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J1 switched N</a:t>
            </a:r>
          </a:p>
        </p:txBody>
      </p:sp>
      <p:sp>
        <p:nvSpPr>
          <p:cNvPr id="21" name="TEXT →"/>
          <p:cNvSpPr txBox="1"/>
          <p:nvPr/>
        </p:nvSpPr>
        <p:spPr>
          <a:xfrm>
            <a:off x="7424927" y="2441448"/>
            <a:ext cx="256032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1A5BAE"/>
                </a:solidFill>
                <a:latin typeface="Aptos"/>
              </a:rPr>
              <a:t>→</a:t>
            </a:r>
          </a:p>
        </p:txBody>
      </p:sp>
      <p:sp>
        <p:nvSpPr>
          <p:cNvPr id="22" name="TEXT X1:N bus"/>
          <p:cNvSpPr txBox="1"/>
          <p:nvPr/>
        </p:nvSpPr>
        <p:spPr>
          <a:xfrm>
            <a:off x="7790688" y="2432303"/>
            <a:ext cx="5952744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X1-N: mains neutral (blue block)</a:t>
            </a:r>
          </a:p>
        </p:txBody>
      </p:sp>
      <p:sp>
        <p:nvSpPr>
          <p:cNvPr id="23" name="NET ROW AC03"/>
          <p:cNvSpPr/>
          <p:nvPr/>
        </p:nvSpPr>
        <p:spPr>
          <a:xfrm>
            <a:off x="832104" y="2852928"/>
            <a:ext cx="13231368" cy="429768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8255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OMPONENT"/>
          <p:cNvSpPr/>
          <p:nvPr/>
        </p:nvSpPr>
        <p:spPr>
          <a:xfrm>
            <a:off x="950976" y="2971800"/>
            <a:ext cx="118872" cy="173736"/>
          </a:xfrm>
          <a:prstGeom prst="rect">
            <a:avLst/>
          </a:prstGeom>
          <a:solidFill>
            <a:srgbClr val="16834A"/>
          </a:solidFill>
          <a:ln w="1270">
            <a:solidFill>
              <a:srgbClr val="168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 AC03"/>
          <p:cNvSpPr txBox="1"/>
          <p:nvPr/>
        </p:nvSpPr>
        <p:spPr>
          <a:xfrm>
            <a:off x="1197864" y="2916936"/>
            <a:ext cx="923544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1D599B"/>
                </a:solidFill>
                <a:latin typeface="Aptos"/>
              </a:rPr>
              <a:t>AC03</a:t>
            </a:r>
          </a:p>
        </p:txBody>
      </p:sp>
      <p:sp>
        <p:nvSpPr>
          <p:cNvPr id="26" name="TEXT J1:PE"/>
          <p:cNvSpPr txBox="1"/>
          <p:nvPr/>
        </p:nvSpPr>
        <p:spPr>
          <a:xfrm>
            <a:off x="2194560" y="2916936"/>
            <a:ext cx="5166360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J1:PE</a:t>
            </a:r>
          </a:p>
        </p:txBody>
      </p:sp>
      <p:sp>
        <p:nvSpPr>
          <p:cNvPr id="27" name="TEXT →"/>
          <p:cNvSpPr txBox="1"/>
          <p:nvPr/>
        </p:nvSpPr>
        <p:spPr>
          <a:xfrm>
            <a:off x="7424927" y="2926080"/>
            <a:ext cx="256032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16834A"/>
                </a:solidFill>
                <a:latin typeface="Aptos"/>
              </a:rPr>
              <a:t>→</a:t>
            </a:r>
          </a:p>
        </p:txBody>
      </p:sp>
      <p:sp>
        <p:nvSpPr>
          <p:cNvPr id="28" name="TEXT X1:PE + chassis bonds"/>
          <p:cNvSpPr txBox="1"/>
          <p:nvPr/>
        </p:nvSpPr>
        <p:spPr>
          <a:xfrm>
            <a:off x="7790688" y="2916936"/>
            <a:ext cx="5952744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X1-PE: cabinet protective earth</a:t>
            </a:r>
          </a:p>
        </p:txBody>
      </p:sp>
      <p:sp>
        <p:nvSpPr>
          <p:cNvPr id="29" name="NET ROW AC04"/>
          <p:cNvSpPr/>
          <p:nvPr/>
        </p:nvSpPr>
        <p:spPr>
          <a:xfrm>
            <a:off x="832104" y="3337560"/>
            <a:ext cx="13231368" cy="429768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8255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COMPONENT"/>
          <p:cNvSpPr/>
          <p:nvPr/>
        </p:nvSpPr>
        <p:spPr>
          <a:xfrm>
            <a:off x="950976" y="3456432"/>
            <a:ext cx="118872" cy="173736"/>
          </a:xfrm>
          <a:prstGeom prst="rect">
            <a:avLst/>
          </a:prstGeom>
          <a:solidFill>
            <a:srgbClr val="9A5127"/>
          </a:solidFill>
          <a:ln w="1270">
            <a:solidFill>
              <a:srgbClr val="9A5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 AC04"/>
          <p:cNvSpPr txBox="1"/>
          <p:nvPr/>
        </p:nvSpPr>
        <p:spPr>
          <a:xfrm>
            <a:off x="1197864" y="3401568"/>
            <a:ext cx="923544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1D599B"/>
                </a:solidFill>
                <a:latin typeface="Aptos"/>
              </a:rPr>
              <a:t>AC04</a:t>
            </a:r>
          </a:p>
        </p:txBody>
      </p:sp>
      <p:sp>
        <p:nvSpPr>
          <p:cNvPr id="32" name="TEXT X1:L / N / PE"/>
          <p:cNvSpPr txBox="1"/>
          <p:nvPr/>
        </p:nvSpPr>
        <p:spPr>
          <a:xfrm>
            <a:off x="2194560" y="3401568"/>
            <a:ext cx="5166360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X1:L / N / PE</a:t>
            </a:r>
          </a:p>
        </p:txBody>
      </p:sp>
      <p:sp>
        <p:nvSpPr>
          <p:cNvPr id="33" name="TEXT →"/>
          <p:cNvSpPr txBox="1"/>
          <p:nvPr/>
        </p:nvSpPr>
        <p:spPr>
          <a:xfrm>
            <a:off x="7424927" y="3410712"/>
            <a:ext cx="256032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9A5127"/>
                </a:solidFill>
                <a:latin typeface="Aptos"/>
              </a:rPr>
              <a:t>→</a:t>
            </a:r>
          </a:p>
        </p:txBody>
      </p:sp>
      <p:sp>
        <p:nvSpPr>
          <p:cNvPr id="34" name="TEXT PS1:C1 / C2 / C3"/>
          <p:cNvSpPr txBox="1"/>
          <p:nvPr/>
        </p:nvSpPr>
        <p:spPr>
          <a:xfrm>
            <a:off x="7790688" y="3401568"/>
            <a:ext cx="5952744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80" b="0">
                <a:solidFill>
                  <a:srgbClr val="1F344E"/>
                </a:solidFill>
                <a:latin typeface="Aptos"/>
              </a:rPr>
              <a:t>PS1:C1 (L), C2 (N), C3 (PE)</a:t>
            </a:r>
          </a:p>
        </p:txBody>
      </p:sp>
      <p:sp>
        <p:nvSpPr>
          <p:cNvPr id="35" name="NET ROW AC05"/>
          <p:cNvSpPr/>
          <p:nvPr/>
        </p:nvSpPr>
        <p:spPr>
          <a:xfrm>
            <a:off x="832104" y="3822191"/>
            <a:ext cx="13231368" cy="429768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8255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COMPONENT"/>
          <p:cNvSpPr/>
          <p:nvPr/>
        </p:nvSpPr>
        <p:spPr>
          <a:xfrm>
            <a:off x="950976" y="3941063"/>
            <a:ext cx="118872" cy="173736"/>
          </a:xfrm>
          <a:prstGeom prst="rect">
            <a:avLst/>
          </a:prstGeom>
          <a:solidFill>
            <a:srgbClr val="9A5127"/>
          </a:solidFill>
          <a:ln w="1270">
            <a:solidFill>
              <a:srgbClr val="9A5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 AC05"/>
          <p:cNvSpPr txBox="1"/>
          <p:nvPr/>
        </p:nvSpPr>
        <p:spPr>
          <a:xfrm>
            <a:off x="1197864" y="3886200"/>
            <a:ext cx="923544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1D599B"/>
                </a:solidFill>
                <a:latin typeface="Aptos"/>
              </a:rPr>
              <a:t>AC05</a:t>
            </a:r>
          </a:p>
        </p:txBody>
      </p:sp>
      <p:sp>
        <p:nvSpPr>
          <p:cNvPr id="38" name="TEXT X1:L → S1-A:13/14"/>
          <p:cNvSpPr txBox="1"/>
          <p:nvPr/>
        </p:nvSpPr>
        <p:spPr>
          <a:xfrm>
            <a:off x="2194560" y="3886200"/>
            <a:ext cx="5166360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80" b="0">
                <a:solidFill>
                  <a:srgbClr val="1F344E"/>
                </a:solidFill>
                <a:latin typeface="Aptos"/>
              </a:rPr>
              <a:t>X1:L → S1-A:13→14</a:t>
            </a:r>
          </a:p>
        </p:txBody>
      </p:sp>
      <p:sp>
        <p:nvSpPr>
          <p:cNvPr id="39" name="TEXT →"/>
          <p:cNvSpPr txBox="1"/>
          <p:nvPr/>
        </p:nvSpPr>
        <p:spPr>
          <a:xfrm>
            <a:off x="7424927" y="3895344"/>
            <a:ext cx="256032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9A5127"/>
                </a:solidFill>
                <a:latin typeface="Aptos"/>
              </a:rPr>
              <a:t>→</a:t>
            </a:r>
          </a:p>
        </p:txBody>
      </p:sp>
      <p:sp>
        <p:nvSpPr>
          <p:cNvPr id="40" name="TEXT E1:11 (L)"/>
          <p:cNvSpPr txBox="1"/>
          <p:nvPr/>
        </p:nvSpPr>
        <p:spPr>
          <a:xfrm>
            <a:off x="7790688" y="3886200"/>
            <a:ext cx="5952744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E1:11 (L)</a:t>
            </a:r>
          </a:p>
        </p:txBody>
      </p:sp>
      <p:sp>
        <p:nvSpPr>
          <p:cNvPr id="41" name="NET ROW AC06"/>
          <p:cNvSpPr/>
          <p:nvPr/>
        </p:nvSpPr>
        <p:spPr>
          <a:xfrm>
            <a:off x="832104" y="4306824"/>
            <a:ext cx="13231368" cy="429768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8255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COMPONENT"/>
          <p:cNvSpPr/>
          <p:nvPr/>
        </p:nvSpPr>
        <p:spPr>
          <a:xfrm>
            <a:off x="950976" y="4425696"/>
            <a:ext cx="118872" cy="173736"/>
          </a:xfrm>
          <a:prstGeom prst="rect">
            <a:avLst/>
          </a:prstGeom>
          <a:solidFill>
            <a:srgbClr val="1A5BAE"/>
          </a:solidFill>
          <a:ln w="1270">
            <a:solidFill>
              <a:srgbClr val="1A5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 AC06"/>
          <p:cNvSpPr txBox="1"/>
          <p:nvPr/>
        </p:nvSpPr>
        <p:spPr>
          <a:xfrm>
            <a:off x="1197864" y="4370832"/>
            <a:ext cx="923544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1D599B"/>
                </a:solidFill>
                <a:latin typeface="Aptos"/>
              </a:rPr>
              <a:t>AC06</a:t>
            </a:r>
          </a:p>
        </p:txBody>
      </p:sp>
      <p:sp>
        <p:nvSpPr>
          <p:cNvPr id="44" name="TEXT X1:N bus"/>
          <p:cNvSpPr txBox="1"/>
          <p:nvPr/>
        </p:nvSpPr>
        <p:spPr>
          <a:xfrm>
            <a:off x="2194560" y="4370832"/>
            <a:ext cx="5166360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X1:N bus</a:t>
            </a:r>
          </a:p>
        </p:txBody>
      </p:sp>
      <p:sp>
        <p:nvSpPr>
          <p:cNvPr id="45" name="TEXT →"/>
          <p:cNvSpPr txBox="1"/>
          <p:nvPr/>
        </p:nvSpPr>
        <p:spPr>
          <a:xfrm>
            <a:off x="7424927" y="4379976"/>
            <a:ext cx="256032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1A5BAE"/>
                </a:solidFill>
                <a:latin typeface="Aptos"/>
              </a:rPr>
              <a:t>→</a:t>
            </a:r>
          </a:p>
        </p:txBody>
      </p:sp>
      <p:sp>
        <p:nvSpPr>
          <p:cNvPr id="46" name="TEXT E1:12 (N)"/>
          <p:cNvSpPr txBox="1"/>
          <p:nvPr/>
        </p:nvSpPr>
        <p:spPr>
          <a:xfrm>
            <a:off x="7790688" y="4370832"/>
            <a:ext cx="5952744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E1:12 (N)</a:t>
            </a:r>
          </a:p>
        </p:txBody>
      </p:sp>
      <p:sp>
        <p:nvSpPr>
          <p:cNvPr id="47" name="NET ROW AC07"/>
          <p:cNvSpPr/>
          <p:nvPr/>
        </p:nvSpPr>
        <p:spPr>
          <a:xfrm>
            <a:off x="832104" y="4791456"/>
            <a:ext cx="13231368" cy="429768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8255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COMPONENT"/>
          <p:cNvSpPr/>
          <p:nvPr/>
        </p:nvSpPr>
        <p:spPr>
          <a:xfrm>
            <a:off x="950976" y="4910328"/>
            <a:ext cx="118872" cy="173736"/>
          </a:xfrm>
          <a:prstGeom prst="rect">
            <a:avLst/>
          </a:prstGeom>
          <a:solidFill>
            <a:srgbClr val="9A5127"/>
          </a:solidFill>
          <a:ln w="1270">
            <a:solidFill>
              <a:srgbClr val="9A5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 AC07"/>
          <p:cNvSpPr txBox="1"/>
          <p:nvPr/>
        </p:nvSpPr>
        <p:spPr>
          <a:xfrm>
            <a:off x="1197864" y="4855464"/>
            <a:ext cx="923544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1D599B"/>
                </a:solidFill>
                <a:latin typeface="Aptos"/>
              </a:rPr>
              <a:t>AC07</a:t>
            </a:r>
          </a:p>
        </p:txBody>
      </p:sp>
      <p:sp>
        <p:nvSpPr>
          <p:cNvPr id="50" name="TEXT X1:L → S2-A:13/14"/>
          <p:cNvSpPr txBox="1"/>
          <p:nvPr/>
        </p:nvSpPr>
        <p:spPr>
          <a:xfrm>
            <a:off x="2194560" y="4855464"/>
            <a:ext cx="5166360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80" b="0">
                <a:solidFill>
                  <a:srgbClr val="1F344E"/>
                </a:solidFill>
                <a:latin typeface="Aptos"/>
              </a:rPr>
              <a:t>X1:L → S2-A:13→14</a:t>
            </a:r>
          </a:p>
        </p:txBody>
      </p:sp>
      <p:sp>
        <p:nvSpPr>
          <p:cNvPr id="51" name="TEXT →"/>
          <p:cNvSpPr txBox="1"/>
          <p:nvPr/>
        </p:nvSpPr>
        <p:spPr>
          <a:xfrm>
            <a:off x="7424927" y="4864608"/>
            <a:ext cx="256032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9A5127"/>
                </a:solidFill>
                <a:latin typeface="Aptos"/>
              </a:rPr>
              <a:t>→</a:t>
            </a:r>
          </a:p>
        </p:txBody>
      </p:sp>
      <p:sp>
        <p:nvSpPr>
          <p:cNvPr id="52" name="TEXT E2:11 (L)"/>
          <p:cNvSpPr txBox="1"/>
          <p:nvPr/>
        </p:nvSpPr>
        <p:spPr>
          <a:xfrm>
            <a:off x="7790688" y="4855464"/>
            <a:ext cx="5952744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E2:11 (L)</a:t>
            </a:r>
          </a:p>
        </p:txBody>
      </p:sp>
      <p:sp>
        <p:nvSpPr>
          <p:cNvPr id="53" name="NET ROW AC08"/>
          <p:cNvSpPr/>
          <p:nvPr/>
        </p:nvSpPr>
        <p:spPr>
          <a:xfrm>
            <a:off x="832104" y="5276088"/>
            <a:ext cx="13231368" cy="429768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8255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COMPONENT"/>
          <p:cNvSpPr/>
          <p:nvPr/>
        </p:nvSpPr>
        <p:spPr>
          <a:xfrm>
            <a:off x="950976" y="5394959"/>
            <a:ext cx="118872" cy="173736"/>
          </a:xfrm>
          <a:prstGeom prst="rect">
            <a:avLst/>
          </a:prstGeom>
          <a:solidFill>
            <a:srgbClr val="1A5BAE"/>
          </a:solidFill>
          <a:ln w="1270">
            <a:solidFill>
              <a:srgbClr val="1A5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 AC08"/>
          <p:cNvSpPr txBox="1"/>
          <p:nvPr/>
        </p:nvSpPr>
        <p:spPr>
          <a:xfrm>
            <a:off x="1197864" y="5340096"/>
            <a:ext cx="923544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1D599B"/>
                </a:solidFill>
                <a:latin typeface="Aptos"/>
              </a:rPr>
              <a:t>AC08</a:t>
            </a:r>
          </a:p>
        </p:txBody>
      </p:sp>
      <p:sp>
        <p:nvSpPr>
          <p:cNvPr id="56" name="TEXT X1:N bus"/>
          <p:cNvSpPr txBox="1"/>
          <p:nvPr/>
        </p:nvSpPr>
        <p:spPr>
          <a:xfrm>
            <a:off x="2194560" y="5340096"/>
            <a:ext cx="5166360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X1:N bus</a:t>
            </a:r>
          </a:p>
        </p:txBody>
      </p:sp>
      <p:sp>
        <p:nvSpPr>
          <p:cNvPr id="57" name="TEXT →"/>
          <p:cNvSpPr txBox="1"/>
          <p:nvPr/>
        </p:nvSpPr>
        <p:spPr>
          <a:xfrm>
            <a:off x="7424927" y="5349240"/>
            <a:ext cx="256032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1A5BAE"/>
                </a:solidFill>
                <a:latin typeface="Aptos"/>
              </a:rPr>
              <a:t>→</a:t>
            </a:r>
          </a:p>
        </p:txBody>
      </p:sp>
      <p:sp>
        <p:nvSpPr>
          <p:cNvPr id="58" name="TEXT E2:12 (N)"/>
          <p:cNvSpPr txBox="1"/>
          <p:nvPr/>
        </p:nvSpPr>
        <p:spPr>
          <a:xfrm>
            <a:off x="7790688" y="5340096"/>
            <a:ext cx="5952744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E2:12 (N)</a:t>
            </a:r>
          </a:p>
        </p:txBody>
      </p:sp>
      <p:sp>
        <p:nvSpPr>
          <p:cNvPr id="59" name="NET ROW DC01"/>
          <p:cNvSpPr/>
          <p:nvPr/>
        </p:nvSpPr>
        <p:spPr>
          <a:xfrm>
            <a:off x="832104" y="5760720"/>
            <a:ext cx="13231368" cy="429768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8255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COMPONENT"/>
          <p:cNvSpPr/>
          <p:nvPr/>
        </p:nvSpPr>
        <p:spPr>
          <a:xfrm>
            <a:off x="950976" y="5879592"/>
            <a:ext cx="118872" cy="173736"/>
          </a:xfrm>
          <a:prstGeom prst="rect">
            <a:avLst/>
          </a:prstGeom>
          <a:solidFill>
            <a:srgbClr val="008192"/>
          </a:solidFill>
          <a:ln w="127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 DC01"/>
          <p:cNvSpPr txBox="1"/>
          <p:nvPr/>
        </p:nvSpPr>
        <p:spPr>
          <a:xfrm>
            <a:off x="1197864" y="5824728"/>
            <a:ext cx="923544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1D599B"/>
                </a:solidFill>
                <a:latin typeface="Aptos"/>
              </a:rPr>
              <a:t>DC01</a:t>
            </a:r>
          </a:p>
        </p:txBody>
      </p:sp>
      <p:sp>
        <p:nvSpPr>
          <p:cNvPr id="62" name="TEXT PS1:A1 +Vo"/>
          <p:cNvSpPr txBox="1"/>
          <p:nvPr/>
        </p:nvSpPr>
        <p:spPr>
          <a:xfrm>
            <a:off x="2194560" y="5824728"/>
            <a:ext cx="5166360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PS1:A1 +Vo</a:t>
            </a:r>
          </a:p>
        </p:txBody>
      </p:sp>
      <p:sp>
        <p:nvSpPr>
          <p:cNvPr id="63" name="TEXT →"/>
          <p:cNvSpPr txBox="1"/>
          <p:nvPr/>
        </p:nvSpPr>
        <p:spPr>
          <a:xfrm>
            <a:off x="7424927" y="5833872"/>
            <a:ext cx="256032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008192"/>
                </a:solidFill>
                <a:latin typeface="Aptos"/>
              </a:rPr>
              <a:t>→</a:t>
            </a:r>
          </a:p>
        </p:txBody>
      </p:sp>
      <p:sp>
        <p:nvSpPr>
          <p:cNvPr id="64" name="TEXT X2:+24 V shared"/>
          <p:cNvSpPr txBox="1"/>
          <p:nvPr/>
        </p:nvSpPr>
        <p:spPr>
          <a:xfrm>
            <a:off x="7790688" y="5824728"/>
            <a:ext cx="5952744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X2-24 common +24 V</a:t>
            </a:r>
          </a:p>
        </p:txBody>
      </p:sp>
      <p:sp>
        <p:nvSpPr>
          <p:cNvPr id="65" name="NET ROW DC02"/>
          <p:cNvSpPr/>
          <p:nvPr/>
        </p:nvSpPr>
        <p:spPr>
          <a:xfrm>
            <a:off x="832104" y="6245352"/>
            <a:ext cx="13231368" cy="429768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8255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COMPONENT"/>
          <p:cNvSpPr/>
          <p:nvPr/>
        </p:nvSpPr>
        <p:spPr>
          <a:xfrm>
            <a:off x="950976" y="6364224"/>
            <a:ext cx="118872" cy="173736"/>
          </a:xfrm>
          <a:prstGeom prst="rect">
            <a:avLst/>
          </a:prstGeom>
          <a:solidFill>
            <a:srgbClr val="607184"/>
          </a:solidFill>
          <a:ln w="1270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 DC02"/>
          <p:cNvSpPr txBox="1"/>
          <p:nvPr/>
        </p:nvSpPr>
        <p:spPr>
          <a:xfrm>
            <a:off x="1197864" y="6309360"/>
            <a:ext cx="923544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1D599B"/>
                </a:solidFill>
                <a:latin typeface="Aptos"/>
              </a:rPr>
              <a:t>DC02</a:t>
            </a:r>
          </a:p>
        </p:txBody>
      </p:sp>
      <p:sp>
        <p:nvSpPr>
          <p:cNvPr id="68" name="TEXT PS1:A2/A3 −Vo"/>
          <p:cNvSpPr txBox="1"/>
          <p:nvPr/>
        </p:nvSpPr>
        <p:spPr>
          <a:xfrm>
            <a:off x="2194560" y="6309360"/>
            <a:ext cx="5166360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PS1:A2/A3 −Vo</a:t>
            </a:r>
          </a:p>
        </p:txBody>
      </p:sp>
      <p:sp>
        <p:nvSpPr>
          <p:cNvPr id="69" name="TEXT →"/>
          <p:cNvSpPr txBox="1"/>
          <p:nvPr/>
        </p:nvSpPr>
        <p:spPr>
          <a:xfrm>
            <a:off x="7424927" y="6318504"/>
            <a:ext cx="256032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607184"/>
                </a:solidFill>
                <a:latin typeface="Aptos"/>
              </a:rPr>
              <a:t>→</a:t>
            </a:r>
          </a:p>
        </p:txBody>
      </p:sp>
      <p:sp>
        <p:nvSpPr>
          <p:cNvPr id="70" name="TEXT X2:0 V shared"/>
          <p:cNvSpPr txBox="1"/>
          <p:nvPr/>
        </p:nvSpPr>
        <p:spPr>
          <a:xfrm>
            <a:off x="7790688" y="6309360"/>
            <a:ext cx="5952744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X2-0V common return</a:t>
            </a:r>
          </a:p>
        </p:txBody>
      </p:sp>
      <p:sp>
        <p:nvSpPr>
          <p:cNvPr id="71" name="NET ROW DC03"/>
          <p:cNvSpPr/>
          <p:nvPr/>
        </p:nvSpPr>
        <p:spPr>
          <a:xfrm>
            <a:off x="832104" y="6729984"/>
            <a:ext cx="13231368" cy="429768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8255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COMPONENT"/>
          <p:cNvSpPr/>
          <p:nvPr/>
        </p:nvSpPr>
        <p:spPr>
          <a:xfrm>
            <a:off x="950976" y="6848856"/>
            <a:ext cx="118872" cy="173736"/>
          </a:xfrm>
          <a:prstGeom prst="rect">
            <a:avLst/>
          </a:prstGeom>
          <a:solidFill>
            <a:srgbClr val="008192"/>
          </a:solidFill>
          <a:ln w="127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 DC03"/>
          <p:cNvSpPr txBox="1"/>
          <p:nvPr/>
        </p:nvSpPr>
        <p:spPr>
          <a:xfrm>
            <a:off x="1197864" y="6793992"/>
            <a:ext cx="923544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1D599B"/>
                </a:solidFill>
                <a:latin typeface="Aptos"/>
              </a:rPr>
              <a:t>DC03</a:t>
            </a:r>
          </a:p>
        </p:txBody>
      </p:sp>
      <p:sp>
        <p:nvSpPr>
          <p:cNvPr id="74" name="TEXT X2:+24 → S1-B NO"/>
          <p:cNvSpPr txBox="1"/>
          <p:nvPr/>
        </p:nvSpPr>
        <p:spPr>
          <a:xfrm>
            <a:off x="2194560" y="6793992"/>
            <a:ext cx="5166360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X2:+24 → S1-B:23/24*</a:t>
            </a:r>
          </a:p>
        </p:txBody>
      </p:sp>
      <p:sp>
        <p:nvSpPr>
          <p:cNvPr id="75" name="TEXT →"/>
          <p:cNvSpPr txBox="1"/>
          <p:nvPr/>
        </p:nvSpPr>
        <p:spPr>
          <a:xfrm>
            <a:off x="7424927" y="6803136"/>
            <a:ext cx="256032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008192"/>
                </a:solidFill>
                <a:latin typeface="Aptos"/>
              </a:rPr>
              <a:t>→</a:t>
            </a:r>
          </a:p>
        </p:txBody>
      </p:sp>
      <p:sp>
        <p:nvSpPr>
          <p:cNvPr id="76" name="TEXT X3:CH1 gated +24"/>
          <p:cNvSpPr txBox="1"/>
          <p:nvPr/>
        </p:nvSpPr>
        <p:spPr>
          <a:xfrm>
            <a:off x="7790688" y="6793992"/>
            <a:ext cx="5952744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X3-24G gated +24 V</a:t>
            </a:r>
          </a:p>
        </p:txBody>
      </p:sp>
      <p:sp>
        <p:nvSpPr>
          <p:cNvPr id="77" name="NET ROW DC04"/>
          <p:cNvSpPr/>
          <p:nvPr/>
        </p:nvSpPr>
        <p:spPr>
          <a:xfrm>
            <a:off x="832104" y="7214616"/>
            <a:ext cx="13231368" cy="429768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8255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COMPONENT"/>
          <p:cNvSpPr/>
          <p:nvPr/>
        </p:nvSpPr>
        <p:spPr>
          <a:xfrm>
            <a:off x="950976" y="7333488"/>
            <a:ext cx="118872" cy="173736"/>
          </a:xfrm>
          <a:prstGeom prst="rect">
            <a:avLst/>
          </a:prstGeom>
          <a:solidFill>
            <a:srgbClr val="008192"/>
          </a:solidFill>
          <a:ln w="127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 DC04"/>
          <p:cNvSpPr txBox="1"/>
          <p:nvPr/>
        </p:nvSpPr>
        <p:spPr>
          <a:xfrm>
            <a:off x="1197864" y="7278624"/>
            <a:ext cx="923544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1D599B"/>
                </a:solidFill>
                <a:latin typeface="Aptos"/>
              </a:rPr>
              <a:t>DC04</a:t>
            </a:r>
          </a:p>
        </p:txBody>
      </p:sp>
      <p:sp>
        <p:nvSpPr>
          <p:cNvPr id="80" name="TEXT X2:+24 → S2-B NO"/>
          <p:cNvSpPr txBox="1"/>
          <p:nvPr/>
        </p:nvSpPr>
        <p:spPr>
          <a:xfrm>
            <a:off x="2194560" y="7278624"/>
            <a:ext cx="5166360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X2:+24 → S2-B:23/24*</a:t>
            </a:r>
          </a:p>
        </p:txBody>
      </p:sp>
      <p:sp>
        <p:nvSpPr>
          <p:cNvPr id="81" name="TEXT →"/>
          <p:cNvSpPr txBox="1"/>
          <p:nvPr/>
        </p:nvSpPr>
        <p:spPr>
          <a:xfrm>
            <a:off x="7424927" y="7287768"/>
            <a:ext cx="256032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008192"/>
                </a:solidFill>
                <a:latin typeface="Aptos"/>
              </a:rPr>
              <a:t>→</a:t>
            </a:r>
          </a:p>
        </p:txBody>
      </p:sp>
      <p:sp>
        <p:nvSpPr>
          <p:cNvPr id="82" name="TEXT X4:CH2 gated +24"/>
          <p:cNvSpPr txBox="1"/>
          <p:nvPr/>
        </p:nvSpPr>
        <p:spPr>
          <a:xfrm>
            <a:off x="7790688" y="7278624"/>
            <a:ext cx="5952744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X4-24G gated +24 V</a:t>
            </a:r>
          </a:p>
        </p:txBody>
      </p:sp>
      <p:sp>
        <p:nvSpPr>
          <p:cNvPr id="83" name="NET ROW DC05"/>
          <p:cNvSpPr/>
          <p:nvPr/>
        </p:nvSpPr>
        <p:spPr>
          <a:xfrm>
            <a:off x="832104" y="7699248"/>
            <a:ext cx="13231368" cy="429768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8255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COMPONENT"/>
          <p:cNvSpPr/>
          <p:nvPr/>
        </p:nvSpPr>
        <p:spPr>
          <a:xfrm>
            <a:off x="950976" y="7818120"/>
            <a:ext cx="118872" cy="173736"/>
          </a:xfrm>
          <a:prstGeom prst="rect">
            <a:avLst/>
          </a:prstGeom>
          <a:solidFill>
            <a:srgbClr val="607184"/>
          </a:solidFill>
          <a:ln w="1270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 DC05"/>
          <p:cNvSpPr txBox="1"/>
          <p:nvPr/>
        </p:nvSpPr>
        <p:spPr>
          <a:xfrm>
            <a:off x="1197864" y="7763256"/>
            <a:ext cx="923544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1D599B"/>
                </a:solidFill>
                <a:latin typeface="Aptos"/>
              </a:rPr>
              <a:t>DC05</a:t>
            </a:r>
          </a:p>
        </p:txBody>
      </p:sp>
      <p:sp>
        <p:nvSpPr>
          <p:cNvPr id="86" name="TEXT X2:0 V shared"/>
          <p:cNvSpPr txBox="1"/>
          <p:nvPr/>
        </p:nvSpPr>
        <p:spPr>
          <a:xfrm>
            <a:off x="2194560" y="7763256"/>
            <a:ext cx="5166360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X2:0 V shared</a:t>
            </a:r>
          </a:p>
        </p:txBody>
      </p:sp>
      <p:sp>
        <p:nvSpPr>
          <p:cNvPr id="87" name="TEXT →"/>
          <p:cNvSpPr txBox="1"/>
          <p:nvPr/>
        </p:nvSpPr>
        <p:spPr>
          <a:xfrm>
            <a:off x="7424927" y="7772400"/>
            <a:ext cx="256032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607184"/>
                </a:solidFill>
                <a:latin typeface="Aptos"/>
              </a:rPr>
              <a:t>→</a:t>
            </a:r>
          </a:p>
        </p:txBody>
      </p:sp>
      <p:sp>
        <p:nvSpPr>
          <p:cNvPr id="88" name="TEXT X3 / X4 returns"/>
          <p:cNvSpPr txBox="1"/>
          <p:nvPr/>
        </p:nvSpPr>
        <p:spPr>
          <a:xfrm>
            <a:off x="7790688" y="7763256"/>
            <a:ext cx="5952744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K1/K2, SK3/SK4, SB1/SB2 and W1/W2</a:t>
            </a:r>
          </a:p>
        </p:txBody>
      </p:sp>
      <p:sp>
        <p:nvSpPr>
          <p:cNvPr id="89" name="TEXT Required before wiring: J"/>
          <p:cNvSpPr txBox="1"/>
          <p:nvPr/>
        </p:nvSpPr>
        <p:spPr>
          <a:xfrm>
            <a:off x="960120" y="8321040"/>
            <a:ext cx="12490704" cy="45720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00" b="0">
                <a:solidFill>
                  <a:srgbClr val="A35B1B"/>
                </a:solidFill>
                <a:latin typeface="Aptos"/>
              </a:rPr>
              <a:t>Mains: one inlet and three outgoing circuits for L and N. Common +24 V: one in and two out. Common 0 V: one in and eight out.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  /  CONNECTION SCHEDUL"/>
          <p:cNvSpPr txBox="1"/>
          <p:nvPr/>
        </p:nvSpPr>
        <p:spPr>
          <a:xfrm>
            <a:off x="566928" y="320040"/>
            <a:ext cx="13917168" cy="44805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2200" b="1">
                <a:solidFill>
                  <a:srgbClr val="1F344E"/>
                </a:solidFill>
                <a:latin typeface="Aptos"/>
              </a:rPr>
              <a:t>13  /  CONNECTION SCHEDULE / CONTROLS + HEATER</a:t>
            </a:r>
          </a:p>
        </p:txBody>
      </p:sp>
      <p:sp>
        <p:nvSpPr>
          <p:cNvPr id="3" name="TEXT Both channels follow equi"/>
          <p:cNvSpPr txBox="1"/>
          <p:nvPr/>
        </p:nvSpPr>
        <p:spPr>
          <a:xfrm>
            <a:off x="585216" y="886968"/>
            <a:ext cx="13752576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60" b="0">
                <a:solidFill>
                  <a:srgbClr val="607084"/>
                </a:solidFill>
                <a:latin typeface="Aptos"/>
              </a:rPr>
              <a:t>Functional point-to-point schedule for both control channels and the 0–60 V DC heater power circuits.</a:t>
            </a:r>
          </a:p>
        </p:txBody>
      </p:sp>
      <p:sp>
        <p:nvSpPr>
          <p:cNvPr id="4" name="HEADER RULE"/>
          <p:cNvSpPr/>
          <p:nvPr/>
        </p:nvSpPr>
        <p:spPr>
          <a:xfrm>
            <a:off x="566928" y="1325880"/>
            <a:ext cx="13953744" cy="32004"/>
          </a:xfrm>
          <a:prstGeom prst="rect">
            <a:avLst/>
          </a:prstGeom>
          <a:solidFill>
            <a:srgbClr val="1D599B"/>
          </a:solidFill>
          <a:ln w="1270">
            <a:solidFill>
              <a:srgbClr val="1D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TERMINAL-LEVEL REFERENCE "/>
          <p:cNvSpPr txBox="1"/>
          <p:nvPr/>
        </p:nvSpPr>
        <p:spPr>
          <a:xfrm>
            <a:off x="603504" y="1490472"/>
            <a:ext cx="1353312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10" b="1">
                <a:solidFill>
                  <a:srgbClr val="1D599B"/>
                </a:solidFill>
                <a:latin typeface="Aptos"/>
              </a:rPr>
              <a:t>TERMINAL-LEVEL REFERENCE   /   CHANNELS 1 AND 2</a:t>
            </a:r>
          </a:p>
        </p:txBody>
      </p:sp>
      <p:sp>
        <p:nvSpPr>
          <p:cNvPr id="6" name="ENGINEERING REVIEW NOTE"/>
          <p:cNvSpPr/>
          <p:nvPr/>
        </p:nvSpPr>
        <p:spPr>
          <a:xfrm>
            <a:off x="658368" y="8979408"/>
            <a:ext cx="13533120" cy="566928"/>
          </a:xfrm>
          <a:prstGeom prst="roundRect">
            <a:avLst>
              <a:gd name="adj" fmla="val 5500"/>
            </a:avLst>
          </a:prstGeom>
          <a:solidFill>
            <a:srgbClr val="FFF7E9"/>
          </a:solidFill>
          <a:ln w="9525">
            <a:solidFill>
              <a:srgbClr val="DAB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 DESIGN REVIEW ONLY  |  Te"/>
          <p:cNvSpPr txBox="1"/>
          <p:nvPr/>
        </p:nvSpPr>
        <p:spPr>
          <a:xfrm>
            <a:off x="822960" y="9079992"/>
            <a:ext cx="13167360" cy="31089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5" b="1">
                <a:solidFill>
                  <a:srgbClr val="A35B1B"/>
                </a:solidFill>
                <a:latin typeface="Aptos"/>
              </a:rPr>
              <a:t>REFERENCE WIRING   /   230 V AC CONTROL SUPPLY  •  24 V DC CONTROLS  •  0–60 V DC HEATER CIRCUITS</a:t>
            </a:r>
          </a:p>
        </p:txBody>
      </p:sp>
      <p:sp>
        <p:nvSpPr>
          <p:cNvPr id="8" name="TEXT HEATING RATE CONTROLLER  "/>
          <p:cNvSpPr txBox="1"/>
          <p:nvPr/>
        </p:nvSpPr>
        <p:spPr>
          <a:xfrm>
            <a:off x="649224" y="9820656"/>
            <a:ext cx="117043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HEATING RATE CONTROLLER   /   REFERENCE ELECTRICAL WIRING   /   R1.2  ·  26 OCT 2026</a:t>
            </a:r>
          </a:p>
        </p:txBody>
      </p:sp>
      <p:sp>
        <p:nvSpPr>
          <p:cNvPr id="9" name="TEXT SHEET 10"/>
          <p:cNvSpPr txBox="1"/>
          <p:nvPr/>
        </p:nvSpPr>
        <p:spPr>
          <a:xfrm>
            <a:off x="12984480" y="9820656"/>
            <a:ext cx="11887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r"/>
            <a:r>
              <a:rPr sz="860" b="1">
                <a:solidFill>
                  <a:srgbClr val="607084"/>
                </a:solidFill>
                <a:latin typeface="Aptos"/>
              </a:rPr>
              <a:t>SHEET 13 / 14</a:t>
            </a:r>
          </a:p>
        </p:txBody>
      </p:sp>
      <p:sp>
        <p:nvSpPr>
          <p:cNvPr id="10" name="TEXT The Finder 13.61 power-up"/>
          <p:cNvSpPr txBox="1"/>
          <p:nvPr/>
        </p:nvSpPr>
        <p:spPr>
          <a:xfrm>
            <a:off x="667512" y="9537192"/>
            <a:ext cx="13560552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90" b="0">
                <a:solidFill>
                  <a:srgbClr val="607084"/>
                </a:solidFill>
                <a:latin typeface="Aptos"/>
              </a:rPr>
              <a:t>All multiway nets are assigned to their own distribution groups; one conductor uses one terminal position.</a:t>
            </a:r>
          </a:p>
        </p:txBody>
      </p:sp>
      <p:sp>
        <p:nvSpPr>
          <p:cNvPr id="11" name="COMPONENT"/>
          <p:cNvSpPr/>
          <p:nvPr/>
        </p:nvSpPr>
        <p:spPr>
          <a:xfrm>
            <a:off x="795528" y="1865376"/>
            <a:ext cx="13523976" cy="59436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8636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 ENABLE / EACH CH"/>
          <p:cNvSpPr txBox="1"/>
          <p:nvPr/>
        </p:nvSpPr>
        <p:spPr>
          <a:xfrm>
            <a:off x="950976" y="1993392"/>
            <a:ext cx="2935224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D599B"/>
                </a:solidFill>
                <a:latin typeface="Aptos"/>
              </a:rPr>
              <a:t>ENABLE / EACH CH</a:t>
            </a:r>
          </a:p>
        </p:txBody>
      </p:sp>
      <p:sp>
        <p:nvSpPr>
          <p:cNvPr id="13" name="TEXT X3/4:+24 → Finder 13.61 p"/>
          <p:cNvSpPr txBox="1"/>
          <p:nvPr/>
        </p:nvSpPr>
        <p:spPr>
          <a:xfrm>
            <a:off x="3931920" y="1947672"/>
            <a:ext cx="10104120" cy="39319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1F344E"/>
                </a:solidFill>
                <a:latin typeface="Aptos"/>
              </a:rPr>
              <a:t>X3-24G / X4-24G → Finder L/+, 11 and button C. X2-0V → Finder N/−, 62.31 coil A2, EAO LED− and Weidmüller 14(−).</a:t>
            </a:r>
          </a:p>
        </p:txBody>
      </p:sp>
      <p:sp>
        <p:nvSpPr>
          <p:cNvPr id="14" name="COMPONENT"/>
          <p:cNvSpPr/>
          <p:nvPr/>
        </p:nvSpPr>
        <p:spPr>
          <a:xfrm>
            <a:off x="795528" y="2569464"/>
            <a:ext cx="13523976" cy="594360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8636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 MOMENTARY INPUT"/>
          <p:cNvSpPr txBox="1"/>
          <p:nvPr/>
        </p:nvSpPr>
        <p:spPr>
          <a:xfrm>
            <a:off x="950976" y="2697480"/>
            <a:ext cx="2935224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D599B"/>
                </a:solidFill>
                <a:latin typeface="Aptos"/>
              </a:rPr>
              <a:t>MOMENTARY INPUT</a:t>
            </a:r>
          </a:p>
        </p:txBody>
      </p:sp>
      <p:sp>
        <p:nvSpPr>
          <p:cNvPr id="16" name="TEXT EAO SB1/2:NO → Finder K1/"/>
          <p:cNvSpPr txBox="1"/>
          <p:nvPr/>
        </p:nvSpPr>
        <p:spPr>
          <a:xfrm>
            <a:off x="3931920" y="2651760"/>
            <a:ext cx="10104120" cy="39319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60" b="0">
                <a:solidFill>
                  <a:srgbClr val="1F344E"/>
                </a:solidFill>
                <a:latin typeface="Aptos"/>
              </a:rPr>
              <a:t>EAO NO → Finder 13.61 terminal 3; EAO C is fed by its channel gated +24 V distribution group.</a:t>
            </a:r>
          </a:p>
        </p:txBody>
      </p:sp>
      <p:sp>
        <p:nvSpPr>
          <p:cNvPr id="17" name="COMPONENT"/>
          <p:cNvSpPr/>
          <p:nvPr/>
        </p:nvSpPr>
        <p:spPr>
          <a:xfrm>
            <a:off x="795528" y="3273552"/>
            <a:ext cx="13523976" cy="59436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8636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 FINDER OUTPUT"/>
          <p:cNvSpPr txBox="1"/>
          <p:nvPr/>
        </p:nvSpPr>
        <p:spPr>
          <a:xfrm>
            <a:off x="950976" y="3401568"/>
            <a:ext cx="2935224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D599B"/>
                </a:solidFill>
                <a:latin typeface="Aptos"/>
              </a:rPr>
              <a:t>FINDER OUTPUT</a:t>
            </a:r>
          </a:p>
        </p:txBody>
      </p:sp>
      <p:sp>
        <p:nvSpPr>
          <p:cNvPr id="19" name="TEXT K1/2:14 (NO) → Finder 62."/>
          <p:cNvSpPr txBox="1"/>
          <p:nvPr/>
        </p:nvSpPr>
        <p:spPr>
          <a:xfrm>
            <a:off x="3931920" y="3355848"/>
            <a:ext cx="10104120" cy="39319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44" b="0">
                <a:solidFill>
                  <a:srgbClr val="1F344E"/>
                </a:solidFill>
                <a:latin typeface="Aptos"/>
              </a:rPr>
              <a:t>CH1: Finder 13.61 K1:14 → X3-EN1 → HL1:+; CH2: Finder K2:14 → X4-EN2 → HL2:+. EN also supplies 62.31 coil, EAO LED and SSR input.</a:t>
            </a:r>
          </a:p>
        </p:txBody>
      </p:sp>
      <p:sp>
        <p:nvSpPr>
          <p:cNvPr id="20" name="COMPONENT"/>
          <p:cNvSpPr/>
          <p:nvPr/>
        </p:nvSpPr>
        <p:spPr>
          <a:xfrm>
            <a:off x="795528" y="3977639"/>
            <a:ext cx="13523976" cy="594360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8636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 THERMOCOUPLE"/>
          <p:cNvSpPr txBox="1"/>
          <p:nvPr/>
        </p:nvSpPr>
        <p:spPr>
          <a:xfrm>
            <a:off x="950976" y="4105655"/>
            <a:ext cx="2935224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D599B"/>
                </a:solidFill>
                <a:latin typeface="Aptos"/>
              </a:rPr>
              <a:t>THERMOCOUPLE</a:t>
            </a:r>
          </a:p>
        </p:txBody>
      </p:sp>
      <p:sp>
        <p:nvSpPr>
          <p:cNvPr id="22" name="TEXT Type K sensor (+) → E1/E2"/>
          <p:cNvSpPr txBox="1"/>
          <p:nvPr/>
        </p:nvSpPr>
        <p:spPr>
          <a:xfrm>
            <a:off x="3931920" y="4059935"/>
            <a:ext cx="10104120" cy="39319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Type K sensor (+) → E1/E2:6; sensor (−) → E1/E2:5.</a:t>
            </a:r>
          </a:p>
        </p:txBody>
      </p:sp>
      <p:sp>
        <p:nvSpPr>
          <p:cNvPr id="23" name="COMPONENT"/>
          <p:cNvSpPr/>
          <p:nvPr/>
        </p:nvSpPr>
        <p:spPr>
          <a:xfrm>
            <a:off x="795528" y="4681728"/>
            <a:ext cx="13523976" cy="59436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8636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 OMRON / WEIDMÜLLER"/>
          <p:cNvSpPr txBox="1"/>
          <p:nvPr/>
        </p:nvSpPr>
        <p:spPr>
          <a:xfrm>
            <a:off x="950976" y="4809744"/>
            <a:ext cx="2935224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D599B"/>
                </a:solidFill>
                <a:latin typeface="Aptos"/>
              </a:rPr>
              <a:t>OMRON / WEIDMÜLLER</a:t>
            </a:r>
          </a:p>
        </p:txBody>
      </p:sp>
      <p:sp>
        <p:nvSpPr>
          <p:cNvPr id="25" name="TEXT E1/E2 SSR pulse terminals"/>
          <p:cNvSpPr txBox="1"/>
          <p:nvPr/>
        </p:nvSpPr>
        <p:spPr>
          <a:xfrm>
            <a:off x="3931920" y="4764024"/>
            <a:ext cx="10104120" cy="39319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40" b="0">
                <a:solidFill>
                  <a:srgbClr val="1F344E"/>
                </a:solidFill>
                <a:latin typeface="Aptos"/>
              </a:rPr>
              <a:t>Omron E1/E2 SSR demand 1(+), 2(−) → Weidmüller W1/W2 A1(+), A2(−): isolated 12 V control.</a:t>
            </a:r>
          </a:p>
        </p:txBody>
      </p:sp>
      <p:sp>
        <p:nvSpPr>
          <p:cNvPr id="26" name="COMPONENT"/>
          <p:cNvSpPr/>
          <p:nvPr/>
        </p:nvSpPr>
        <p:spPr>
          <a:xfrm>
            <a:off x="795528" y="5385816"/>
            <a:ext cx="13523976" cy="594360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8636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 WEID / SSR DRIVE"/>
          <p:cNvSpPr txBox="1"/>
          <p:nvPr/>
        </p:nvSpPr>
        <p:spPr>
          <a:xfrm>
            <a:off x="950976" y="5513832"/>
            <a:ext cx="2935224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D599B"/>
                </a:solidFill>
                <a:latin typeface="Aptos"/>
              </a:rPr>
              <a:t>WEID / SSR DRIVE</a:t>
            </a:r>
          </a:p>
        </p:txBody>
      </p:sp>
      <p:sp>
        <p:nvSpPr>
          <p:cNvPr id="28" name="TEXT Gated +24 → SSR+3 AND act"/>
          <p:cNvSpPr txBox="1"/>
          <p:nvPr/>
        </p:nvSpPr>
        <p:spPr>
          <a:xfrm>
            <a:off x="3931920" y="5468112"/>
            <a:ext cx="10104120" cy="39319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40" b="0">
                <a:solidFill>
                  <a:srgbClr val="1F344E"/>
                </a:solidFill>
                <a:latin typeface="Aptos"/>
              </a:rPr>
              <a:t>EN1 = K1:14; EN2 = K2:14. HL1/HL2 positives are EN loads (NOT selector 24G); negatives via X3/X4-DRV → W1/W2:13 → W:14 → X2-0V.</a:t>
            </a:r>
          </a:p>
        </p:txBody>
      </p:sp>
      <p:sp>
        <p:nvSpPr>
          <p:cNvPr id="29" name="COMPONENT"/>
          <p:cNvSpPr/>
          <p:nvPr/>
        </p:nvSpPr>
        <p:spPr>
          <a:xfrm>
            <a:off x="795528" y="6089904"/>
            <a:ext cx="13523976" cy="59436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8636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 DC POSITIVE"/>
          <p:cNvSpPr txBox="1"/>
          <p:nvPr/>
        </p:nvSpPr>
        <p:spPr>
          <a:xfrm>
            <a:off x="950976" y="6217920"/>
            <a:ext cx="2935224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D599B"/>
                </a:solidFill>
                <a:latin typeface="Aptos"/>
              </a:rPr>
              <a:t>DC POSITIVE</a:t>
            </a:r>
          </a:p>
        </p:txBody>
      </p:sp>
      <p:sp>
        <p:nvSpPr>
          <p:cNvPr id="31" name="TEXT Supply DC+ → Lovato 1→2 →"/>
          <p:cNvSpPr txBox="1"/>
          <p:nvPr/>
        </p:nvSpPr>
        <p:spPr>
          <a:xfrm>
            <a:off x="3931920" y="6172200"/>
            <a:ext cx="10104120" cy="39319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Supply DC+ → Lovato 1→2 → Finder 62.31 contact 34 (+)→14 (−) → SSR +1→−2 → heater+.</a:t>
            </a:r>
          </a:p>
        </p:txBody>
      </p:sp>
      <p:sp>
        <p:nvSpPr>
          <p:cNvPr id="32" name="COMPONENT"/>
          <p:cNvSpPr/>
          <p:nvPr/>
        </p:nvSpPr>
        <p:spPr>
          <a:xfrm>
            <a:off x="795528" y="6793992"/>
            <a:ext cx="13523976" cy="594360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8636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 DC RETURN"/>
          <p:cNvSpPr txBox="1"/>
          <p:nvPr/>
        </p:nvSpPr>
        <p:spPr>
          <a:xfrm>
            <a:off x="950976" y="6922008"/>
            <a:ext cx="2935224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D599B"/>
                </a:solidFill>
                <a:latin typeface="Aptos"/>
              </a:rPr>
              <a:t>DC RETURN</a:t>
            </a:r>
          </a:p>
        </p:txBody>
      </p:sp>
      <p:sp>
        <p:nvSpPr>
          <p:cNvPr id="34" name="TEXT Heater− → matching extern"/>
          <p:cNvSpPr txBox="1"/>
          <p:nvPr/>
        </p:nvSpPr>
        <p:spPr>
          <a:xfrm>
            <a:off x="3931920" y="6876288"/>
            <a:ext cx="10104120" cy="39319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Heater− → matching external DC supply−; Finder 14 and SSR −2 are NOT DC−.</a:t>
            </a:r>
          </a:p>
        </p:txBody>
      </p:sp>
      <p:sp>
        <p:nvSpPr>
          <p:cNvPr id="35" name="COMPONENT"/>
          <p:cNvSpPr/>
          <p:nvPr/>
        </p:nvSpPr>
        <p:spPr>
          <a:xfrm>
            <a:off x="795528" y="7498079"/>
            <a:ext cx="13523976" cy="59436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8636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 DC COIL"/>
          <p:cNvSpPr txBox="1"/>
          <p:nvPr/>
        </p:nvSpPr>
        <p:spPr>
          <a:xfrm>
            <a:off x="950976" y="7626096"/>
            <a:ext cx="2935224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D599B"/>
                </a:solidFill>
                <a:latin typeface="Aptos"/>
              </a:rPr>
              <a:t>DC COIL</a:t>
            </a:r>
          </a:p>
        </p:txBody>
      </p:sp>
      <p:sp>
        <p:nvSpPr>
          <p:cNvPr id="37" name="TEXT Finder 62.31 uses socket "/>
          <p:cNvSpPr txBox="1"/>
          <p:nvPr/>
        </p:nvSpPr>
        <p:spPr>
          <a:xfrm>
            <a:off x="3931920" y="7580375"/>
            <a:ext cx="10104120" cy="39319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1F344E"/>
                </a:solidFill>
                <a:latin typeface="Aptos"/>
              </a:rPr>
              <a:t>62.31 socket A1/A2 is the 24 V DC relay coil; Crydom A1/A2 is SSR control, NOT the power contact.</a:t>
            </a:r>
          </a:p>
        </p:txBody>
      </p:sp>
      <p:sp>
        <p:nvSpPr>
          <p:cNvPr id="38" name="TEXT These are net-level circu"/>
          <p:cNvSpPr txBox="1"/>
          <p:nvPr/>
        </p:nvSpPr>
        <p:spPr>
          <a:xfrm>
            <a:off x="877824" y="8458200"/>
            <a:ext cx="12984480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19" b="0">
                <a:solidFill>
                  <a:srgbClr val="A35B1B"/>
                </a:solidFill>
                <a:latin typeface="Aptos"/>
              </a:rPr>
              <a:t>Mains, control +24, 0 V, driver returns, and external DC heater power are separate circuits.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1  /  MANUFACTURER DOCUM"/>
          <p:cNvSpPr txBox="1"/>
          <p:nvPr/>
        </p:nvSpPr>
        <p:spPr>
          <a:xfrm>
            <a:off x="566928" y="320040"/>
            <a:ext cx="13917168" cy="44805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2200" b="1">
                <a:solidFill>
                  <a:srgbClr val="1F344E"/>
                </a:solidFill>
                <a:latin typeface="Aptos"/>
              </a:rPr>
              <a:t>14  /  COMPONENT REFERENCES &amp; MAINTENANCE</a:t>
            </a:r>
          </a:p>
        </p:txBody>
      </p:sp>
      <p:sp>
        <p:nvSpPr>
          <p:cNvPr id="3" name="TEXT Clickable component docum"/>
          <p:cNvSpPr txBox="1"/>
          <p:nvPr/>
        </p:nvSpPr>
        <p:spPr>
          <a:xfrm>
            <a:off x="585216" y="886968"/>
            <a:ext cx="13752576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60" b="0">
                <a:solidFill>
                  <a:srgbClr val="607084"/>
                </a:solidFill>
                <a:latin typeface="Aptos"/>
              </a:rPr>
              <a:t>PTFIX-based distribution and independent two-channel control: functional and terminal reference.</a:t>
            </a:r>
          </a:p>
        </p:txBody>
      </p:sp>
      <p:sp>
        <p:nvSpPr>
          <p:cNvPr id="4" name="HEADER RULE"/>
          <p:cNvSpPr/>
          <p:nvPr/>
        </p:nvSpPr>
        <p:spPr>
          <a:xfrm>
            <a:off x="566928" y="1325880"/>
            <a:ext cx="13953744" cy="32004"/>
          </a:xfrm>
          <a:prstGeom prst="rect">
            <a:avLst/>
          </a:prstGeom>
          <a:solidFill>
            <a:srgbClr val="1D599B"/>
          </a:solidFill>
          <a:ln w="1270">
            <a:solidFill>
              <a:srgbClr val="1D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COMPONENT REGISTER   /   "/>
          <p:cNvSpPr txBox="1"/>
          <p:nvPr/>
        </p:nvSpPr>
        <p:spPr>
          <a:xfrm>
            <a:off x="603504" y="1490472"/>
            <a:ext cx="1353312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10" b="1">
                <a:solidFill>
                  <a:srgbClr val="1D599B"/>
                </a:solidFill>
                <a:latin typeface="Aptos"/>
              </a:rPr>
              <a:t>COMPONENT REGISTER   /   WIRING &amp; SERVICE INFORMATION</a:t>
            </a:r>
          </a:p>
        </p:txBody>
      </p:sp>
      <p:sp>
        <p:nvSpPr>
          <p:cNvPr id="6" name="ENGINEERING REVIEW NOTE"/>
          <p:cNvSpPr/>
          <p:nvPr/>
        </p:nvSpPr>
        <p:spPr>
          <a:xfrm>
            <a:off x="658368" y="8979408"/>
            <a:ext cx="13533120" cy="566928"/>
          </a:xfrm>
          <a:prstGeom prst="roundRect">
            <a:avLst>
              <a:gd name="adj" fmla="val 5500"/>
            </a:avLst>
          </a:prstGeom>
          <a:solidFill>
            <a:srgbClr val="FFF7E9"/>
          </a:solidFill>
          <a:ln w="9525">
            <a:solidFill>
              <a:srgbClr val="DAB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 DESIGN REVIEW ONLY  |  Te"/>
          <p:cNvSpPr txBox="1"/>
          <p:nvPr/>
        </p:nvSpPr>
        <p:spPr>
          <a:xfrm>
            <a:off x="822960" y="9079992"/>
            <a:ext cx="13167360" cy="31089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5" b="1">
                <a:solidFill>
                  <a:srgbClr val="A35B1B"/>
                </a:solidFill>
                <a:latin typeface="Aptos"/>
              </a:rPr>
              <a:t>REFERENCE WIRING   /   230 V AC CONTROL SUPPLY  •  24 V DC CONTROLS  •  0–60 V DC HEATER CIRCUITS</a:t>
            </a:r>
          </a:p>
        </p:txBody>
      </p:sp>
      <p:sp>
        <p:nvSpPr>
          <p:cNvPr id="8" name="TEXT HEATING RATE CONTROLLER  "/>
          <p:cNvSpPr txBox="1"/>
          <p:nvPr/>
        </p:nvSpPr>
        <p:spPr>
          <a:xfrm>
            <a:off x="649224" y="9820656"/>
            <a:ext cx="117043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HEATING RATE CONTROLLER   /   REFERENCE ELECTRICAL WIRING   /   R1.2  ·  26 OCT 2026</a:t>
            </a:r>
          </a:p>
        </p:txBody>
      </p:sp>
      <p:sp>
        <p:nvSpPr>
          <p:cNvPr id="9" name="TEXT SHEET 11"/>
          <p:cNvSpPr txBox="1"/>
          <p:nvPr/>
        </p:nvSpPr>
        <p:spPr>
          <a:xfrm>
            <a:off x="12984480" y="9820656"/>
            <a:ext cx="11887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r"/>
            <a:r>
              <a:rPr sz="860" b="1">
                <a:solidFill>
                  <a:srgbClr val="607084"/>
                </a:solidFill>
                <a:latin typeface="Aptos"/>
              </a:rPr>
              <a:t>SHEET 14 / 14</a:t>
            </a:r>
          </a:p>
        </p:txBody>
      </p:sp>
      <p:sp>
        <p:nvSpPr>
          <p:cNvPr id="10" name="TEXT Manufacturer sources are "/>
          <p:cNvSpPr txBox="1"/>
          <p:nvPr/>
        </p:nvSpPr>
        <p:spPr>
          <a:xfrm>
            <a:off x="667512" y="9537192"/>
            <a:ext cx="13560552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>
                <a:solidFill>
                  <a:srgbClr val="607084"/>
                </a:solidFill>
                <a:latin typeface="Aptos"/>
              </a:rPr>
              <a:t/>
            </a:r>
          </a:p>
        </p:txBody>
      </p:sp>
      <p:sp>
        <p:nvSpPr>
          <p:cNvPr id="11" name="COMPONENT REGISTER Schurter DD11.0111.1110"/>
          <p:cNvSpPr/>
          <p:nvPr/>
        </p:nvSpPr>
        <p:spPr>
          <a:xfrm>
            <a:off x="822960" y="1920240"/>
            <a:ext cx="6428232" cy="548640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939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 Schurter DD11.0111.1110"/>
          <p:cNvSpPr txBox="1"/>
          <p:nvPr/>
        </p:nvSpPr>
        <p:spPr>
          <a:xfrm>
            <a:off x="960120" y="2011680"/>
            <a:ext cx="461772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F344E"/>
                </a:solidFill>
                <a:latin typeface="Aptos"/>
              </a:rPr>
              <a:t>Schurter DD11.0111.1110</a:t>
            </a:r>
          </a:p>
        </p:txBody>
      </p:sp>
      <p:sp>
        <p:nvSpPr>
          <p:cNvPr id="13" name="TEXT Datasheet ↗"/>
          <p:cNvSpPr txBox="1"/>
          <p:nvPr/>
        </p:nvSpPr>
        <p:spPr>
          <a:xfrm>
            <a:off x="5806440" y="2011680"/>
            <a:ext cx="128016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10" b="0" u="sng">
                <a:solidFill>
                  <a:srgbClr val="1D599B"/>
                </a:solidFill>
                <a:latin typeface="Aptos"/>
                <a:hlinkClick r:id="rId2"/>
              </a:rPr>
              <a:t>Datasheet ↗</a:t>
            </a:r>
          </a:p>
        </p:txBody>
      </p:sp>
      <p:sp>
        <p:nvSpPr>
          <p:cNvPr id="14" name="COMPONENT REGISTER Mean Well XDR-120E-24"/>
          <p:cNvSpPr/>
          <p:nvPr/>
        </p:nvSpPr>
        <p:spPr>
          <a:xfrm>
            <a:off x="7607808" y="1920240"/>
            <a:ext cx="6428232" cy="548640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939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 Mean Well XDR-120E-24"/>
          <p:cNvSpPr txBox="1"/>
          <p:nvPr/>
        </p:nvSpPr>
        <p:spPr>
          <a:xfrm>
            <a:off x="7744968" y="2011680"/>
            <a:ext cx="461772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F344E"/>
                </a:solidFill>
                <a:latin typeface="Aptos"/>
              </a:rPr>
              <a:t>Mean Well XDR-120E-24</a:t>
            </a:r>
          </a:p>
        </p:txBody>
      </p:sp>
      <p:sp>
        <p:nvSpPr>
          <p:cNvPr id="16" name="TEXT Datasheet ↗"/>
          <p:cNvSpPr txBox="1"/>
          <p:nvPr/>
        </p:nvSpPr>
        <p:spPr>
          <a:xfrm>
            <a:off x="12591288" y="2011680"/>
            <a:ext cx="128016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10" b="0" u="sng">
                <a:solidFill>
                  <a:srgbClr val="1D599B"/>
                </a:solidFill>
                <a:latin typeface="Aptos"/>
                <a:hlinkClick r:id="rId3"/>
              </a:rPr>
              <a:t>Datasheet ↗</a:t>
            </a:r>
          </a:p>
        </p:txBody>
      </p:sp>
      <p:sp>
        <p:nvSpPr>
          <p:cNvPr id="17" name="COMPONENT REGISTER Schneider XB5AD23 ×2"/>
          <p:cNvSpPr/>
          <p:nvPr/>
        </p:nvSpPr>
        <p:spPr>
          <a:xfrm>
            <a:off x="822960" y="2587752"/>
            <a:ext cx="6428232" cy="548640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939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 Schneider XB5AD23 ×2"/>
          <p:cNvSpPr txBox="1"/>
          <p:nvPr/>
        </p:nvSpPr>
        <p:spPr>
          <a:xfrm>
            <a:off x="960120" y="2679192"/>
            <a:ext cx="461772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F344E"/>
                </a:solidFill>
                <a:latin typeface="Aptos"/>
              </a:rPr>
              <a:t>Schneider XB5AD23 ×2</a:t>
            </a:r>
          </a:p>
        </p:txBody>
      </p:sp>
      <p:sp>
        <p:nvSpPr>
          <p:cNvPr id="19" name="TEXT Datasheet ↗"/>
          <p:cNvSpPr txBox="1"/>
          <p:nvPr/>
        </p:nvSpPr>
        <p:spPr>
          <a:xfrm>
            <a:off x="5806440" y="2679192"/>
            <a:ext cx="128016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10" b="0" u="sng">
                <a:solidFill>
                  <a:srgbClr val="1D599B"/>
                </a:solidFill>
                <a:latin typeface="Aptos"/>
                <a:hlinkClick r:id="rId4"/>
              </a:rPr>
              <a:t>Datasheet ↗</a:t>
            </a:r>
          </a:p>
        </p:txBody>
      </p:sp>
      <p:sp>
        <p:nvSpPr>
          <p:cNvPr id="20" name="COMPONENT REGISTER Omron E5CC-TQX3A5M-000 / -003"/>
          <p:cNvSpPr/>
          <p:nvPr/>
        </p:nvSpPr>
        <p:spPr>
          <a:xfrm>
            <a:off x="7607808" y="2587752"/>
            <a:ext cx="6428232" cy="548640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939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 Omron E5CC-TQX3A5M-000 / "/>
          <p:cNvSpPr txBox="1"/>
          <p:nvPr/>
        </p:nvSpPr>
        <p:spPr>
          <a:xfrm>
            <a:off x="7744968" y="2679192"/>
            <a:ext cx="461772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F344E"/>
                </a:solidFill>
                <a:latin typeface="Aptos"/>
              </a:rPr>
              <a:t>Omron E5CC-TQX3A5M-000 / -003</a:t>
            </a:r>
          </a:p>
        </p:txBody>
      </p:sp>
      <p:sp>
        <p:nvSpPr>
          <p:cNvPr id="22" name="TEXT Datasheet ↗"/>
          <p:cNvSpPr txBox="1"/>
          <p:nvPr/>
        </p:nvSpPr>
        <p:spPr>
          <a:xfrm>
            <a:off x="12591288" y="2679192"/>
            <a:ext cx="128016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10" b="0" u="sng">
                <a:solidFill>
                  <a:srgbClr val="1D599B"/>
                </a:solidFill>
                <a:latin typeface="Aptos"/>
                <a:hlinkClick r:id="rId5"/>
              </a:rPr>
              <a:t>Datasheet ↗</a:t>
            </a:r>
          </a:p>
        </p:txBody>
      </p:sp>
      <p:sp>
        <p:nvSpPr>
          <p:cNvPr id="23" name="COMPONENT REGISTER EAO 82-4151.1134 ×2"/>
          <p:cNvSpPr/>
          <p:nvPr/>
        </p:nvSpPr>
        <p:spPr>
          <a:xfrm>
            <a:off x="822960" y="3255264"/>
            <a:ext cx="6428232" cy="548640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939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 EAO 82-4151.1134 ×2"/>
          <p:cNvSpPr txBox="1"/>
          <p:nvPr/>
        </p:nvSpPr>
        <p:spPr>
          <a:xfrm>
            <a:off x="960120" y="3346704"/>
            <a:ext cx="461772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F344E"/>
                </a:solidFill>
                <a:latin typeface="Aptos"/>
              </a:rPr>
              <a:t>EAO 82-4151.1134 ×2</a:t>
            </a:r>
          </a:p>
        </p:txBody>
      </p:sp>
      <p:sp>
        <p:nvSpPr>
          <p:cNvPr id="25" name="TEXT Datasheet ↗"/>
          <p:cNvSpPr txBox="1"/>
          <p:nvPr/>
        </p:nvSpPr>
        <p:spPr>
          <a:xfrm>
            <a:off x="5806440" y="3346704"/>
            <a:ext cx="128016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10" b="0" u="sng">
                <a:solidFill>
                  <a:srgbClr val="1D599B"/>
                </a:solidFill>
                <a:latin typeface="Aptos"/>
                <a:hlinkClick r:id="rId6"/>
              </a:rPr>
              <a:t>Datasheet ↗</a:t>
            </a:r>
          </a:p>
        </p:txBody>
      </p:sp>
      <p:sp>
        <p:nvSpPr>
          <p:cNvPr id="26" name="COMPONENT REGISTER Finder 13.61.0.024.0000 ×2"/>
          <p:cNvSpPr/>
          <p:nvPr/>
        </p:nvSpPr>
        <p:spPr>
          <a:xfrm>
            <a:off x="7607808" y="3255264"/>
            <a:ext cx="6428232" cy="548640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939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 Finder 13.61.0.024.0000 ×"/>
          <p:cNvSpPr txBox="1"/>
          <p:nvPr/>
        </p:nvSpPr>
        <p:spPr>
          <a:xfrm>
            <a:off x="7744968" y="3346704"/>
            <a:ext cx="461772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F344E"/>
                </a:solidFill>
                <a:latin typeface="Aptos"/>
              </a:rPr>
              <a:t>Finder 13.61.0.024.0000 ×2</a:t>
            </a:r>
          </a:p>
        </p:txBody>
      </p:sp>
      <p:sp>
        <p:nvSpPr>
          <p:cNvPr id="28" name="TEXT Datasheet ↗"/>
          <p:cNvSpPr txBox="1"/>
          <p:nvPr/>
        </p:nvSpPr>
        <p:spPr>
          <a:xfrm>
            <a:off x="12591288" y="3346704"/>
            <a:ext cx="128016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10" b="0" u="sng">
                <a:solidFill>
                  <a:srgbClr val="1D599B"/>
                </a:solidFill>
                <a:latin typeface="Aptos"/>
                <a:hlinkClick r:id="rId7"/>
              </a:rPr>
              <a:t>Datasheet ↗</a:t>
            </a:r>
          </a:p>
        </p:txBody>
      </p:sp>
      <p:sp>
        <p:nvSpPr>
          <p:cNvPr id="29" name="COMPONENT REGISTER Finder 62.31.9.024.4800 ×2"/>
          <p:cNvSpPr/>
          <p:nvPr/>
        </p:nvSpPr>
        <p:spPr>
          <a:xfrm>
            <a:off x="822960" y="3922776"/>
            <a:ext cx="6428232" cy="548640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939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 Finder 62.31.9.024.4800 ×"/>
          <p:cNvSpPr txBox="1"/>
          <p:nvPr/>
        </p:nvSpPr>
        <p:spPr>
          <a:xfrm>
            <a:off x="960120" y="4014215"/>
            <a:ext cx="461772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F344E"/>
                </a:solidFill>
                <a:latin typeface="Aptos"/>
              </a:rPr>
              <a:t>Finder 62.31.9.024.4800 ×2</a:t>
            </a:r>
          </a:p>
        </p:txBody>
      </p:sp>
      <p:sp>
        <p:nvSpPr>
          <p:cNvPr id="31" name="TEXT Datasheet ↗"/>
          <p:cNvSpPr txBox="1"/>
          <p:nvPr/>
        </p:nvSpPr>
        <p:spPr>
          <a:xfrm>
            <a:off x="5806440" y="4014215"/>
            <a:ext cx="128016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10" b="0" u="sng">
                <a:solidFill>
                  <a:srgbClr val="1D599B"/>
                </a:solidFill>
                <a:latin typeface="Aptos"/>
                <a:hlinkClick r:id="rId8"/>
              </a:rPr>
              <a:t>Datasheet ↗</a:t>
            </a:r>
          </a:p>
        </p:txBody>
      </p:sp>
      <p:sp>
        <p:nvSpPr>
          <p:cNvPr id="32" name="COMPONENT REGISTER Weidmüller 8950770000 ×2"/>
          <p:cNvSpPr/>
          <p:nvPr/>
        </p:nvSpPr>
        <p:spPr>
          <a:xfrm>
            <a:off x="7607808" y="3922776"/>
            <a:ext cx="6428232" cy="548640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939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 Weidmüller 8950770000 ×2"/>
          <p:cNvSpPr txBox="1"/>
          <p:nvPr/>
        </p:nvSpPr>
        <p:spPr>
          <a:xfrm>
            <a:off x="7744968" y="4014215"/>
            <a:ext cx="461772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F344E"/>
                </a:solidFill>
                <a:latin typeface="Aptos"/>
              </a:rPr>
              <a:t>Weidmüller 8950770000 ×2</a:t>
            </a:r>
          </a:p>
        </p:txBody>
      </p:sp>
      <p:sp>
        <p:nvSpPr>
          <p:cNvPr id="34" name="TEXT Datasheet ↗"/>
          <p:cNvSpPr txBox="1"/>
          <p:nvPr/>
        </p:nvSpPr>
        <p:spPr>
          <a:xfrm>
            <a:off x="12591288" y="4014215"/>
            <a:ext cx="128016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10" b="0" u="sng">
                <a:solidFill>
                  <a:srgbClr val="1D599B"/>
                </a:solidFill>
                <a:latin typeface="Aptos"/>
                <a:hlinkClick r:id="rId9"/>
              </a:rPr>
              <a:t>Datasheet ↗</a:t>
            </a:r>
          </a:p>
        </p:txBody>
      </p:sp>
      <p:sp>
        <p:nvSpPr>
          <p:cNvPr id="35" name="COMPONENT REGISTER Crydom DR2220D30U ×2"/>
          <p:cNvSpPr/>
          <p:nvPr/>
        </p:nvSpPr>
        <p:spPr>
          <a:xfrm>
            <a:off x="822960" y="4590288"/>
            <a:ext cx="6428232" cy="548640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939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 Crydom DR2220D30U ×2"/>
          <p:cNvSpPr txBox="1"/>
          <p:nvPr/>
        </p:nvSpPr>
        <p:spPr>
          <a:xfrm>
            <a:off x="960120" y="4681727"/>
            <a:ext cx="461772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F344E"/>
                </a:solidFill>
                <a:latin typeface="Aptos"/>
              </a:rPr>
              <a:t>Crydom DR2220D30U ×2</a:t>
            </a:r>
          </a:p>
        </p:txBody>
      </p:sp>
      <p:sp>
        <p:nvSpPr>
          <p:cNvPr id="37" name="TEXT Datasheet ↗"/>
          <p:cNvSpPr txBox="1"/>
          <p:nvPr/>
        </p:nvSpPr>
        <p:spPr>
          <a:xfrm>
            <a:off x="5806440" y="4681727"/>
            <a:ext cx="128016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10" b="0" u="sng">
                <a:solidFill>
                  <a:srgbClr val="1D599B"/>
                </a:solidFill>
                <a:latin typeface="Aptos"/>
                <a:hlinkClick r:id="rId10"/>
              </a:rPr>
              <a:t>Datasheet ↗</a:t>
            </a:r>
          </a:p>
        </p:txBody>
      </p:sp>
      <p:sp>
        <p:nvSpPr>
          <p:cNvPr id="38" name="COMPONENT REGISTER Lovato P1MB1PC16 ×2"/>
          <p:cNvSpPr/>
          <p:nvPr/>
        </p:nvSpPr>
        <p:spPr>
          <a:xfrm>
            <a:off x="7607808" y="4590288"/>
            <a:ext cx="6428232" cy="548640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939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 Lovato P1MB1PC16 ×2"/>
          <p:cNvSpPr txBox="1"/>
          <p:nvPr/>
        </p:nvSpPr>
        <p:spPr>
          <a:xfrm>
            <a:off x="7744968" y="4681727"/>
            <a:ext cx="461772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F344E"/>
                </a:solidFill>
                <a:latin typeface="Aptos"/>
              </a:rPr>
              <a:t>Lovato P1MB1PC16 ×2</a:t>
            </a:r>
          </a:p>
        </p:txBody>
      </p:sp>
      <p:sp>
        <p:nvSpPr>
          <p:cNvPr id="40" name="TEXT Datasheet ↗"/>
          <p:cNvSpPr txBox="1"/>
          <p:nvPr/>
        </p:nvSpPr>
        <p:spPr>
          <a:xfrm>
            <a:off x="12591288" y="4681727"/>
            <a:ext cx="128016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10" b="0" u="sng">
                <a:solidFill>
                  <a:srgbClr val="1D599B"/>
                </a:solidFill>
                <a:latin typeface="Aptos"/>
                <a:hlinkClick r:id="rId11"/>
              </a:rPr>
              <a:t>Datasheet ↗</a:t>
            </a:r>
          </a:p>
        </p:txBody>
      </p:sp>
      <p:sp>
        <p:nvSpPr>
          <p:cNvPr id="41" name="TEXT REMAINING DESIGN-RELEASE "/>
          <p:cNvSpPr txBox="1"/>
          <p:nvPr/>
        </p:nvSpPr>
        <p:spPr>
          <a:xfrm>
            <a:off x="932688" y="5715000"/>
            <a:ext cx="13167360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30" b="1">
                <a:solidFill>
                  <a:srgbClr val="1D599B"/>
                </a:solidFill>
                <a:latin typeface="Aptos"/>
              </a:rPr>
              <a:t>INSTALLATION &amp; MAINTENANCE ESSENTIALS</a:t>
            </a:r>
          </a:p>
        </p:txBody>
      </p:sp>
      <p:sp>
        <p:nvSpPr>
          <p:cNvPr id="42" name="COMPONENT"/>
          <p:cNvSpPr/>
          <p:nvPr/>
        </p:nvSpPr>
        <p:spPr>
          <a:xfrm>
            <a:off x="896112" y="6108192"/>
            <a:ext cx="13267944" cy="438912"/>
          </a:xfrm>
          <a:prstGeom prst="roundRect">
            <a:avLst>
              <a:gd name="adj" fmla="val 5500"/>
            </a:avLst>
          </a:prstGeom>
          <a:solidFill>
            <a:srgbClr val="FFF7E9"/>
          </a:solidFill>
          <a:ln w="8636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 01"/>
          <p:cNvSpPr txBox="1"/>
          <p:nvPr/>
        </p:nvSpPr>
        <p:spPr>
          <a:xfrm>
            <a:off x="1078992" y="6181344"/>
            <a:ext cx="411480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A35B1B"/>
                </a:solidFill>
                <a:latin typeface="Aptos"/>
              </a:rPr>
              <a:t>01</a:t>
            </a:r>
          </a:p>
        </p:txBody>
      </p:sp>
      <p:sp>
        <p:nvSpPr>
          <p:cNvPr id="44" name="TEXT Finder 13.61 must remain "/>
          <p:cNvSpPr txBox="1"/>
          <p:nvPr/>
        </p:nvSpPr>
        <p:spPr>
          <a:xfrm>
            <a:off x="1572768" y="6163055"/>
            <a:ext cx="12271248" cy="31089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10" b="0">
                <a:solidFill>
                  <a:srgbClr val="1F344E"/>
                </a:solidFill>
                <a:latin typeface="Aptos"/>
              </a:rPr>
              <a:t>Protective earth: J1 inlet, PS1, enclosure body and door bond all connect to X1-PE.</a:t>
            </a:r>
          </a:p>
        </p:txBody>
      </p:sp>
      <p:sp>
        <p:nvSpPr>
          <p:cNvPr id="45" name="COMPONENT"/>
          <p:cNvSpPr/>
          <p:nvPr/>
        </p:nvSpPr>
        <p:spPr>
          <a:xfrm>
            <a:off x="896112" y="6647688"/>
            <a:ext cx="13267944" cy="438912"/>
          </a:xfrm>
          <a:prstGeom prst="roundRect">
            <a:avLst>
              <a:gd name="adj" fmla="val 5500"/>
            </a:avLst>
          </a:prstGeom>
          <a:solidFill>
            <a:srgbClr val="FFF7E9"/>
          </a:solidFill>
          <a:ln w="8636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 02"/>
          <p:cNvSpPr txBox="1"/>
          <p:nvPr/>
        </p:nvSpPr>
        <p:spPr>
          <a:xfrm>
            <a:off x="1078992" y="6720840"/>
            <a:ext cx="411480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A35B1B"/>
                </a:solidFill>
                <a:latin typeface="Aptos"/>
              </a:rPr>
              <a:t>02</a:t>
            </a:r>
          </a:p>
        </p:txBody>
      </p:sp>
      <p:sp>
        <p:nvSpPr>
          <p:cNvPr id="47" name="TEXT Confirm physical X1–X4 bl"/>
          <p:cNvSpPr txBox="1"/>
          <p:nvPr/>
        </p:nvSpPr>
        <p:spPr>
          <a:xfrm>
            <a:off x="1572768" y="6702551"/>
            <a:ext cx="12271248" cy="31089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10" b="0">
                <a:solidFill>
                  <a:srgbClr val="1F344E"/>
                </a:solidFill>
                <a:latin typeface="Aptos"/>
              </a:rPr>
              <a:t>Mains distribution: PSU, Omron E1 and Omron E2 each have their own live and neutral branch.</a:t>
            </a:r>
          </a:p>
        </p:txBody>
      </p:sp>
      <p:sp>
        <p:nvSpPr>
          <p:cNvPr id="48" name="COMPONENT"/>
          <p:cNvSpPr/>
          <p:nvPr/>
        </p:nvSpPr>
        <p:spPr>
          <a:xfrm>
            <a:off x="896112" y="7187183"/>
            <a:ext cx="13267944" cy="438912"/>
          </a:xfrm>
          <a:prstGeom prst="roundRect">
            <a:avLst>
              <a:gd name="adj" fmla="val 5500"/>
            </a:avLst>
          </a:prstGeom>
          <a:solidFill>
            <a:srgbClr val="FFF7E9"/>
          </a:solidFill>
          <a:ln w="8636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 03"/>
          <p:cNvSpPr txBox="1"/>
          <p:nvPr/>
        </p:nvSpPr>
        <p:spPr>
          <a:xfrm>
            <a:off x="1078992" y="7260336"/>
            <a:ext cx="411480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A35B1B"/>
                </a:solidFill>
                <a:latin typeface="Aptos"/>
              </a:rPr>
              <a:t>03</a:t>
            </a:r>
          </a:p>
        </p:txBody>
      </p:sp>
      <p:sp>
        <p:nvSpPr>
          <p:cNvPr id="50" name="TEXT Verify 15 A DC continuity"/>
          <p:cNvSpPr txBox="1"/>
          <p:nvPr/>
        </p:nvSpPr>
        <p:spPr>
          <a:xfrm>
            <a:off x="1572768" y="7242047"/>
            <a:ext cx="12271248" cy="31089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10" b="0">
                <a:solidFill>
                  <a:srgbClr val="1F344E"/>
                </a:solidFill>
                <a:latin typeface="Aptos"/>
              </a:rPr>
              <a:t>Control: common +24 V and 0 V; plus separate gated +24, EN and SSR driver-return nodes per channel.</a:t>
            </a:r>
          </a:p>
        </p:txBody>
      </p:sp>
      <p:sp>
        <p:nvSpPr>
          <p:cNvPr id="51" name="COMPONENT"/>
          <p:cNvSpPr/>
          <p:nvPr/>
        </p:nvSpPr>
        <p:spPr>
          <a:xfrm>
            <a:off x="896112" y="7726679"/>
            <a:ext cx="13267944" cy="438912"/>
          </a:xfrm>
          <a:prstGeom prst="roundRect">
            <a:avLst>
              <a:gd name="adj" fmla="val 5500"/>
            </a:avLst>
          </a:prstGeom>
          <a:solidFill>
            <a:srgbClr val="FFF7E9"/>
          </a:solidFill>
          <a:ln w="8636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 04"/>
          <p:cNvSpPr txBox="1"/>
          <p:nvPr/>
        </p:nvSpPr>
        <p:spPr>
          <a:xfrm>
            <a:off x="1078992" y="7799831"/>
            <a:ext cx="411480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A35B1B"/>
                </a:solidFill>
                <a:latin typeface="Aptos"/>
              </a:rPr>
              <a:t>04</a:t>
            </a:r>
          </a:p>
        </p:txBody>
      </p:sp>
      <p:sp>
        <p:nvSpPr>
          <p:cNvPr id="53" name="TEXT Validate SSR heat sink, W"/>
          <p:cNvSpPr txBox="1"/>
          <p:nvPr/>
        </p:nvSpPr>
        <p:spPr>
          <a:xfrm>
            <a:off x="1572768" y="7781544"/>
            <a:ext cx="12271248" cy="31089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10" b="0">
                <a:solidFill>
                  <a:srgbClr val="1F344E"/>
                </a:solidFill>
                <a:latin typeface="Aptos"/>
              </a:rPr>
              <a:t>ACTIVE LED+: Finder K1/K2:14 → EN1/EN2 → HL1/HL2+. LED− is switched via W1/W2.</a:t>
            </a:r>
          </a:p>
        </p:txBody>
      </p:sp>
      <p:sp>
        <p:nvSpPr>
          <p:cNvPr id="54" name="COMPONENT"/>
          <p:cNvSpPr/>
          <p:nvPr/>
        </p:nvSpPr>
        <p:spPr>
          <a:xfrm>
            <a:off x="896112" y="8266175"/>
            <a:ext cx="13267944" cy="438912"/>
          </a:xfrm>
          <a:prstGeom prst="roundRect">
            <a:avLst>
              <a:gd name="adj" fmla="val 5500"/>
            </a:avLst>
          </a:prstGeom>
          <a:solidFill>
            <a:srgbClr val="FFF7E9"/>
          </a:solidFill>
          <a:ln w="8636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 05"/>
          <p:cNvSpPr txBox="1"/>
          <p:nvPr/>
        </p:nvSpPr>
        <p:spPr>
          <a:xfrm>
            <a:off x="1078992" y="8339327"/>
            <a:ext cx="411480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A35B1B"/>
                </a:solidFill>
                <a:latin typeface="Aptos"/>
              </a:rPr>
              <a:t>05</a:t>
            </a:r>
          </a:p>
        </p:txBody>
      </p:sp>
      <p:sp>
        <p:nvSpPr>
          <p:cNvPr id="56" name="TEXT Independent safety design"/>
          <p:cNvSpPr txBox="1"/>
          <p:nvPr/>
        </p:nvSpPr>
        <p:spPr>
          <a:xfrm>
            <a:off x="1572768" y="8321040"/>
            <a:ext cx="12271248" cy="31089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10" b="0">
                <a:solidFill>
                  <a:srgbClr val="1F344E"/>
                </a:solidFill>
                <a:latin typeface="Aptos"/>
              </a:rPr>
              <a:t>Before servicing: isolate mains AND both external DC supplies; check PE, connectors, wiring and SSR cooling.</a:t>
            </a:r>
          </a:p>
        </p:txBody>
      </p:sp>
      <p:sp>
        <p:nvSpPr>
          <p:cNvPr id="57" name="TEXT HL1/HL2 activity indicato"/>
          <p:cNvSpPr txBox="1"/>
          <p:nvPr/>
        </p:nvSpPr>
        <p:spPr>
          <a:xfrm>
            <a:off x="886968" y="5385816"/>
            <a:ext cx="13011912" cy="17373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50" b="0">
                <a:solidFill>
                  <a:srgbClr val="A35B1B"/>
                </a:solidFill>
                <a:latin typeface="Aptos"/>
                <a:hlinkClick r:id="rId13"/>
              </a:rPr>
              <a:t>HL1/HL2 specified: RS PRO 130-1086 yellow LED, 24 V DC, max 20 mA, IP67; 14 mm mounting hole.</a:t>
            </a:r>
          </a:p>
        </p:txBody>
      </p:sp>
      <p:sp>
        <p:nvSpPr>
          <p:cNvPr id="58" name="TEXT Finder 92.03-series socke"/>
          <p:cNvSpPr txBox="1"/>
          <p:nvPr/>
        </p:nvSpPr>
        <p:spPr>
          <a:xfrm>
            <a:off x="886968" y="8732520"/>
            <a:ext cx="13011912" cy="17373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50" b="0" u="sng">
                <a:solidFill>
                  <a:srgbClr val="1D599B"/>
                </a:solidFill>
                <a:latin typeface="Aptos"/>
                <a:hlinkClick r:id="rId12"/>
              </a:rPr>
              <a:t>Finder 92.03SMA relay socket datasheet  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</TotalTime>
  <Words>2826</Words>
  <Application>Microsoft Office PowerPoint</Application>
  <PresentationFormat>Custom</PresentationFormat>
  <Paragraphs>529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Heating controller | D7 mains aligned component borders</dc:title>
  <dc:subject>Fully editable circuit presentation | Design review, not for construction</dc:subject>
  <dc:creator>Bogdan Alecsa</dc:creator>
  <cp:keywords/>
  <dc:description>generated using python-pptx</dc:description>
  <cp:lastModifiedBy>Alecsa, Bogdan</cp:lastModifiedBy>
  <cp:revision>2</cp:revision>
  <dcterms:created xsi:type="dcterms:W3CDTF">2013-01-27T09:14:16Z</dcterms:created>
  <dcterms:modified xsi:type="dcterms:W3CDTF">2026-10-13T12:56:49Z</dcterms:modified>
  <cp:category/>
</cp:coreProperties>
</file>