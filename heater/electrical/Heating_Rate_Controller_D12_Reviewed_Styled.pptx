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7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7.xml"/><Relationship Id="rId3" Type="http://schemas.openxmlformats.org/officeDocument/2006/relationships/hyperlink" Target="https://www.schurter.com/en/pdf/english/typ_dd11.pdf" TargetMode="External"/><Relationship Id="rId4" Type="http://schemas.openxmlformats.org/officeDocument/2006/relationships/hyperlink" Target="https://www.meanwell.co.uk/assets/pdf/XDR-120E.pdf" TargetMode="External"/><Relationship Id="rId5" Type="http://schemas.openxmlformats.org/officeDocument/2006/relationships/hyperlink" Target="https://www.se.com/uk/en/product/XB5AD23/harmony-xb5-selector-switch-plastic-black-%C3%B822-2-positions-stay-put-2-no/" TargetMode="External"/><Relationship Id="rId6" Type="http://schemas.openxmlformats.org/officeDocument/2006/relationships/hyperlink" Target="https://industrial.omron.eu/en/products/E5CC-TQX3A5M-000.pdf" TargetMode="External"/><Relationship Id="rId7" Type="http://schemas.openxmlformats.org/officeDocument/2006/relationships/hyperlink" Target="https://industrial.omron.eu/en/products/E5CC-TQX3A5M-003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anwell.co.uk/assets/pdf/XDR-120E.pdf" TargetMode="External"/><Relationship Id="rId3" Type="http://schemas.openxmlformats.org/officeDocument/2006/relationships/hyperlink" Target="https://www.se.com/uk/en/product/XB5AD23/harmony-xb5-selector-switch-plastic-black-%C3%B822-2-positions-stay-put-2-n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0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3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churter.com/en/pdf/english/typ_dd11.pdf" TargetMode="External"/><Relationship Id="rId3" Type="http://schemas.openxmlformats.org/officeDocument/2006/relationships/hyperlink" Target="https://www.meanwell.co.uk/assets/pdf/XDR-120E.pdf" TargetMode="External"/><Relationship Id="rId4" Type="http://schemas.openxmlformats.org/officeDocument/2006/relationships/hyperlink" Target="https://www.se.com/uk/en/product/XB5AD23/harmony-xb5-selector-switch-plastic-black-%C3%B822-2-positions-stay-put-2-no/" TargetMode="External"/><Relationship Id="rId5" Type="http://schemas.openxmlformats.org/officeDocument/2006/relationships/hyperlink" Target="https://industrial.omron.co.uk/en/products/E5CC-TQX3A5M-000" TargetMode="External"/><Relationship Id="rId6" Type="http://schemas.openxmlformats.org/officeDocument/2006/relationships/hyperlink" Target="https://www.eao.com/component/82-4151.1134/en/illuminated-pushbutton-16mmsilvercontact" TargetMode="External"/><Relationship Id="rId7" Type="http://schemas.openxmlformats.org/officeDocument/2006/relationships/hyperlink" Target="https://cdn.findernet.com/app/uploads/ZDPENXX1361.pdf" TargetMode="External"/><Relationship Id="rId8" Type="http://schemas.openxmlformats.org/officeDocument/2006/relationships/hyperlink" Target="https://www.cse-distributors.co.uk/sites/admin/plugins/elfinder/files/cse/ExtraDocs/Finder%2062%20Series/Finder%2062%20Series%20Report.pdf" TargetMode="External"/><Relationship Id="rId9" Type="http://schemas.openxmlformats.org/officeDocument/2006/relationships/hyperlink" Target="https://eshop.weidmueller.com/en/top-12vdc48vdc-01a/p/8950770000" TargetMode="External"/><Relationship Id="rId10" Type="http://schemas.openxmlformats.org/officeDocument/2006/relationships/hyperlink" Target="https://www.sensata.com/sites/default/files/a/sensata-dr22-series-dc-output-din-rail-mount-datasheet.pdf" TargetMode="External"/><Relationship Id="rId11" Type="http://schemas.openxmlformats.org/officeDocument/2006/relationships/hyperlink" Target="https://datasheet.lovatoelectric.com/Miniature_and_residual_circuit_breakers/ENG/P1MB1PC16.pdf" TargetMode="External"/><Relationship Id="rId12" Type="http://schemas.openxmlformats.org/officeDocument/2006/relationships/hyperlink" Target="https://cdn.findernet.com/app/uploads/S62EN.pdf" TargetMode="External"/><Relationship Id="rId13" Type="http://schemas.openxmlformats.org/officeDocument/2006/relationships/hyperlink" Target="https://docs.rs-online.com/9e66/0900766b8159e8d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1  /  MAINS SUPPLY &amp; DISTRIBUTION"/>
          <p:cNvSpPr txBox="1"/>
          <p:nvPr/>
        </p:nvSpPr>
        <p:spPr>
          <a:xfrm>
            <a:off x="566928" y="320040"/>
            <a:ext cx="10927080" cy="4572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2400" b="1">
                <a:solidFill>
                  <a:srgbClr val="1F344E"/>
                </a:solidFill>
                <a:latin typeface="Aptos"/>
              </a:rPr>
              <a:t>01  /  MAINS SUPPLY &amp; DISTRIBUTION</a:t>
            </a:r>
          </a:p>
        </p:txBody>
      </p:sp>
      <p:sp>
        <p:nvSpPr>
          <p:cNvPr id="3" name="TEXT Two independent Omron channels  • "/>
          <p:cNvSpPr txBox="1"/>
          <p:nvPr/>
        </p:nvSpPr>
        <p:spPr>
          <a:xfrm>
            <a:off x="576072" y="877824"/>
            <a:ext cx="10607040" cy="30175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60" b="0">
                <a:solidFill>
                  <a:srgbClr val="607084"/>
                </a:solidFill>
                <a:latin typeface="Aptos"/>
              </a:rPr>
              <a:t>Two independent Omron channels  •  Shared 24 V supply  •  Editable schematic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3962888" cy="34747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AC INPUT"/>
          <p:cNvSpPr txBox="1"/>
          <p:nvPr/>
        </p:nvSpPr>
        <p:spPr>
          <a:xfrm>
            <a:off x="576072" y="1481328"/>
            <a:ext cx="246888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AC INPUT</a:t>
            </a:r>
          </a:p>
        </p:txBody>
      </p:sp>
      <p:sp>
        <p:nvSpPr>
          <p:cNvPr id="6" name="TEXT DISTRIBUTION / X1"/>
          <p:cNvSpPr txBox="1"/>
          <p:nvPr/>
        </p:nvSpPr>
        <p:spPr>
          <a:xfrm>
            <a:off x="3867912" y="1481328"/>
            <a:ext cx="23774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DISTRIBUTION / X1</a:t>
            </a:r>
          </a:p>
        </p:txBody>
      </p:sp>
      <p:sp>
        <p:nvSpPr>
          <p:cNvPr id="7" name="TEXT POWER SUPPLY &amp; TWO CONTROLLER BRAN"/>
          <p:cNvSpPr txBox="1"/>
          <p:nvPr/>
        </p:nvSpPr>
        <p:spPr>
          <a:xfrm>
            <a:off x="8339327" y="1481328"/>
            <a:ext cx="55778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POWER SUPPLY &amp; TWO CONTROLLER BRANCHES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243816" y="603504"/>
            <a:ext cx="356616" cy="32004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L"/>
          <p:cNvSpPr txBox="1"/>
          <p:nvPr/>
        </p:nvSpPr>
        <p:spPr>
          <a:xfrm>
            <a:off x="12646152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02768" y="603504"/>
            <a:ext cx="356616" cy="32004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 N"/>
          <p:cNvSpPr txBox="1"/>
          <p:nvPr/>
        </p:nvSpPr>
        <p:spPr>
          <a:xfrm>
            <a:off x="13405104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89152" y="603504"/>
            <a:ext cx="356616" cy="32004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PE"/>
          <p:cNvSpPr txBox="1"/>
          <p:nvPr/>
        </p:nvSpPr>
        <p:spPr>
          <a:xfrm>
            <a:off x="14191488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PE</a:t>
            </a:r>
          </a:p>
        </p:txBody>
      </p:sp>
      <p:sp>
        <p:nvSpPr>
          <p:cNvPr id="14" name="COMP J1  SCHURTER"/>
          <p:cNvSpPr/>
          <p:nvPr/>
        </p:nvSpPr>
        <p:spPr>
          <a:xfrm>
            <a:off x="621792" y="2066543"/>
            <a:ext cx="2267712" cy="31272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OMP LABEL J1  SCHURTER"/>
          <p:cNvSpPr txBox="1"/>
          <p:nvPr/>
        </p:nvSpPr>
        <p:spPr>
          <a:xfrm>
            <a:off x="804672" y="223113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80" b="1">
                <a:solidFill>
                  <a:srgbClr val="1F344E"/>
                </a:solidFill>
                <a:latin typeface="Aptos"/>
              </a:rPr>
              <a:t>J1  SCHURTER</a:t>
            </a:r>
          </a:p>
        </p:txBody>
      </p:sp>
      <p:sp>
        <p:nvSpPr>
          <p:cNvPr id="16" name="PART J1  SCHURTER"/>
          <p:cNvSpPr txBox="1"/>
          <p:nvPr/>
        </p:nvSpPr>
        <p:spPr>
          <a:xfrm>
            <a:off x="804672" y="256032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DD11.0111.1110</a:t>
            </a:r>
          </a:p>
        </p:txBody>
      </p:sp>
      <p:sp>
        <p:nvSpPr>
          <p:cNvPr id="17" name="DESC J1  SCHURTER"/>
          <p:cNvSpPr txBox="1"/>
          <p:nvPr/>
        </p:nvSpPr>
        <p:spPr>
          <a:xfrm>
            <a:off x="804672" y="2916936"/>
            <a:ext cx="1901952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C14 inlet · switch · fuse</a:t>
            </a:r>
          </a:p>
        </p:txBody>
      </p:sp>
      <p:sp>
        <p:nvSpPr>
          <p:cNvPr id="18" name="DATASHEET J1  SCHURTER"/>
          <p:cNvSpPr txBox="1"/>
          <p:nvPr/>
        </p:nvSpPr>
        <p:spPr>
          <a:xfrm>
            <a:off x="804672" y="4800600"/>
            <a:ext cx="1901952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19" name="COMP PE  CHASSIS"/>
          <p:cNvSpPr/>
          <p:nvPr/>
        </p:nvSpPr>
        <p:spPr>
          <a:xfrm>
            <a:off x="621792" y="6729984"/>
            <a:ext cx="2267712" cy="130759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OMP LABEL PE  CHASSIS"/>
          <p:cNvSpPr txBox="1"/>
          <p:nvPr/>
        </p:nvSpPr>
        <p:spPr>
          <a:xfrm>
            <a:off x="804672" y="689457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00" b="1">
                <a:solidFill>
                  <a:srgbClr val="1F344E"/>
                </a:solidFill>
                <a:latin typeface="Aptos"/>
              </a:rPr>
              <a:t>PE  CHASSIS</a:t>
            </a:r>
          </a:p>
        </p:txBody>
      </p:sp>
      <p:sp>
        <p:nvSpPr>
          <p:cNvPr id="21" name="PART PE  CHASSIS"/>
          <p:cNvSpPr txBox="1"/>
          <p:nvPr/>
        </p:nvSpPr>
        <p:spPr>
          <a:xfrm>
            <a:off x="804672" y="722376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Enclosure / door / DIN rail</a:t>
            </a:r>
          </a:p>
        </p:txBody>
      </p:sp>
      <p:sp>
        <p:nvSpPr>
          <p:cNvPr id="22" name="COMP X1  AC DISTRIBUTION"/>
          <p:cNvSpPr/>
          <p:nvPr/>
        </p:nvSpPr>
        <p:spPr>
          <a:xfrm>
            <a:off x="3813048" y="2066543"/>
            <a:ext cx="2395728" cy="597103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OMP LABEL X1  AC DISTRIBUTION"/>
          <p:cNvSpPr txBox="1"/>
          <p:nvPr/>
        </p:nvSpPr>
        <p:spPr>
          <a:xfrm>
            <a:off x="3995928" y="2231136"/>
            <a:ext cx="2029968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260" b="1">
                <a:solidFill>
                  <a:srgbClr val="1F344E"/>
                </a:solidFill>
                <a:latin typeface="Aptos"/>
              </a:rPr>
              <a:t>X1  AC DISTRIBUTION</a:t>
            </a:r>
          </a:p>
        </p:txBody>
      </p:sp>
      <p:sp>
        <p:nvSpPr>
          <p:cNvPr id="24" name="PART X1  AC DISTRIBUTION"/>
          <p:cNvSpPr txBox="1"/>
          <p:nvPr/>
        </p:nvSpPr>
        <p:spPr>
          <a:xfrm>
            <a:off x="3995928" y="2560320"/>
            <a:ext cx="2029968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L / N / PE</a:t>
            </a:r>
          </a:p>
        </p:txBody>
      </p:sp>
      <p:sp>
        <p:nvSpPr>
          <p:cNvPr id="25" name="DESC X1  AC DISTRIBUTION"/>
          <p:cNvSpPr txBox="1"/>
          <p:nvPr/>
        </p:nvSpPr>
        <p:spPr>
          <a:xfrm>
            <a:off x="4306824" y="2852927"/>
            <a:ext cx="17922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Logical bus · terminals TBD</a:t>
            </a:r>
          </a:p>
        </p:txBody>
      </p:sp>
      <p:sp>
        <p:nvSpPr>
          <p:cNvPr id="26" name="TEXT BRANCH / CH 1"/>
          <p:cNvSpPr txBox="1"/>
          <p:nvPr/>
        </p:nvSpPr>
        <p:spPr>
          <a:xfrm>
            <a:off x="4315968" y="4690872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1</a:t>
            </a:r>
          </a:p>
        </p:txBody>
      </p:sp>
      <p:sp>
        <p:nvSpPr>
          <p:cNvPr id="27" name="TEXT BRANCH / CH 2"/>
          <p:cNvSpPr txBox="1"/>
          <p:nvPr/>
        </p:nvSpPr>
        <p:spPr>
          <a:xfrm>
            <a:off x="4315968" y="666597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2</a:t>
            </a:r>
          </a:p>
        </p:txBody>
      </p:sp>
      <p:sp>
        <p:nvSpPr>
          <p:cNvPr id="28" name="TEXT X1 jumpers: TBD"/>
          <p:cNvSpPr txBox="1"/>
          <p:nvPr/>
        </p:nvSpPr>
        <p:spPr>
          <a:xfrm>
            <a:off x="4315968" y="762609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69" b="0">
                <a:solidFill>
                  <a:srgbClr val="A35B1B"/>
                </a:solidFill>
                <a:latin typeface="Aptos"/>
              </a:rPr>
              <a:t>X1 jumpers: TBD</a:t>
            </a:r>
          </a:p>
        </p:txBody>
      </p:sp>
      <p:sp>
        <p:nvSpPr>
          <p:cNvPr id="29" name="COMP PS1  MEAN WELL"/>
          <p:cNvSpPr/>
          <p:nvPr/>
        </p:nvSpPr>
        <p:spPr>
          <a:xfrm>
            <a:off x="8412480" y="2066543"/>
            <a:ext cx="2889504" cy="244144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 LABEL PS1  MEAN WELL"/>
          <p:cNvSpPr txBox="1"/>
          <p:nvPr/>
        </p:nvSpPr>
        <p:spPr>
          <a:xfrm>
            <a:off x="8906255" y="2231136"/>
            <a:ext cx="2286000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4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31" name="PART PS1  MEAN WELL"/>
          <p:cNvSpPr txBox="1"/>
          <p:nvPr/>
        </p:nvSpPr>
        <p:spPr>
          <a:xfrm>
            <a:off x="8906255" y="2560320"/>
            <a:ext cx="2286000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XDR-120E-24 · 24 V / 5 A</a:t>
            </a:r>
          </a:p>
        </p:txBody>
      </p:sp>
      <p:sp>
        <p:nvSpPr>
          <p:cNvPr id="32" name="DESC PS1  MEAN WELL"/>
          <p:cNvSpPr txBox="1"/>
          <p:nvPr/>
        </p:nvSpPr>
        <p:spPr>
          <a:xfrm>
            <a:off x="8906255" y="2916936"/>
            <a:ext cx="2286000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Shared 24 V DC supply</a:t>
            </a:r>
          </a:p>
        </p:txBody>
      </p:sp>
      <p:sp>
        <p:nvSpPr>
          <p:cNvPr id="33" name="DATASHEET PS1  MEAN WELL"/>
          <p:cNvSpPr txBox="1"/>
          <p:nvPr/>
        </p:nvSpPr>
        <p:spPr>
          <a:xfrm>
            <a:off x="8906255" y="4114800"/>
            <a:ext cx="22860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4" name="COMP S1  SELECTOR"/>
          <p:cNvSpPr/>
          <p:nvPr/>
        </p:nvSpPr>
        <p:spPr>
          <a:xfrm>
            <a:off x="7616952" y="4572000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LABEL S1  SELECTOR"/>
          <p:cNvSpPr txBox="1"/>
          <p:nvPr/>
        </p:nvSpPr>
        <p:spPr>
          <a:xfrm>
            <a:off x="7744968" y="4677156"/>
            <a:ext cx="1078992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S1  SELECTOR</a:t>
            </a:r>
          </a:p>
        </p:txBody>
      </p:sp>
      <p:sp>
        <p:nvSpPr>
          <p:cNvPr id="36" name="DATASHEET S1  SELECTOR"/>
          <p:cNvSpPr txBox="1"/>
          <p:nvPr/>
        </p:nvSpPr>
        <p:spPr>
          <a:xfrm>
            <a:off x="8997696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37" name="TEXT Schneider XB5AD23"/>
          <p:cNvSpPr txBox="1"/>
          <p:nvPr/>
        </p:nvSpPr>
        <p:spPr>
          <a:xfrm>
            <a:off x="7744968" y="4928616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38" name="COMP E1  OMRON"/>
          <p:cNvSpPr/>
          <p:nvPr/>
        </p:nvSpPr>
        <p:spPr>
          <a:xfrm>
            <a:off x="11631168" y="4572000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LABEL E1  OMRON"/>
          <p:cNvSpPr txBox="1"/>
          <p:nvPr/>
        </p:nvSpPr>
        <p:spPr>
          <a:xfrm>
            <a:off x="11759184" y="4677156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40" name="DATASHEET E1  OMRON"/>
          <p:cNvSpPr txBox="1"/>
          <p:nvPr/>
        </p:nvSpPr>
        <p:spPr>
          <a:xfrm>
            <a:off x="13496544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6"/>
              </a:rPr>
              <a:t>DATA ↗</a:t>
            </a:r>
          </a:p>
        </p:txBody>
      </p:sp>
      <p:sp>
        <p:nvSpPr>
          <p:cNvPr id="41" name="TEXT E5CC-TQX3A5M-000"/>
          <p:cNvSpPr txBox="1"/>
          <p:nvPr/>
        </p:nvSpPr>
        <p:spPr>
          <a:xfrm>
            <a:off x="11759184" y="4928616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42" name="TEXT NO contact 13–14"/>
          <p:cNvSpPr txBox="1"/>
          <p:nvPr/>
        </p:nvSpPr>
        <p:spPr>
          <a:xfrm>
            <a:off x="7754112" y="5568696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NO contact 13–14</a:t>
            </a:r>
          </a:p>
        </p:txBody>
      </p:sp>
      <p:sp>
        <p:nvSpPr>
          <p:cNvPr id="43" name="TEXT 230 V AC input"/>
          <p:cNvSpPr txBox="1"/>
          <p:nvPr/>
        </p:nvSpPr>
        <p:spPr>
          <a:xfrm>
            <a:off x="11786616" y="5568696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44" name="COMP S2  SELECTOR"/>
          <p:cNvSpPr/>
          <p:nvPr/>
        </p:nvSpPr>
        <p:spPr>
          <a:xfrm>
            <a:off x="7616952" y="6638544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LABEL S2  SELECTOR"/>
          <p:cNvSpPr txBox="1"/>
          <p:nvPr/>
        </p:nvSpPr>
        <p:spPr>
          <a:xfrm>
            <a:off x="7744968" y="6743700"/>
            <a:ext cx="1078992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S2  SELECTOR</a:t>
            </a:r>
          </a:p>
        </p:txBody>
      </p:sp>
      <p:sp>
        <p:nvSpPr>
          <p:cNvPr id="46" name="DATASHEET S2  SELECTOR"/>
          <p:cNvSpPr txBox="1"/>
          <p:nvPr/>
        </p:nvSpPr>
        <p:spPr>
          <a:xfrm>
            <a:off x="8997696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47" name="TEXT Schneider XB5AD23"/>
          <p:cNvSpPr txBox="1"/>
          <p:nvPr/>
        </p:nvSpPr>
        <p:spPr>
          <a:xfrm>
            <a:off x="7744968" y="6995160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48" name="COMP E2  OMRON"/>
          <p:cNvSpPr/>
          <p:nvPr/>
        </p:nvSpPr>
        <p:spPr>
          <a:xfrm>
            <a:off x="11631168" y="6638544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LABEL E2  OMRON"/>
          <p:cNvSpPr txBox="1"/>
          <p:nvPr/>
        </p:nvSpPr>
        <p:spPr>
          <a:xfrm>
            <a:off x="11759184" y="6743700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50" name="DATASHEET E2  OMRON"/>
          <p:cNvSpPr txBox="1"/>
          <p:nvPr/>
        </p:nvSpPr>
        <p:spPr>
          <a:xfrm>
            <a:off x="13496544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7"/>
              </a:rPr>
              <a:t>DATA ↗</a:t>
            </a:r>
          </a:p>
        </p:txBody>
      </p:sp>
      <p:sp>
        <p:nvSpPr>
          <p:cNvPr id="51" name="TEXT E5CC-TQX3A5M-003"/>
          <p:cNvSpPr txBox="1"/>
          <p:nvPr/>
        </p:nvSpPr>
        <p:spPr>
          <a:xfrm>
            <a:off x="11759184" y="6995160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52" name="TEXT NO contact 13–14"/>
          <p:cNvSpPr txBox="1"/>
          <p:nvPr/>
        </p:nvSpPr>
        <p:spPr>
          <a:xfrm>
            <a:off x="7754112" y="7635240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NO contact 13–14</a:t>
            </a:r>
          </a:p>
        </p:txBody>
      </p:sp>
      <p:sp>
        <p:nvSpPr>
          <p:cNvPr id="53" name="TEXT 230 V AC input"/>
          <p:cNvSpPr txBox="1"/>
          <p:nvPr/>
        </p:nvSpPr>
        <p:spPr>
          <a:xfrm>
            <a:off x="11786616" y="7635240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54" name="TERM jl L"/>
          <p:cNvSpPr/>
          <p:nvPr/>
        </p:nvSpPr>
        <p:spPr>
          <a:xfrm>
            <a:off x="2624328" y="3081527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55" name="TERM jn N"/>
          <p:cNvSpPr/>
          <p:nvPr/>
        </p:nvSpPr>
        <p:spPr>
          <a:xfrm>
            <a:off x="2624328" y="372160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56" name="TERM jpe PE"/>
          <p:cNvSpPr/>
          <p:nvPr/>
        </p:nvSpPr>
        <p:spPr>
          <a:xfrm>
            <a:off x="2624328" y="436168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57" name="TERM xil L IN"/>
          <p:cNvSpPr/>
          <p:nvPr/>
        </p:nvSpPr>
        <p:spPr>
          <a:xfrm>
            <a:off x="3470148" y="3081527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9A5127"/>
                </a:solidFill>
                <a:latin typeface="Aptos"/>
              </a:rPr>
              <a:t>L IN</a:t>
            </a:r>
          </a:p>
        </p:txBody>
      </p:sp>
      <p:sp>
        <p:nvSpPr>
          <p:cNvPr id="58" name="TERM xin N IN"/>
          <p:cNvSpPr/>
          <p:nvPr/>
        </p:nvSpPr>
        <p:spPr>
          <a:xfrm>
            <a:off x="3470148" y="372160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A5BAE"/>
                </a:solidFill>
                <a:latin typeface="Aptos"/>
              </a:rPr>
              <a:t>N IN</a:t>
            </a:r>
          </a:p>
        </p:txBody>
      </p:sp>
      <p:sp>
        <p:nvSpPr>
          <p:cNvPr id="59" name="TERM xip PE IN"/>
          <p:cNvSpPr/>
          <p:nvPr/>
        </p:nvSpPr>
        <p:spPr>
          <a:xfrm>
            <a:off x="3470148" y="436168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6834A"/>
                </a:solidFill>
                <a:latin typeface="Aptos"/>
              </a:rPr>
              <a:t>PE IN</a:t>
            </a:r>
          </a:p>
        </p:txBody>
      </p:sp>
      <p:sp>
        <p:nvSpPr>
          <p:cNvPr id="60" name="TERM ch_pe PE"/>
          <p:cNvSpPr/>
          <p:nvPr/>
        </p:nvSpPr>
        <p:spPr>
          <a:xfrm>
            <a:off x="2615184" y="7315200"/>
            <a:ext cx="54864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1" name="TERM x_pe PE"/>
          <p:cNvSpPr/>
          <p:nvPr/>
        </p:nvSpPr>
        <p:spPr>
          <a:xfrm>
            <a:off x="3470148" y="7315200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2" name="TERM xlps L"/>
          <p:cNvSpPr/>
          <p:nvPr/>
        </p:nvSpPr>
        <p:spPr>
          <a:xfrm>
            <a:off x="5907024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63" name="TERM xnps N"/>
          <p:cNvSpPr/>
          <p:nvPr/>
        </p:nvSpPr>
        <p:spPr>
          <a:xfrm>
            <a:off x="5907024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64" name="TERM xpps PE"/>
          <p:cNvSpPr/>
          <p:nvPr/>
        </p:nvSpPr>
        <p:spPr>
          <a:xfrm>
            <a:off x="5907024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5" name="TERM psl C1"/>
          <p:cNvSpPr/>
          <p:nvPr/>
        </p:nvSpPr>
        <p:spPr>
          <a:xfrm>
            <a:off x="8110727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C1</a:t>
            </a:r>
          </a:p>
        </p:txBody>
      </p:sp>
      <p:sp>
        <p:nvSpPr>
          <p:cNvPr id="66" name="TERM psn C2"/>
          <p:cNvSpPr/>
          <p:nvPr/>
        </p:nvSpPr>
        <p:spPr>
          <a:xfrm>
            <a:off x="8110727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C2</a:t>
            </a:r>
          </a:p>
        </p:txBody>
      </p:sp>
      <p:sp>
        <p:nvSpPr>
          <p:cNvPr id="67" name="TERM pspe C3"/>
          <p:cNvSpPr/>
          <p:nvPr/>
        </p:nvSpPr>
        <p:spPr>
          <a:xfrm>
            <a:off x="8110727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C3</a:t>
            </a:r>
          </a:p>
        </p:txBody>
      </p:sp>
      <p:sp>
        <p:nvSpPr>
          <p:cNvPr id="68" name="TERM pplus A1 +Vo"/>
          <p:cNvSpPr/>
          <p:nvPr/>
        </p:nvSpPr>
        <p:spPr>
          <a:xfrm>
            <a:off x="10885932" y="263347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A1 +Vo</a:t>
            </a:r>
          </a:p>
        </p:txBody>
      </p:sp>
      <p:sp>
        <p:nvSpPr>
          <p:cNvPr id="69" name="TERM pminus1 A2 −Vo"/>
          <p:cNvSpPr/>
          <p:nvPr/>
        </p:nvSpPr>
        <p:spPr>
          <a:xfrm>
            <a:off x="10885932" y="322783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A2 −Vo</a:t>
            </a:r>
          </a:p>
        </p:txBody>
      </p:sp>
      <p:sp>
        <p:nvSpPr>
          <p:cNvPr id="70" name="TERM pminus2 A3 −Vo"/>
          <p:cNvSpPr/>
          <p:nvPr/>
        </p:nvSpPr>
        <p:spPr>
          <a:xfrm>
            <a:off x="10885932" y="382219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A3 −Vo</a:t>
            </a:r>
          </a:p>
        </p:txBody>
      </p:sp>
      <p:sp>
        <p:nvSpPr>
          <p:cNvPr id="71" name="TERM xl1 L1"/>
          <p:cNvSpPr/>
          <p:nvPr/>
        </p:nvSpPr>
        <p:spPr>
          <a:xfrm>
            <a:off x="5916168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L1</a:t>
            </a:r>
          </a:p>
        </p:txBody>
      </p:sp>
      <p:sp>
        <p:nvSpPr>
          <p:cNvPr id="72" name="TERM xn1 N1"/>
          <p:cNvSpPr/>
          <p:nvPr/>
        </p:nvSpPr>
        <p:spPr>
          <a:xfrm>
            <a:off x="5916168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N1</a:t>
            </a:r>
          </a:p>
        </p:txBody>
      </p:sp>
      <p:sp>
        <p:nvSpPr>
          <p:cNvPr id="73" name="TERM s1in 13"/>
          <p:cNvSpPr/>
          <p:nvPr/>
        </p:nvSpPr>
        <p:spPr>
          <a:xfrm>
            <a:off x="7324344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74" name="TERM s1out 14"/>
          <p:cNvSpPr/>
          <p:nvPr/>
        </p:nvSpPr>
        <p:spPr>
          <a:xfrm>
            <a:off x="9317736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75" name="TERM e1l 11"/>
          <p:cNvSpPr/>
          <p:nvPr/>
        </p:nvSpPr>
        <p:spPr>
          <a:xfrm>
            <a:off x="11338560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76" name="TERM e1n 12"/>
          <p:cNvSpPr/>
          <p:nvPr/>
        </p:nvSpPr>
        <p:spPr>
          <a:xfrm>
            <a:off x="11338560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sp>
        <p:nvSpPr>
          <p:cNvPr id="77" name="TERM xl2 L2"/>
          <p:cNvSpPr/>
          <p:nvPr/>
        </p:nvSpPr>
        <p:spPr>
          <a:xfrm>
            <a:off x="5916168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L2</a:t>
            </a:r>
          </a:p>
        </p:txBody>
      </p:sp>
      <p:sp>
        <p:nvSpPr>
          <p:cNvPr id="78" name="TERM xn2 N2"/>
          <p:cNvSpPr/>
          <p:nvPr/>
        </p:nvSpPr>
        <p:spPr>
          <a:xfrm>
            <a:off x="5916168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N2</a:t>
            </a:r>
          </a:p>
        </p:txBody>
      </p:sp>
      <p:sp>
        <p:nvSpPr>
          <p:cNvPr id="79" name="TERM s2in 13"/>
          <p:cNvSpPr/>
          <p:nvPr/>
        </p:nvSpPr>
        <p:spPr>
          <a:xfrm>
            <a:off x="7324344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80" name="TERM s2out 14"/>
          <p:cNvSpPr/>
          <p:nvPr/>
        </p:nvSpPr>
        <p:spPr>
          <a:xfrm>
            <a:off x="9317736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81" name="TERM e2l 11"/>
          <p:cNvSpPr/>
          <p:nvPr/>
        </p:nvSpPr>
        <p:spPr>
          <a:xfrm>
            <a:off x="11338560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82" name="TERM e2n 12"/>
          <p:cNvSpPr/>
          <p:nvPr/>
        </p:nvSpPr>
        <p:spPr>
          <a:xfrm>
            <a:off x="11338560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cxnSp>
        <p:nvCxnSpPr>
          <p:cNvPr id="83" name="WIRE jl -&gt; xil (live)"/>
          <p:cNvCxnSpPr/>
          <p:nvPr/>
        </p:nvCxnSpPr>
        <p:spPr>
          <a:xfrm>
            <a:off x="3154680" y="3246119"/>
            <a:ext cx="31546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WIRE jn -&gt; xin (neutral)"/>
          <p:cNvCxnSpPr/>
          <p:nvPr/>
        </p:nvCxnSpPr>
        <p:spPr>
          <a:xfrm>
            <a:off x="3154680" y="3886200"/>
            <a:ext cx="315468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WIRE jpe -&gt; xip (pe)"/>
          <p:cNvCxnSpPr/>
          <p:nvPr/>
        </p:nvCxnSpPr>
        <p:spPr>
          <a:xfrm>
            <a:off x="3154680" y="4526280"/>
            <a:ext cx="315468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WIRE ch_pe -&gt; x_pe (pe)"/>
          <p:cNvCxnSpPr/>
          <p:nvPr/>
        </p:nvCxnSpPr>
        <p:spPr>
          <a:xfrm>
            <a:off x="3163824" y="7479792"/>
            <a:ext cx="306324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WIRE xlps -&gt; psl (live)"/>
          <p:cNvCxnSpPr/>
          <p:nvPr/>
        </p:nvCxnSpPr>
        <p:spPr>
          <a:xfrm>
            <a:off x="6510528" y="2761488"/>
            <a:ext cx="1600199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WIRE xnps -&gt; psn (neutral)"/>
          <p:cNvCxnSpPr/>
          <p:nvPr/>
        </p:nvCxnSpPr>
        <p:spPr>
          <a:xfrm>
            <a:off x="6510528" y="3374136"/>
            <a:ext cx="1600199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WIRE xpps -&gt; pspe (pe)"/>
          <p:cNvCxnSpPr/>
          <p:nvPr/>
        </p:nvCxnSpPr>
        <p:spPr>
          <a:xfrm>
            <a:off x="6510528" y="3986784"/>
            <a:ext cx="1600199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WIRE xl1 -&gt; s1in (live)"/>
          <p:cNvCxnSpPr/>
          <p:nvPr/>
        </p:nvCxnSpPr>
        <p:spPr>
          <a:xfrm>
            <a:off x="6501384" y="5294375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WIRE s1out -&gt; e1l (live)"/>
          <p:cNvCxnSpPr/>
          <p:nvPr/>
        </p:nvCxnSpPr>
        <p:spPr>
          <a:xfrm>
            <a:off x="9902952" y="5294375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WIRE xn1 -&gt; e1n (neutral)"/>
          <p:cNvCxnSpPr/>
          <p:nvPr/>
        </p:nvCxnSpPr>
        <p:spPr>
          <a:xfrm>
            <a:off x="6501384" y="5870448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WIRE xl2 -&gt; s2in (live)"/>
          <p:cNvCxnSpPr/>
          <p:nvPr/>
        </p:nvCxnSpPr>
        <p:spPr>
          <a:xfrm>
            <a:off x="6501384" y="7360920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WIRE s2out -&gt; e2l (live)"/>
          <p:cNvCxnSpPr/>
          <p:nvPr/>
        </p:nvCxnSpPr>
        <p:spPr>
          <a:xfrm>
            <a:off x="9902952" y="7360920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WIRE xn2 -&gt; e2n (neutral)"/>
          <p:cNvCxnSpPr/>
          <p:nvPr/>
        </p:nvCxnSpPr>
        <p:spPr>
          <a:xfrm>
            <a:off x="6501384" y="7936992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MAINTAINED NO CONTACT SYMBOL"/>
          <p:cNvCxnSpPr/>
          <p:nvPr/>
        </p:nvCxnSpPr>
        <p:spPr>
          <a:xfrm>
            <a:off x="7909560" y="5294376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MAINTAINED NO CONTACT SYMBOL"/>
          <p:cNvCxnSpPr/>
          <p:nvPr/>
        </p:nvCxnSpPr>
        <p:spPr>
          <a:xfrm>
            <a:off x="8942832" y="5294376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MAINTAINED NO CONTACT SYMBOL"/>
          <p:cNvCxnSpPr/>
          <p:nvPr/>
        </p:nvCxnSpPr>
        <p:spPr>
          <a:xfrm flipV="1">
            <a:off x="8394192" y="5175504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NO CONTACT DOT"/>
          <p:cNvSpPr/>
          <p:nvPr/>
        </p:nvSpPr>
        <p:spPr>
          <a:xfrm>
            <a:off x="836218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NO CONTACT DOT"/>
          <p:cNvSpPr/>
          <p:nvPr/>
        </p:nvSpPr>
        <p:spPr>
          <a:xfrm>
            <a:off x="891082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MAINTAINED NO CONTACT SYMBOL"/>
          <p:cNvCxnSpPr/>
          <p:nvPr/>
        </p:nvCxnSpPr>
        <p:spPr>
          <a:xfrm>
            <a:off x="7909560" y="7360920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MAINTAINED NO CONTACT SYMBOL"/>
          <p:cNvCxnSpPr/>
          <p:nvPr/>
        </p:nvCxnSpPr>
        <p:spPr>
          <a:xfrm>
            <a:off x="8942832" y="7360920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MAINTAINED NO CONTACT SYMBOL"/>
          <p:cNvCxnSpPr/>
          <p:nvPr/>
        </p:nvCxnSpPr>
        <p:spPr>
          <a:xfrm flipV="1">
            <a:off x="8394192" y="7242048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NO CONTACT DOT"/>
          <p:cNvSpPr/>
          <p:nvPr/>
        </p:nvSpPr>
        <p:spPr>
          <a:xfrm>
            <a:off x="836218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NO CONTACT DOT"/>
          <p:cNvSpPr/>
          <p:nvPr/>
        </p:nvSpPr>
        <p:spPr>
          <a:xfrm>
            <a:off x="891082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 TO SHARED PSU"/>
          <p:cNvSpPr txBox="1"/>
          <p:nvPr/>
        </p:nvSpPr>
        <p:spPr>
          <a:xfrm>
            <a:off x="6318504" y="2276856"/>
            <a:ext cx="1527048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1">
                <a:solidFill>
                  <a:srgbClr val="607084"/>
                </a:solidFill>
                <a:latin typeface="Aptos"/>
              </a:rPr>
              <a:t>TO SHARED PSU</a:t>
            </a:r>
          </a:p>
        </p:txBody>
      </p:sp>
      <p:sp>
        <p:nvSpPr>
          <p:cNvPr id="107" name="TEXT CH 1 CONTROLLER"/>
          <p:cNvSpPr txBox="1"/>
          <p:nvPr/>
        </p:nvSpPr>
        <p:spPr>
          <a:xfrm>
            <a:off x="9875520" y="4544568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1 CONTROLLER</a:t>
            </a:r>
          </a:p>
        </p:txBody>
      </p:sp>
      <p:sp>
        <p:nvSpPr>
          <p:cNvPr id="108" name="TEXT CH 2 CONTROLLER"/>
          <p:cNvSpPr txBox="1"/>
          <p:nvPr/>
        </p:nvSpPr>
        <p:spPr>
          <a:xfrm>
            <a:off x="9875520" y="6583680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2 CONTROLLER</a:t>
            </a:r>
          </a:p>
        </p:txBody>
      </p:sp>
      <p:sp>
        <p:nvSpPr>
          <p:cNvPr id="109" name="TEXT 24 V OUTPUT → SHEET 02"/>
          <p:cNvSpPr txBox="1"/>
          <p:nvPr/>
        </p:nvSpPr>
        <p:spPr>
          <a:xfrm>
            <a:off x="11622024" y="4114800"/>
            <a:ext cx="2542032" cy="19202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1D599B"/>
                </a:solidFill>
                <a:latin typeface="Aptos"/>
              </a:rPr>
              <a:t>24 V OUTPUT → SHEET 02</a:t>
            </a:r>
          </a:p>
        </p:txBody>
      </p:sp>
      <p:sp>
        <p:nvSpPr>
          <p:cNvPr id="110" name="DESIGN REVIEW NOTE"/>
          <p:cNvSpPr/>
          <p:nvPr/>
        </p:nvSpPr>
        <p:spPr>
          <a:xfrm>
            <a:off x="621792" y="8705088"/>
            <a:ext cx="13487400" cy="685800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13208">
            <a:solidFill>
              <a:srgbClr val="D9A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 DESIGN REVIEW ONLY — Not approved "/>
          <p:cNvSpPr txBox="1"/>
          <p:nvPr/>
        </p:nvSpPr>
        <p:spPr>
          <a:xfrm>
            <a:off x="850392" y="8796528"/>
            <a:ext cx="1294790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70" b="1">
                <a:solidFill>
                  <a:srgbClr val="A35B1B"/>
                </a:solidFill>
                <a:latin typeface="Aptos"/>
              </a:rPr>
              <a:t>DESIGN REVIEW ONLY — Not approved for wiring / energising</a:t>
            </a:r>
          </a:p>
        </p:txBody>
      </p:sp>
      <p:sp>
        <p:nvSpPr>
          <p:cNvPr id="112" name="TEXT Confirm X1 terminal blocks and jum"/>
          <p:cNvSpPr txBox="1"/>
          <p:nvPr/>
        </p:nvSpPr>
        <p:spPr>
          <a:xfrm>
            <a:off x="850392" y="9034272"/>
            <a:ext cx="1298448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50" b="0">
                <a:solidFill>
                  <a:srgbClr val="A35B1B"/>
                </a:solidFill>
                <a:latin typeface="Aptos"/>
              </a:rPr>
              <a:t>Confirm X1 terminal blocks and jumpers, DD11 output tabs / fuse, PE bonds, and 24 V interlock design.</a:t>
            </a:r>
          </a:p>
        </p:txBody>
      </p:sp>
      <p:sp>
        <p:nvSpPr>
          <p:cNvPr id="113" name="TEXT HEATING RATE CONTROLLER   /   D7 A"/>
          <p:cNvSpPr txBox="1"/>
          <p:nvPr/>
        </p:nvSpPr>
        <p:spPr>
          <a:xfrm>
            <a:off x="640080" y="9765792"/>
            <a:ext cx="96012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69" b="1">
                <a:solidFill>
                  <a:srgbClr val="607084"/>
                </a:solidFill>
                <a:latin typeface="Aptos"/>
              </a:rPr>
              <a:t>HEATING RATE CONTROLLER   /   D12 SOCKET + ACTIVITY LED   /   EDITABLE POWERPOINT</a:t>
            </a:r>
          </a:p>
        </p:txBody>
      </p:sp>
      <p:sp>
        <p:nvSpPr>
          <p:cNvPr id="114" name="TEXT SHEET 01 / 01"/>
          <p:cNvSpPr txBox="1"/>
          <p:nvPr/>
        </p:nvSpPr>
        <p:spPr>
          <a:xfrm>
            <a:off x="12115800" y="9765792"/>
            <a:ext cx="201168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r"/>
            <a:r>
              <a:rPr sz="969" b="1">
                <a:solidFill>
                  <a:srgbClr val="607084"/>
                </a:solidFill>
                <a:latin typeface="Aptos"/>
              </a:rPr>
              <a:t>SHEET 01 / 01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2  /  SHARED 24 V DISTRI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02  /  SHARED 24 V DISTRIBUTION &amp; CHANNEL INTERLOCKS</a:t>
            </a:r>
          </a:p>
        </p:txBody>
      </p:sp>
      <p:sp>
        <p:nvSpPr>
          <p:cNvPr id="3" name="TEXT One shared Mean Well supp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One shared Mean Well supply; S1-B and S2-B independently enable their respective 24 V branches.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24 V DC DISTRIBUTION   /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24 V DC DISTRIBUTION   /   CHANNEL 1 + CHANNEL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2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02</a:t>
            </a:r>
          </a:p>
        </p:txBody>
      </p:sp>
      <p:sp>
        <p:nvSpPr>
          <p:cNvPr id="10" name="TEXT S1/S2 second contact numb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S1/S2 second contact numbering and distribution terminal hardware not yet confirmed.</a:t>
            </a:r>
          </a:p>
        </p:txBody>
      </p:sp>
      <p:sp>
        <p:nvSpPr>
          <p:cNvPr id="11" name="COMPONENT PS1  MEAN WELL"/>
          <p:cNvSpPr/>
          <p:nvPr/>
        </p:nvSpPr>
        <p:spPr>
          <a:xfrm>
            <a:off x="658368" y="2761488"/>
            <a:ext cx="2157984" cy="245059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PS1  MEAN WELL"/>
          <p:cNvSpPr txBox="1"/>
          <p:nvPr/>
        </p:nvSpPr>
        <p:spPr>
          <a:xfrm>
            <a:off x="822959" y="2898648"/>
            <a:ext cx="18562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13" name="TEXT XDR-120E-24"/>
          <p:cNvSpPr txBox="1"/>
          <p:nvPr/>
        </p:nvSpPr>
        <p:spPr>
          <a:xfrm>
            <a:off x="822959" y="3209544"/>
            <a:ext cx="18562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XDR-120E-24</a:t>
            </a:r>
          </a:p>
        </p:txBody>
      </p:sp>
      <p:sp>
        <p:nvSpPr>
          <p:cNvPr id="14" name="TEXT 24 V DC / 5 A&#10;shared supp"/>
          <p:cNvSpPr txBox="1"/>
          <p:nvPr/>
        </p:nvSpPr>
        <p:spPr>
          <a:xfrm>
            <a:off x="822959" y="3483864"/>
            <a:ext cx="18288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DC / 5 A
shared supply</a:t>
            </a:r>
          </a:p>
        </p:txBody>
      </p:sp>
      <p:sp>
        <p:nvSpPr>
          <p:cNvPr id="15" name="MFR LINK PS1  MEAN WELL"/>
          <p:cNvSpPr txBox="1"/>
          <p:nvPr/>
        </p:nvSpPr>
        <p:spPr>
          <a:xfrm>
            <a:off x="822959" y="4901184"/>
            <a:ext cx="18288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6" name="COMPONENT X2  DC DISTR."/>
          <p:cNvSpPr/>
          <p:nvPr/>
        </p:nvSpPr>
        <p:spPr>
          <a:xfrm>
            <a:off x="3685032" y="2203704"/>
            <a:ext cx="2212848" cy="529437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 X2  DC DISTR."/>
          <p:cNvSpPr txBox="1"/>
          <p:nvPr/>
        </p:nvSpPr>
        <p:spPr>
          <a:xfrm>
            <a:off x="3849624" y="2340864"/>
            <a:ext cx="191109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X2  DC DISTR.</a:t>
            </a:r>
          </a:p>
        </p:txBody>
      </p:sp>
      <p:sp>
        <p:nvSpPr>
          <p:cNvPr id="18" name="TEXT +24 V  /  0 V"/>
          <p:cNvSpPr txBox="1"/>
          <p:nvPr/>
        </p:nvSpPr>
        <p:spPr>
          <a:xfrm>
            <a:off x="3849624" y="2651760"/>
            <a:ext cx="191109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+24 V  /  0 V</a:t>
            </a:r>
          </a:p>
        </p:txBody>
      </p:sp>
      <p:sp>
        <p:nvSpPr>
          <p:cNvPr id="19" name="TEXT Physical terminals and ju"/>
          <p:cNvSpPr txBox="1"/>
          <p:nvPr/>
        </p:nvSpPr>
        <p:spPr>
          <a:xfrm>
            <a:off x="3867912" y="4599432"/>
            <a:ext cx="1719072" cy="6858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90" b="0">
                <a:solidFill>
                  <a:srgbClr val="607084"/>
                </a:solidFill>
                <a:latin typeface="Aptos"/>
              </a:rPr>
              <a:t>Physical terminals and jumpers TBD</a:t>
            </a:r>
          </a:p>
        </p:txBody>
      </p:sp>
      <p:sp>
        <p:nvSpPr>
          <p:cNvPr id="20" name="COMPONENT S1-B  SELECTOR"/>
          <p:cNvSpPr/>
          <p:nvPr/>
        </p:nvSpPr>
        <p:spPr>
          <a:xfrm>
            <a:off x="6757416" y="2176272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S1-B  SELECTOR"/>
          <p:cNvSpPr txBox="1"/>
          <p:nvPr/>
        </p:nvSpPr>
        <p:spPr>
          <a:xfrm>
            <a:off x="6922007" y="2313432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S1-B  SELECTOR</a:t>
            </a:r>
          </a:p>
        </p:txBody>
      </p:sp>
      <p:sp>
        <p:nvSpPr>
          <p:cNvPr id="22" name="TEXT XB5AD23"/>
          <p:cNvSpPr txBox="1"/>
          <p:nvPr/>
        </p:nvSpPr>
        <p:spPr>
          <a:xfrm>
            <a:off x="6922007" y="2624328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23" name="MFR LINK S1-B  SELECTOR"/>
          <p:cNvSpPr txBox="1"/>
          <p:nvPr/>
        </p:nvSpPr>
        <p:spPr>
          <a:xfrm>
            <a:off x="6922007" y="3621024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4" name="COMPONENT X3  CH1 CONTROL"/>
          <p:cNvSpPr/>
          <p:nvPr/>
        </p:nvSpPr>
        <p:spPr>
          <a:xfrm>
            <a:off x="11091672" y="2276856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X3  CH1 CONTROL"/>
          <p:cNvSpPr txBox="1"/>
          <p:nvPr/>
        </p:nvSpPr>
        <p:spPr>
          <a:xfrm>
            <a:off x="11256264" y="2414016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26" name="TEXT Gated +24 V / 0 V"/>
          <p:cNvSpPr txBox="1"/>
          <p:nvPr/>
        </p:nvSpPr>
        <p:spPr>
          <a:xfrm>
            <a:off x="11256264" y="2724912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27" name="COMPONENT S2-B  SELECTOR"/>
          <p:cNvSpPr/>
          <p:nvPr/>
        </p:nvSpPr>
        <p:spPr>
          <a:xfrm>
            <a:off x="6757416" y="4837176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 S2-B  SELECTOR"/>
          <p:cNvSpPr txBox="1"/>
          <p:nvPr/>
        </p:nvSpPr>
        <p:spPr>
          <a:xfrm>
            <a:off x="6922007" y="4974336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S2-B  SELECTOR</a:t>
            </a:r>
          </a:p>
        </p:txBody>
      </p:sp>
      <p:sp>
        <p:nvSpPr>
          <p:cNvPr id="29" name="TEXT XB5AD23"/>
          <p:cNvSpPr txBox="1"/>
          <p:nvPr/>
        </p:nvSpPr>
        <p:spPr>
          <a:xfrm>
            <a:off x="6922007" y="5285232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30" name="MFR LINK S2-B  SELECTOR"/>
          <p:cNvSpPr txBox="1"/>
          <p:nvPr/>
        </p:nvSpPr>
        <p:spPr>
          <a:xfrm>
            <a:off x="6922007" y="6281928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31" name="COMPONENT X4  CH2 CONTROL"/>
          <p:cNvSpPr/>
          <p:nvPr/>
        </p:nvSpPr>
        <p:spPr>
          <a:xfrm>
            <a:off x="11091672" y="4910328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X4  CH2 CONTROL"/>
          <p:cNvSpPr txBox="1"/>
          <p:nvPr/>
        </p:nvSpPr>
        <p:spPr>
          <a:xfrm>
            <a:off x="11256264" y="5047488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33" name="TEXT Gated +24 V / 0 V"/>
          <p:cNvSpPr txBox="1"/>
          <p:nvPr/>
        </p:nvSpPr>
        <p:spPr>
          <a:xfrm>
            <a:off x="11256264" y="5358384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34" name="PORT +Vo"/>
          <p:cNvSpPr/>
          <p:nvPr/>
        </p:nvSpPr>
        <p:spPr>
          <a:xfrm>
            <a:off x="2359152" y="319125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+Vo"/>
          <p:cNvSpPr txBox="1"/>
          <p:nvPr/>
        </p:nvSpPr>
        <p:spPr>
          <a:xfrm>
            <a:off x="2372868" y="320497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+Vo</a:t>
            </a:r>
          </a:p>
        </p:txBody>
      </p:sp>
      <p:sp>
        <p:nvSpPr>
          <p:cNvPr id="36" name="PORT 24+"/>
          <p:cNvSpPr/>
          <p:nvPr/>
        </p:nvSpPr>
        <p:spPr>
          <a:xfrm>
            <a:off x="3557016" y="31912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24+"/>
          <p:cNvSpPr txBox="1"/>
          <p:nvPr/>
        </p:nvSpPr>
        <p:spPr>
          <a:xfrm>
            <a:off x="3570732" y="32049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cxnSp>
        <p:nvCxnSpPr>
          <p:cNvPr id="38" name="PROPOSED WIRE v24"/>
          <p:cNvCxnSpPr/>
          <p:nvPr/>
        </p:nvCxnSpPr>
        <p:spPr>
          <a:xfrm>
            <a:off x="2944368" y="3374136"/>
            <a:ext cx="612648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-Vo"/>
          <p:cNvSpPr/>
          <p:nvPr/>
        </p:nvSpPr>
        <p:spPr>
          <a:xfrm>
            <a:off x="2359152" y="3931920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-Vo"/>
          <p:cNvSpPr txBox="1"/>
          <p:nvPr/>
        </p:nvSpPr>
        <p:spPr>
          <a:xfrm>
            <a:off x="2372868" y="3945635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-Vo</a:t>
            </a:r>
          </a:p>
        </p:txBody>
      </p:sp>
      <p:sp>
        <p:nvSpPr>
          <p:cNvPr id="41" name="PORT 0 V"/>
          <p:cNvSpPr/>
          <p:nvPr/>
        </p:nvSpPr>
        <p:spPr>
          <a:xfrm>
            <a:off x="3557016" y="393192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0 V"/>
          <p:cNvSpPr txBox="1"/>
          <p:nvPr/>
        </p:nvSpPr>
        <p:spPr>
          <a:xfrm>
            <a:off x="3570732" y="394563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43" name="PROPOSED WIRE return"/>
          <p:cNvCxnSpPr/>
          <p:nvPr/>
        </p:nvCxnSpPr>
        <p:spPr>
          <a:xfrm>
            <a:off x="2944368" y="4114800"/>
            <a:ext cx="612648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24+"/>
          <p:cNvSpPr/>
          <p:nvPr/>
        </p:nvSpPr>
        <p:spPr>
          <a:xfrm>
            <a:off x="5431536" y="29626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24+"/>
          <p:cNvSpPr txBox="1"/>
          <p:nvPr/>
        </p:nvSpPr>
        <p:spPr>
          <a:xfrm>
            <a:off x="5445251" y="29763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46" name="PORT 13"/>
          <p:cNvSpPr/>
          <p:nvPr/>
        </p:nvSpPr>
        <p:spPr>
          <a:xfrm>
            <a:off x="662940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3"/>
          <p:cNvSpPr txBox="1"/>
          <p:nvPr/>
        </p:nvSpPr>
        <p:spPr>
          <a:xfrm>
            <a:off x="664311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13</a:t>
            </a:r>
          </a:p>
        </p:txBody>
      </p:sp>
      <p:sp>
        <p:nvSpPr>
          <p:cNvPr id="48" name="PORT 14"/>
          <p:cNvSpPr/>
          <p:nvPr/>
        </p:nvSpPr>
        <p:spPr>
          <a:xfrm>
            <a:off x="832104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14"/>
          <p:cNvSpPr txBox="1"/>
          <p:nvPr/>
        </p:nvSpPr>
        <p:spPr>
          <a:xfrm>
            <a:off x="833475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50" name="PORT +24"/>
          <p:cNvSpPr/>
          <p:nvPr/>
        </p:nvSpPr>
        <p:spPr>
          <a:xfrm>
            <a:off x="10963656" y="2962656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+24"/>
          <p:cNvSpPr txBox="1"/>
          <p:nvPr/>
        </p:nvSpPr>
        <p:spPr>
          <a:xfrm>
            <a:off x="10977372" y="2976372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52" name="PROPOSED WIRE v24"/>
          <p:cNvCxnSpPr/>
          <p:nvPr/>
        </p:nvCxnSpPr>
        <p:spPr>
          <a:xfrm>
            <a:off x="6025896" y="3145536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ROPOSED WIRE v24"/>
          <p:cNvCxnSpPr/>
          <p:nvPr/>
        </p:nvCxnSpPr>
        <p:spPr>
          <a:xfrm>
            <a:off x="6629400" y="3145536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PROPOSED WIRE v24"/>
          <p:cNvCxnSpPr/>
          <p:nvPr/>
        </p:nvCxnSpPr>
        <p:spPr>
          <a:xfrm>
            <a:off x="7891272" y="3145536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PROPOSED WIRE v24"/>
          <p:cNvCxnSpPr/>
          <p:nvPr/>
        </p:nvCxnSpPr>
        <p:spPr>
          <a:xfrm flipV="1">
            <a:off x="7616952" y="3044952"/>
            <a:ext cx="205740" cy="100584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CONTACT TERMINAL DOT"/>
          <p:cNvSpPr/>
          <p:nvPr/>
        </p:nvSpPr>
        <p:spPr>
          <a:xfrm>
            <a:off x="759226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ONTACT TERMINAL DOT"/>
          <p:cNvSpPr/>
          <p:nvPr/>
        </p:nvSpPr>
        <p:spPr>
          <a:xfrm>
            <a:off x="786658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" name="PROPOSED WIRE v24"/>
          <p:cNvCxnSpPr/>
          <p:nvPr/>
        </p:nvCxnSpPr>
        <p:spPr>
          <a:xfrm>
            <a:off x="8878824" y="3145536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RT 0 V"/>
          <p:cNvSpPr/>
          <p:nvPr/>
        </p:nvSpPr>
        <p:spPr>
          <a:xfrm>
            <a:off x="5431536" y="3867911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0 V"/>
          <p:cNvSpPr txBox="1"/>
          <p:nvPr/>
        </p:nvSpPr>
        <p:spPr>
          <a:xfrm>
            <a:off x="5445251" y="3881627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61" name="PORT 0 V"/>
          <p:cNvSpPr/>
          <p:nvPr/>
        </p:nvSpPr>
        <p:spPr>
          <a:xfrm>
            <a:off x="10963656" y="3867911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0 V"/>
          <p:cNvSpPr txBox="1"/>
          <p:nvPr/>
        </p:nvSpPr>
        <p:spPr>
          <a:xfrm>
            <a:off x="10977372" y="3881627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3" name="PROPOSED WIRE return"/>
          <p:cNvCxnSpPr/>
          <p:nvPr/>
        </p:nvCxnSpPr>
        <p:spPr>
          <a:xfrm>
            <a:off x="6025896" y="4050791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24+"/>
          <p:cNvSpPr/>
          <p:nvPr/>
        </p:nvSpPr>
        <p:spPr>
          <a:xfrm>
            <a:off x="5431536" y="5623559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24+"/>
          <p:cNvSpPr txBox="1"/>
          <p:nvPr/>
        </p:nvSpPr>
        <p:spPr>
          <a:xfrm>
            <a:off x="5445251" y="563727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66" name="PORT 13"/>
          <p:cNvSpPr/>
          <p:nvPr/>
        </p:nvSpPr>
        <p:spPr>
          <a:xfrm>
            <a:off x="662940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13"/>
          <p:cNvSpPr txBox="1"/>
          <p:nvPr/>
        </p:nvSpPr>
        <p:spPr>
          <a:xfrm>
            <a:off x="664311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13</a:t>
            </a:r>
          </a:p>
        </p:txBody>
      </p:sp>
      <p:sp>
        <p:nvSpPr>
          <p:cNvPr id="68" name="PORT 14"/>
          <p:cNvSpPr/>
          <p:nvPr/>
        </p:nvSpPr>
        <p:spPr>
          <a:xfrm>
            <a:off x="832104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14"/>
          <p:cNvSpPr txBox="1"/>
          <p:nvPr/>
        </p:nvSpPr>
        <p:spPr>
          <a:xfrm>
            <a:off x="833475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70" name="PORT +24"/>
          <p:cNvSpPr/>
          <p:nvPr/>
        </p:nvSpPr>
        <p:spPr>
          <a:xfrm>
            <a:off x="10963656" y="5623559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 +24"/>
          <p:cNvSpPr txBox="1"/>
          <p:nvPr/>
        </p:nvSpPr>
        <p:spPr>
          <a:xfrm>
            <a:off x="10977372" y="5637275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72" name="PROPOSED WIRE v24"/>
          <p:cNvCxnSpPr/>
          <p:nvPr/>
        </p:nvCxnSpPr>
        <p:spPr>
          <a:xfrm>
            <a:off x="6025896" y="5806440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PROPOSED WIRE v24"/>
          <p:cNvCxnSpPr/>
          <p:nvPr/>
        </p:nvCxnSpPr>
        <p:spPr>
          <a:xfrm>
            <a:off x="6629400" y="5806440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PROPOSED WIRE v24"/>
          <p:cNvCxnSpPr/>
          <p:nvPr/>
        </p:nvCxnSpPr>
        <p:spPr>
          <a:xfrm>
            <a:off x="7891272" y="5806440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OPOSED WIRE v24"/>
          <p:cNvCxnSpPr/>
          <p:nvPr/>
        </p:nvCxnSpPr>
        <p:spPr>
          <a:xfrm flipV="1">
            <a:off x="7616952" y="5705855"/>
            <a:ext cx="205740" cy="100585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NTACT TERMINAL DOT"/>
          <p:cNvSpPr/>
          <p:nvPr/>
        </p:nvSpPr>
        <p:spPr>
          <a:xfrm>
            <a:off x="759226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NTACT TERMINAL DOT"/>
          <p:cNvSpPr/>
          <p:nvPr/>
        </p:nvSpPr>
        <p:spPr>
          <a:xfrm>
            <a:off x="786658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PROPOSED WIRE v24"/>
          <p:cNvCxnSpPr/>
          <p:nvPr/>
        </p:nvCxnSpPr>
        <p:spPr>
          <a:xfrm>
            <a:off x="8878824" y="5806440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PORT 0 V"/>
          <p:cNvSpPr/>
          <p:nvPr/>
        </p:nvSpPr>
        <p:spPr>
          <a:xfrm>
            <a:off x="5431536" y="658368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 0 V"/>
          <p:cNvSpPr txBox="1"/>
          <p:nvPr/>
        </p:nvSpPr>
        <p:spPr>
          <a:xfrm>
            <a:off x="5445251" y="6597396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81" name="PORT 0 V"/>
          <p:cNvSpPr/>
          <p:nvPr/>
        </p:nvSpPr>
        <p:spPr>
          <a:xfrm>
            <a:off x="10963656" y="65836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 0 V"/>
          <p:cNvSpPr txBox="1"/>
          <p:nvPr/>
        </p:nvSpPr>
        <p:spPr>
          <a:xfrm>
            <a:off x="10977372" y="65973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83" name="PROPOSED WIRE return"/>
          <p:cNvCxnSpPr/>
          <p:nvPr/>
        </p:nvCxnSpPr>
        <p:spPr>
          <a:xfrm>
            <a:off x="6025896" y="6766560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 CH1: 24 V gated by S1-B  "/>
          <p:cNvSpPr txBox="1"/>
          <p:nvPr/>
        </p:nvSpPr>
        <p:spPr>
          <a:xfrm>
            <a:off x="6848856" y="4315968"/>
            <a:ext cx="6565392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CH1: 24 V gated by S1-B  |  shared 0 V below selector</a:t>
            </a:r>
          </a:p>
        </p:txBody>
      </p:sp>
      <p:sp>
        <p:nvSpPr>
          <p:cNvPr id="85" name="TEXT CH2: 24 V gated by S2-B  "/>
          <p:cNvSpPr txBox="1"/>
          <p:nvPr/>
        </p:nvSpPr>
        <p:spPr>
          <a:xfrm>
            <a:off x="6848856" y="7059168"/>
            <a:ext cx="656539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CH2: 24 V gated by S2-B  |  shared 0 V below selector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+24 V / gate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+24 V / gated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3  /  CHANNEL 1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03  /  CHANNEL 1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(CH1).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3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03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OFF-on-power-restoration and exact Finder supply/trigger/socket terminal markings remain to be verified.</a:t>
            </a:r>
          </a:p>
        </p:txBody>
      </p:sp>
      <p:sp>
        <p:nvSpPr>
          <p:cNvPr id="11" name="COMPONENT X3  CH1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3  CH1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1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1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SB1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1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1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1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K1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1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3 / SK3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3 / SK3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K3 / SK3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L/+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N/−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1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2" name="TEXT EN1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3" name="TEXT EN1: K1:14 / K3:A1 / SB1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EN1: K1:14 / K3:A1 / SB1:LED+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0">
                <a:solidFill>
                  <a:srgbClr val="607084"/>
                </a:solidFill>
                <a:latin typeface="Aptos"/>
              </a:rPr>
              <a:t>Matching EN reference indicates ONE electrical net (avoids a wire crossing other circuits).</a:t>
            </a:r>
          </a:p>
        </p:txBody>
      </p:sp>
      <p:sp>
        <p:nvSpPr>
          <p:cNvPr id="85" name="TEXT X3:+24 → button C and K1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607084"/>
                </a:solidFill>
                <a:latin typeface="Aptos"/>
              </a:rPr>
              <a:t>X3:+24 → button C and K1 L/+,11  |  Button NO → K1:3  |  EN1 → relay coil A1 and LED+  |  0V → K1:N/−, K3:A2, LED−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4  /  CHANNEL 2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04  /  CHANNEL 2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(CH2).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4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04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OFF-on-power-restoration and exact Finder supply/trigger/socket terminal markings remain to be verified.</a:t>
            </a:r>
          </a:p>
        </p:txBody>
      </p:sp>
      <p:sp>
        <p:nvSpPr>
          <p:cNvPr id="11" name="COMPONENT X4  CH2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4  CH2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2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2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SB2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2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2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2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K2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2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4 / SK4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4 / SK4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K4 / SK4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L/+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N/−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2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2" name="TEXT EN2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3" name="TEXT EN2: K2:14 / K4:A1 / SB2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EN2: K2:14 / K4:A1 / SB2:LED+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0">
                <a:solidFill>
                  <a:srgbClr val="607084"/>
                </a:solidFill>
                <a:latin typeface="Aptos"/>
              </a:rPr>
              <a:t>Matching EN reference indicates ONE electrical net (avoids a wire crossing other circuits).</a:t>
            </a:r>
          </a:p>
        </p:txBody>
      </p:sp>
      <p:sp>
        <p:nvSpPr>
          <p:cNvPr id="85" name="TEXT X4:+24 → button C and K2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607084"/>
                </a:solidFill>
                <a:latin typeface="Aptos"/>
              </a:rPr>
              <a:t>X4:+24 → button C and K2 L/+,11  |  Button NO → K2:3  |  EN2 → relay coil A1 and LED+  |  0V → K2:N/−, K4:A2, LED−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5  /  CHANNEL 1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05  /  CHANNEL 1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5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05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LED is on the 24 V CONTROL circuit, not the external heater: HL1/HL2 = RS 130-1086, yellow, 24 V DC, 20 mA max.</a:t>
            </a:r>
          </a:p>
        </p:txBody>
      </p:sp>
      <p:sp>
        <p:nvSpPr>
          <p:cNvPr id="11" name="COMPONENT JTC1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1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JTC1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1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1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17" name="TEXT E5CC-TQX3A5M-000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1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1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1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W1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1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1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1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HL1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3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3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X3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From selector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5" b="1">
                <a:solidFill>
                  <a:srgbClr val="607084"/>
                </a:solidFill>
                <a:latin typeface="Aptos"/>
              </a:rPr>
              <a:t>W13: switched returns  |  W14: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Datasheet budget: SSR max 15 mA + HL yellow LED max 20 mA = 35 mA per channel; W1/W2 DC1 output max 100 mA. Verify live circuit.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6  /  CHANNEL 2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06  /  CHANNEL 2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6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06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LED is on the 24 V CONTROL circuit, not the external heater: HL1/HL2 = RS 130-1086, yellow, 24 V DC, 20 mA max.</a:t>
            </a:r>
          </a:p>
        </p:txBody>
      </p:sp>
      <p:sp>
        <p:nvSpPr>
          <p:cNvPr id="11" name="COMPONENT JTC2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2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JTC2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2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2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17" name="TEXT E5CC-TQX3A5M-003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2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2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2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W2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2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2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2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HL2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4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4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X4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From selector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5" b="1">
                <a:solidFill>
                  <a:srgbClr val="607084"/>
                </a:solidFill>
                <a:latin typeface="Aptos"/>
              </a:rPr>
              <a:t>W13: switched returns  |  W14: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Datasheet budget: SSR max 15 mA + HL yellow LED max 20 mA = 35 mA per channel; W1/W2 DC1 output max 100 mA. Verify live circuit.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7  /  CHANNEL 1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07  /  CHANNEL 1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7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07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1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1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JP1-IN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1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1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QF1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1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3/SK3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3/SK3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K3/SK3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3/SK3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1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1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JP1-OUT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1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1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1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1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1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1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1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1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35" b="0">
                <a:solidFill>
                  <a:srgbClr val="1F344E"/>
                </a:solidFill>
                <a:latin typeface="Aptos"/>
              </a:rPr>
              <a:t>Finder terminal 14 (−) and SSR load −2 remain in the POSITIVE conductor — neither is the supply 0 V.
Breaker coordination, socket/contact derating and SSR heat dissipation require design approval.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8  /  CHANNEL 2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08  /  CHANNEL 2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8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08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2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2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JP2-IN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2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2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QF2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2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4/SK4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4/SK4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K4/SK4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4/SK4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2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2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JP2-OUT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2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2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2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2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2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2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2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2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35" b="0">
                <a:solidFill>
                  <a:srgbClr val="1F344E"/>
                </a:solidFill>
                <a:latin typeface="Aptos"/>
              </a:rPr>
              <a:t>Finder terminal 14 (−) and SSR load −2 remain in the POSITIVE conductor — neither is the supply 0 V.
Breaker coordination, socket/contact derating and SSR heat dissipation require design approval.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9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09  /  CONNECTION SCHEDULE / MAINS + 24 V DISTRIBUTION</a:t>
            </a:r>
          </a:p>
        </p:txBody>
      </p:sp>
      <p:sp>
        <p:nvSpPr>
          <p:cNvPr id="3" name="TEXT Functional point-to-point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Functional point-to-point net destinations for the component-port diagrams (not a physical ferrule/cable schedule).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MAINS AND 24 V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9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09</a:t>
            </a:r>
          </a:p>
        </p:txBody>
      </p:sp>
      <p:sp>
        <p:nvSpPr>
          <p:cNvPr id="10" name="TEXT Any X1–X4 numbers are log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Any X1–X4 numbers are logical net references until actual terminal blocks/jumpers are documented.</a:t>
            </a:r>
          </a:p>
        </p:txBody>
      </p:sp>
      <p:sp>
        <p:nvSpPr>
          <p:cNvPr id="11" name="NET ROW AC01"/>
          <p:cNvSpPr/>
          <p:nvPr/>
        </p:nvSpPr>
        <p:spPr>
          <a:xfrm>
            <a:off x="832104" y="188366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MPONENT"/>
          <p:cNvSpPr/>
          <p:nvPr/>
        </p:nvSpPr>
        <p:spPr>
          <a:xfrm>
            <a:off x="950976" y="2002536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AC01"/>
          <p:cNvSpPr txBox="1"/>
          <p:nvPr/>
        </p:nvSpPr>
        <p:spPr>
          <a:xfrm>
            <a:off x="1197864" y="194767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AC01</a:t>
            </a:r>
          </a:p>
        </p:txBody>
      </p:sp>
      <p:sp>
        <p:nvSpPr>
          <p:cNvPr id="14" name="TEXT J1 switched fused L"/>
          <p:cNvSpPr txBox="1"/>
          <p:nvPr/>
        </p:nvSpPr>
        <p:spPr>
          <a:xfrm>
            <a:off x="2194560" y="194767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fused L</a:t>
            </a:r>
          </a:p>
        </p:txBody>
      </p:sp>
      <p:sp>
        <p:nvSpPr>
          <p:cNvPr id="15" name="TEXT →"/>
          <p:cNvSpPr txBox="1"/>
          <p:nvPr/>
        </p:nvSpPr>
        <p:spPr>
          <a:xfrm>
            <a:off x="7424927" y="195681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16" name="TEXT X1:L bus"/>
          <p:cNvSpPr txBox="1"/>
          <p:nvPr/>
        </p:nvSpPr>
        <p:spPr>
          <a:xfrm>
            <a:off x="7790688" y="194767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bus</a:t>
            </a:r>
          </a:p>
        </p:txBody>
      </p:sp>
      <p:sp>
        <p:nvSpPr>
          <p:cNvPr id="17" name="NET ROW AC02"/>
          <p:cNvSpPr/>
          <p:nvPr/>
        </p:nvSpPr>
        <p:spPr>
          <a:xfrm>
            <a:off x="832104" y="236829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OMPONENT"/>
          <p:cNvSpPr/>
          <p:nvPr/>
        </p:nvSpPr>
        <p:spPr>
          <a:xfrm>
            <a:off x="950976" y="2487168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AC02"/>
          <p:cNvSpPr txBox="1"/>
          <p:nvPr/>
        </p:nvSpPr>
        <p:spPr>
          <a:xfrm>
            <a:off x="1197864" y="2432303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AC02</a:t>
            </a:r>
          </a:p>
        </p:txBody>
      </p:sp>
      <p:sp>
        <p:nvSpPr>
          <p:cNvPr id="20" name="TEXT J1 switched N"/>
          <p:cNvSpPr txBox="1"/>
          <p:nvPr/>
        </p:nvSpPr>
        <p:spPr>
          <a:xfrm>
            <a:off x="2194560" y="2432303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N</a:t>
            </a:r>
          </a:p>
        </p:txBody>
      </p:sp>
      <p:sp>
        <p:nvSpPr>
          <p:cNvPr id="21" name="TEXT →"/>
          <p:cNvSpPr txBox="1"/>
          <p:nvPr/>
        </p:nvSpPr>
        <p:spPr>
          <a:xfrm>
            <a:off x="7424927" y="244144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22" name="TEXT X1:N bus"/>
          <p:cNvSpPr txBox="1"/>
          <p:nvPr/>
        </p:nvSpPr>
        <p:spPr>
          <a:xfrm>
            <a:off x="7790688" y="2432303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23" name="NET ROW AC03"/>
          <p:cNvSpPr/>
          <p:nvPr/>
        </p:nvSpPr>
        <p:spPr>
          <a:xfrm>
            <a:off x="832104" y="285292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OMPONENT"/>
          <p:cNvSpPr/>
          <p:nvPr/>
        </p:nvSpPr>
        <p:spPr>
          <a:xfrm>
            <a:off x="950976" y="2971800"/>
            <a:ext cx="118872" cy="173736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AC03"/>
          <p:cNvSpPr txBox="1"/>
          <p:nvPr/>
        </p:nvSpPr>
        <p:spPr>
          <a:xfrm>
            <a:off x="1197864" y="291693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AC03</a:t>
            </a:r>
          </a:p>
        </p:txBody>
      </p:sp>
      <p:sp>
        <p:nvSpPr>
          <p:cNvPr id="26" name="TEXT J1:PE"/>
          <p:cNvSpPr txBox="1"/>
          <p:nvPr/>
        </p:nvSpPr>
        <p:spPr>
          <a:xfrm>
            <a:off x="2194560" y="291693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J1:PE</a:t>
            </a:r>
          </a:p>
        </p:txBody>
      </p:sp>
      <p:sp>
        <p:nvSpPr>
          <p:cNvPr id="27" name="TEXT →"/>
          <p:cNvSpPr txBox="1"/>
          <p:nvPr/>
        </p:nvSpPr>
        <p:spPr>
          <a:xfrm>
            <a:off x="7424927" y="292608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6834A"/>
                </a:solidFill>
                <a:latin typeface="Aptos"/>
              </a:rPr>
              <a:t>→</a:t>
            </a:r>
          </a:p>
        </p:txBody>
      </p:sp>
      <p:sp>
        <p:nvSpPr>
          <p:cNvPr id="28" name="TEXT X1:PE + chassis bonds"/>
          <p:cNvSpPr txBox="1"/>
          <p:nvPr/>
        </p:nvSpPr>
        <p:spPr>
          <a:xfrm>
            <a:off x="7790688" y="291693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X1:PE + chassis bonds</a:t>
            </a:r>
          </a:p>
        </p:txBody>
      </p:sp>
      <p:sp>
        <p:nvSpPr>
          <p:cNvPr id="29" name="NET ROW AC04"/>
          <p:cNvSpPr/>
          <p:nvPr/>
        </p:nvSpPr>
        <p:spPr>
          <a:xfrm>
            <a:off x="832104" y="333756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ONENT"/>
          <p:cNvSpPr/>
          <p:nvPr/>
        </p:nvSpPr>
        <p:spPr>
          <a:xfrm>
            <a:off x="950976" y="3456432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AC04"/>
          <p:cNvSpPr txBox="1"/>
          <p:nvPr/>
        </p:nvSpPr>
        <p:spPr>
          <a:xfrm>
            <a:off x="1197864" y="340156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AC04</a:t>
            </a:r>
          </a:p>
        </p:txBody>
      </p:sp>
      <p:sp>
        <p:nvSpPr>
          <p:cNvPr id="32" name="TEXT X1:L / N / PE"/>
          <p:cNvSpPr txBox="1"/>
          <p:nvPr/>
        </p:nvSpPr>
        <p:spPr>
          <a:xfrm>
            <a:off x="2194560" y="340156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/ N / PE</a:t>
            </a:r>
          </a:p>
        </p:txBody>
      </p:sp>
      <p:sp>
        <p:nvSpPr>
          <p:cNvPr id="33" name="TEXT →"/>
          <p:cNvSpPr txBox="1"/>
          <p:nvPr/>
        </p:nvSpPr>
        <p:spPr>
          <a:xfrm>
            <a:off x="7424927" y="341071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34" name="TEXT PS1:C1 / C2 / C3"/>
          <p:cNvSpPr txBox="1"/>
          <p:nvPr/>
        </p:nvSpPr>
        <p:spPr>
          <a:xfrm>
            <a:off x="7790688" y="340156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PS1:C1 / C2 / C3</a:t>
            </a:r>
          </a:p>
        </p:txBody>
      </p:sp>
      <p:sp>
        <p:nvSpPr>
          <p:cNvPr id="35" name="NET ROW AC05"/>
          <p:cNvSpPr/>
          <p:nvPr/>
        </p:nvSpPr>
        <p:spPr>
          <a:xfrm>
            <a:off x="832104" y="3822191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COMPONENT"/>
          <p:cNvSpPr/>
          <p:nvPr/>
        </p:nvSpPr>
        <p:spPr>
          <a:xfrm>
            <a:off x="950976" y="3941063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AC05"/>
          <p:cNvSpPr txBox="1"/>
          <p:nvPr/>
        </p:nvSpPr>
        <p:spPr>
          <a:xfrm>
            <a:off x="1197864" y="388620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AC05</a:t>
            </a:r>
          </a:p>
        </p:txBody>
      </p:sp>
      <p:sp>
        <p:nvSpPr>
          <p:cNvPr id="38" name="TEXT X1:L → S1-A:13/14"/>
          <p:cNvSpPr txBox="1"/>
          <p:nvPr/>
        </p:nvSpPr>
        <p:spPr>
          <a:xfrm>
            <a:off x="2194560" y="388620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→ S1-A:13/14</a:t>
            </a:r>
          </a:p>
        </p:txBody>
      </p:sp>
      <p:sp>
        <p:nvSpPr>
          <p:cNvPr id="39" name="TEXT →"/>
          <p:cNvSpPr txBox="1"/>
          <p:nvPr/>
        </p:nvSpPr>
        <p:spPr>
          <a:xfrm>
            <a:off x="7424927" y="389534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40" name="TEXT E1:11 (L)"/>
          <p:cNvSpPr txBox="1"/>
          <p:nvPr/>
        </p:nvSpPr>
        <p:spPr>
          <a:xfrm>
            <a:off x="7790688" y="388620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E1:11 (L)</a:t>
            </a:r>
          </a:p>
        </p:txBody>
      </p:sp>
      <p:sp>
        <p:nvSpPr>
          <p:cNvPr id="41" name="NET ROW AC06"/>
          <p:cNvSpPr/>
          <p:nvPr/>
        </p:nvSpPr>
        <p:spPr>
          <a:xfrm>
            <a:off x="832104" y="430682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OMPONENT"/>
          <p:cNvSpPr/>
          <p:nvPr/>
        </p:nvSpPr>
        <p:spPr>
          <a:xfrm>
            <a:off x="950976" y="4425696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AC06"/>
          <p:cNvSpPr txBox="1"/>
          <p:nvPr/>
        </p:nvSpPr>
        <p:spPr>
          <a:xfrm>
            <a:off x="1197864" y="437083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AC06</a:t>
            </a:r>
          </a:p>
        </p:txBody>
      </p:sp>
      <p:sp>
        <p:nvSpPr>
          <p:cNvPr id="44" name="TEXT X1:N bus"/>
          <p:cNvSpPr txBox="1"/>
          <p:nvPr/>
        </p:nvSpPr>
        <p:spPr>
          <a:xfrm>
            <a:off x="2194560" y="437083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45" name="TEXT →"/>
          <p:cNvSpPr txBox="1"/>
          <p:nvPr/>
        </p:nvSpPr>
        <p:spPr>
          <a:xfrm>
            <a:off x="7424927" y="437997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46" name="TEXT E1:12 (N)"/>
          <p:cNvSpPr txBox="1"/>
          <p:nvPr/>
        </p:nvSpPr>
        <p:spPr>
          <a:xfrm>
            <a:off x="7790688" y="437083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E1:12 (N)</a:t>
            </a:r>
          </a:p>
        </p:txBody>
      </p:sp>
      <p:sp>
        <p:nvSpPr>
          <p:cNvPr id="47" name="NET ROW AC07"/>
          <p:cNvSpPr/>
          <p:nvPr/>
        </p:nvSpPr>
        <p:spPr>
          <a:xfrm>
            <a:off x="832104" y="479145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OMPONENT"/>
          <p:cNvSpPr/>
          <p:nvPr/>
        </p:nvSpPr>
        <p:spPr>
          <a:xfrm>
            <a:off x="950976" y="4910328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AC07"/>
          <p:cNvSpPr txBox="1"/>
          <p:nvPr/>
        </p:nvSpPr>
        <p:spPr>
          <a:xfrm>
            <a:off x="1197864" y="485546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AC07</a:t>
            </a:r>
          </a:p>
        </p:txBody>
      </p:sp>
      <p:sp>
        <p:nvSpPr>
          <p:cNvPr id="50" name="TEXT X1:L → S2-A:13/14"/>
          <p:cNvSpPr txBox="1"/>
          <p:nvPr/>
        </p:nvSpPr>
        <p:spPr>
          <a:xfrm>
            <a:off x="2194560" y="485546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→ S2-A:13/14</a:t>
            </a:r>
          </a:p>
        </p:txBody>
      </p:sp>
      <p:sp>
        <p:nvSpPr>
          <p:cNvPr id="51" name="TEXT →"/>
          <p:cNvSpPr txBox="1"/>
          <p:nvPr/>
        </p:nvSpPr>
        <p:spPr>
          <a:xfrm>
            <a:off x="7424927" y="486460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52" name="TEXT E2:11 (L)"/>
          <p:cNvSpPr txBox="1"/>
          <p:nvPr/>
        </p:nvSpPr>
        <p:spPr>
          <a:xfrm>
            <a:off x="7790688" y="485546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E2:11 (L)</a:t>
            </a:r>
          </a:p>
        </p:txBody>
      </p:sp>
      <p:sp>
        <p:nvSpPr>
          <p:cNvPr id="53" name="NET ROW AC08"/>
          <p:cNvSpPr/>
          <p:nvPr/>
        </p:nvSpPr>
        <p:spPr>
          <a:xfrm>
            <a:off x="832104" y="527608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COMPONENT"/>
          <p:cNvSpPr/>
          <p:nvPr/>
        </p:nvSpPr>
        <p:spPr>
          <a:xfrm>
            <a:off x="950976" y="5394959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AC08"/>
          <p:cNvSpPr txBox="1"/>
          <p:nvPr/>
        </p:nvSpPr>
        <p:spPr>
          <a:xfrm>
            <a:off x="1197864" y="534009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AC08</a:t>
            </a:r>
          </a:p>
        </p:txBody>
      </p:sp>
      <p:sp>
        <p:nvSpPr>
          <p:cNvPr id="56" name="TEXT X1:N bus"/>
          <p:cNvSpPr txBox="1"/>
          <p:nvPr/>
        </p:nvSpPr>
        <p:spPr>
          <a:xfrm>
            <a:off x="2194560" y="534009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57" name="TEXT →"/>
          <p:cNvSpPr txBox="1"/>
          <p:nvPr/>
        </p:nvSpPr>
        <p:spPr>
          <a:xfrm>
            <a:off x="7424927" y="534924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58" name="TEXT E2:12 (N)"/>
          <p:cNvSpPr txBox="1"/>
          <p:nvPr/>
        </p:nvSpPr>
        <p:spPr>
          <a:xfrm>
            <a:off x="7790688" y="534009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E2:12 (N)</a:t>
            </a:r>
          </a:p>
        </p:txBody>
      </p:sp>
      <p:sp>
        <p:nvSpPr>
          <p:cNvPr id="59" name="NET ROW DC01"/>
          <p:cNvSpPr/>
          <p:nvPr/>
        </p:nvSpPr>
        <p:spPr>
          <a:xfrm>
            <a:off x="832104" y="576072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COMPONENT"/>
          <p:cNvSpPr/>
          <p:nvPr/>
        </p:nvSpPr>
        <p:spPr>
          <a:xfrm>
            <a:off x="950976" y="5879592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DC01"/>
          <p:cNvSpPr txBox="1"/>
          <p:nvPr/>
        </p:nvSpPr>
        <p:spPr>
          <a:xfrm>
            <a:off x="1197864" y="582472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DC01</a:t>
            </a:r>
          </a:p>
        </p:txBody>
      </p:sp>
      <p:sp>
        <p:nvSpPr>
          <p:cNvPr id="62" name="TEXT PS1:A1 +Vo"/>
          <p:cNvSpPr txBox="1"/>
          <p:nvPr/>
        </p:nvSpPr>
        <p:spPr>
          <a:xfrm>
            <a:off x="2194560" y="582472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PS1:A1 +Vo</a:t>
            </a:r>
          </a:p>
        </p:txBody>
      </p:sp>
      <p:sp>
        <p:nvSpPr>
          <p:cNvPr id="63" name="TEXT →"/>
          <p:cNvSpPr txBox="1"/>
          <p:nvPr/>
        </p:nvSpPr>
        <p:spPr>
          <a:xfrm>
            <a:off x="7424927" y="583387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64" name="TEXT X2:+24 V shared"/>
          <p:cNvSpPr txBox="1"/>
          <p:nvPr/>
        </p:nvSpPr>
        <p:spPr>
          <a:xfrm>
            <a:off x="7790688" y="582472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V shared</a:t>
            </a:r>
          </a:p>
        </p:txBody>
      </p:sp>
      <p:sp>
        <p:nvSpPr>
          <p:cNvPr id="65" name="NET ROW DC02"/>
          <p:cNvSpPr/>
          <p:nvPr/>
        </p:nvSpPr>
        <p:spPr>
          <a:xfrm>
            <a:off x="832104" y="6245352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COMPONENT"/>
          <p:cNvSpPr/>
          <p:nvPr/>
        </p:nvSpPr>
        <p:spPr>
          <a:xfrm>
            <a:off x="950976" y="6364224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DC02"/>
          <p:cNvSpPr txBox="1"/>
          <p:nvPr/>
        </p:nvSpPr>
        <p:spPr>
          <a:xfrm>
            <a:off x="1197864" y="630936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DC02</a:t>
            </a:r>
          </a:p>
        </p:txBody>
      </p:sp>
      <p:sp>
        <p:nvSpPr>
          <p:cNvPr id="68" name="TEXT PS1:A2/A3 −Vo"/>
          <p:cNvSpPr txBox="1"/>
          <p:nvPr/>
        </p:nvSpPr>
        <p:spPr>
          <a:xfrm>
            <a:off x="2194560" y="630936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PS1:A2/A3 −Vo</a:t>
            </a:r>
          </a:p>
        </p:txBody>
      </p:sp>
      <p:sp>
        <p:nvSpPr>
          <p:cNvPr id="69" name="TEXT →"/>
          <p:cNvSpPr txBox="1"/>
          <p:nvPr/>
        </p:nvSpPr>
        <p:spPr>
          <a:xfrm>
            <a:off x="7424927" y="631850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70" name="TEXT X2:0 V shared"/>
          <p:cNvSpPr txBox="1"/>
          <p:nvPr/>
        </p:nvSpPr>
        <p:spPr>
          <a:xfrm>
            <a:off x="7790688" y="630936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71" name="NET ROW DC03"/>
          <p:cNvSpPr/>
          <p:nvPr/>
        </p:nvSpPr>
        <p:spPr>
          <a:xfrm>
            <a:off x="832104" y="672998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COMPONENT"/>
          <p:cNvSpPr/>
          <p:nvPr/>
        </p:nvSpPr>
        <p:spPr>
          <a:xfrm>
            <a:off x="950976" y="6848856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 DC03"/>
          <p:cNvSpPr txBox="1"/>
          <p:nvPr/>
        </p:nvSpPr>
        <p:spPr>
          <a:xfrm>
            <a:off x="1197864" y="679399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DC03</a:t>
            </a:r>
          </a:p>
        </p:txBody>
      </p:sp>
      <p:sp>
        <p:nvSpPr>
          <p:cNvPr id="74" name="TEXT X2:+24 → S1-B NO"/>
          <p:cNvSpPr txBox="1"/>
          <p:nvPr/>
        </p:nvSpPr>
        <p:spPr>
          <a:xfrm>
            <a:off x="2194560" y="679399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S1-B NO</a:t>
            </a:r>
          </a:p>
        </p:txBody>
      </p:sp>
      <p:sp>
        <p:nvSpPr>
          <p:cNvPr id="75" name="TEXT →"/>
          <p:cNvSpPr txBox="1"/>
          <p:nvPr/>
        </p:nvSpPr>
        <p:spPr>
          <a:xfrm>
            <a:off x="7424927" y="680313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76" name="TEXT X3:CH1 gated +24"/>
          <p:cNvSpPr txBox="1"/>
          <p:nvPr/>
        </p:nvSpPr>
        <p:spPr>
          <a:xfrm>
            <a:off x="7790688" y="679399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X3:CH1 gated +24</a:t>
            </a:r>
          </a:p>
        </p:txBody>
      </p:sp>
      <p:sp>
        <p:nvSpPr>
          <p:cNvPr id="77" name="NET ROW DC04"/>
          <p:cNvSpPr/>
          <p:nvPr/>
        </p:nvSpPr>
        <p:spPr>
          <a:xfrm>
            <a:off x="832104" y="721461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OMPONENT"/>
          <p:cNvSpPr/>
          <p:nvPr/>
        </p:nvSpPr>
        <p:spPr>
          <a:xfrm>
            <a:off x="950976" y="7333488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DC04"/>
          <p:cNvSpPr txBox="1"/>
          <p:nvPr/>
        </p:nvSpPr>
        <p:spPr>
          <a:xfrm>
            <a:off x="1197864" y="727862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DC04</a:t>
            </a:r>
          </a:p>
        </p:txBody>
      </p:sp>
      <p:sp>
        <p:nvSpPr>
          <p:cNvPr id="80" name="TEXT X2:+24 → S2-B NO"/>
          <p:cNvSpPr txBox="1"/>
          <p:nvPr/>
        </p:nvSpPr>
        <p:spPr>
          <a:xfrm>
            <a:off x="2194560" y="727862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S2-B NO</a:t>
            </a:r>
          </a:p>
        </p:txBody>
      </p:sp>
      <p:sp>
        <p:nvSpPr>
          <p:cNvPr id="81" name="TEXT →"/>
          <p:cNvSpPr txBox="1"/>
          <p:nvPr/>
        </p:nvSpPr>
        <p:spPr>
          <a:xfrm>
            <a:off x="7424927" y="728776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82" name="TEXT X4:CH2 gated +24"/>
          <p:cNvSpPr txBox="1"/>
          <p:nvPr/>
        </p:nvSpPr>
        <p:spPr>
          <a:xfrm>
            <a:off x="7790688" y="727862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X4:CH2 gated +24</a:t>
            </a:r>
          </a:p>
        </p:txBody>
      </p:sp>
      <p:sp>
        <p:nvSpPr>
          <p:cNvPr id="83" name="NET ROW DC05"/>
          <p:cNvSpPr/>
          <p:nvPr/>
        </p:nvSpPr>
        <p:spPr>
          <a:xfrm>
            <a:off x="832104" y="769924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COMPONENT"/>
          <p:cNvSpPr/>
          <p:nvPr/>
        </p:nvSpPr>
        <p:spPr>
          <a:xfrm>
            <a:off x="950976" y="7818120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DC05"/>
          <p:cNvSpPr txBox="1"/>
          <p:nvPr/>
        </p:nvSpPr>
        <p:spPr>
          <a:xfrm>
            <a:off x="1197864" y="776325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DC05</a:t>
            </a:r>
          </a:p>
        </p:txBody>
      </p:sp>
      <p:sp>
        <p:nvSpPr>
          <p:cNvPr id="86" name="TEXT X2:0 V shared"/>
          <p:cNvSpPr txBox="1"/>
          <p:nvPr/>
        </p:nvSpPr>
        <p:spPr>
          <a:xfrm>
            <a:off x="2194560" y="776325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87" name="TEXT →"/>
          <p:cNvSpPr txBox="1"/>
          <p:nvPr/>
        </p:nvSpPr>
        <p:spPr>
          <a:xfrm>
            <a:off x="7424927" y="777240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88" name="TEXT X3 / X4 returns"/>
          <p:cNvSpPr txBox="1"/>
          <p:nvPr/>
        </p:nvSpPr>
        <p:spPr>
          <a:xfrm>
            <a:off x="7790688" y="776325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 / X4 returns</a:t>
            </a:r>
          </a:p>
        </p:txBody>
      </p:sp>
      <p:sp>
        <p:nvSpPr>
          <p:cNvPr id="89" name="TEXT Required before wiring: J"/>
          <p:cNvSpPr txBox="1"/>
          <p:nvPr/>
        </p:nvSpPr>
        <p:spPr>
          <a:xfrm>
            <a:off x="960120" y="8394192"/>
            <a:ext cx="1249070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Required before wiring: J1 output tabs; enclosure PE point; X1–X4 actual stock numbers and jumpers; mains and 24 V fuse values.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10  /  CONNECTION SCHEDULE / CONTROLS + HEATER</a:t>
            </a:r>
          </a:p>
        </p:txBody>
      </p:sp>
      <p:sp>
        <p:nvSpPr>
          <p:cNvPr id="3" name="TEXT Both channels follow equi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Both channels follow equivalent functional nets; this summary complements the illustrated component-port sheets.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CHANNELS 1 AND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10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10</a:t>
            </a:r>
          </a:p>
        </p:txBody>
      </p:sp>
      <p:sp>
        <p:nvSpPr>
          <p:cNvPr id="10" name="TEXT The Finder 13.61 power-up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The Finder 13.61 power-up OFF state, switch actual terminals and DC protection must still be verified.</a:t>
            </a:r>
          </a:p>
        </p:txBody>
      </p:sp>
      <p:sp>
        <p:nvSpPr>
          <p:cNvPr id="11" name="COMPONENT"/>
          <p:cNvSpPr/>
          <p:nvPr/>
        </p:nvSpPr>
        <p:spPr>
          <a:xfrm>
            <a:off x="795528" y="186537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ENABLE / EACH CH"/>
          <p:cNvSpPr txBox="1"/>
          <p:nvPr/>
        </p:nvSpPr>
        <p:spPr>
          <a:xfrm>
            <a:off x="950976" y="199339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ENABLE / EACH CH</a:t>
            </a:r>
          </a:p>
        </p:txBody>
      </p:sp>
      <p:sp>
        <p:nvSpPr>
          <p:cNvPr id="13" name="TEXT X3/4:+24 → Finder 13.61 p"/>
          <p:cNvSpPr txBox="1"/>
          <p:nvPr/>
        </p:nvSpPr>
        <p:spPr>
          <a:xfrm>
            <a:off x="3931920" y="194767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X3/4:+24 → Finder 13.61 power &amp; 11; button C.  X2:0V → Finder supply return, SK3/4:A2 and EAO LED−.</a:t>
            </a:r>
          </a:p>
        </p:txBody>
      </p:sp>
      <p:sp>
        <p:nvSpPr>
          <p:cNvPr id="14" name="COMPONENT"/>
          <p:cNvSpPr/>
          <p:nvPr/>
        </p:nvSpPr>
        <p:spPr>
          <a:xfrm>
            <a:off x="795528" y="256946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OMENTARY INPUT"/>
          <p:cNvSpPr txBox="1"/>
          <p:nvPr/>
        </p:nvSpPr>
        <p:spPr>
          <a:xfrm>
            <a:off x="950976" y="269748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MOMENTARY INPUT</a:t>
            </a:r>
          </a:p>
        </p:txBody>
      </p:sp>
      <p:sp>
        <p:nvSpPr>
          <p:cNvPr id="16" name="TEXT EAO SB1/2:NO → Finder K1/"/>
          <p:cNvSpPr txBox="1"/>
          <p:nvPr/>
        </p:nvSpPr>
        <p:spPr>
          <a:xfrm>
            <a:off x="3931920" y="265176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EAO SB1/2:NO → Finder K1/2:3 impulse; EAO C uses channel-gated +24 V.</a:t>
            </a:r>
          </a:p>
        </p:txBody>
      </p:sp>
      <p:sp>
        <p:nvSpPr>
          <p:cNvPr id="17" name="COMPONENT"/>
          <p:cNvSpPr/>
          <p:nvPr/>
        </p:nvSpPr>
        <p:spPr>
          <a:xfrm>
            <a:off x="795528" y="327355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FINDER OUTPUT"/>
          <p:cNvSpPr txBox="1"/>
          <p:nvPr/>
        </p:nvSpPr>
        <p:spPr>
          <a:xfrm>
            <a:off x="950976" y="340156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FINDER OUTPUT</a:t>
            </a:r>
          </a:p>
        </p:txBody>
      </p:sp>
      <p:sp>
        <p:nvSpPr>
          <p:cNvPr id="19" name="TEXT K1/2:14 (NO) → Finder 62."/>
          <p:cNvSpPr txBox="1"/>
          <p:nvPr/>
        </p:nvSpPr>
        <p:spPr>
          <a:xfrm>
            <a:off x="3931920" y="335584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K1/2:14 (NO) → Finder 62.31 SOCKET SK3/4:A1 and EAO LED+; 11 COM fed from gated +24 V.</a:t>
            </a:r>
          </a:p>
        </p:txBody>
      </p:sp>
      <p:sp>
        <p:nvSpPr>
          <p:cNvPr id="20" name="COMPONENT"/>
          <p:cNvSpPr/>
          <p:nvPr/>
        </p:nvSpPr>
        <p:spPr>
          <a:xfrm>
            <a:off x="795528" y="397763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THERMOCOUPLE"/>
          <p:cNvSpPr txBox="1"/>
          <p:nvPr/>
        </p:nvSpPr>
        <p:spPr>
          <a:xfrm>
            <a:off x="950976" y="4105655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THERMOCOUPLE</a:t>
            </a:r>
          </a:p>
        </p:txBody>
      </p:sp>
      <p:sp>
        <p:nvSpPr>
          <p:cNvPr id="22" name="TEXT Type K sensor (+) → E1/E2"/>
          <p:cNvSpPr txBox="1"/>
          <p:nvPr/>
        </p:nvSpPr>
        <p:spPr>
          <a:xfrm>
            <a:off x="3931920" y="405993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Type K sensor (+) → E1/E2:6; sensor (−) → E1/E2:5.</a:t>
            </a:r>
          </a:p>
        </p:txBody>
      </p:sp>
      <p:sp>
        <p:nvSpPr>
          <p:cNvPr id="23" name="COMPONENT"/>
          <p:cNvSpPr/>
          <p:nvPr/>
        </p:nvSpPr>
        <p:spPr>
          <a:xfrm>
            <a:off x="795528" y="4681728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OMRON / WEIDMÜLLER"/>
          <p:cNvSpPr txBox="1"/>
          <p:nvPr/>
        </p:nvSpPr>
        <p:spPr>
          <a:xfrm>
            <a:off x="950976" y="4809744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OMRON / WEIDMÜLLER</a:t>
            </a:r>
          </a:p>
        </p:txBody>
      </p:sp>
      <p:sp>
        <p:nvSpPr>
          <p:cNvPr id="25" name="TEXT E1/E2 SSR pulse terminals"/>
          <p:cNvSpPr txBox="1"/>
          <p:nvPr/>
        </p:nvSpPr>
        <p:spPr>
          <a:xfrm>
            <a:off x="3931920" y="4764024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E1/E2 SSR pulse terminals 1 (+),2 (−) → W1/W2 A1 (+),A2 (−).</a:t>
            </a:r>
          </a:p>
        </p:txBody>
      </p:sp>
      <p:sp>
        <p:nvSpPr>
          <p:cNvPr id="26" name="COMPONENT"/>
          <p:cNvSpPr/>
          <p:nvPr/>
        </p:nvSpPr>
        <p:spPr>
          <a:xfrm>
            <a:off x="795528" y="538581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WEID / SSR DRIVE"/>
          <p:cNvSpPr txBox="1"/>
          <p:nvPr/>
        </p:nvSpPr>
        <p:spPr>
          <a:xfrm>
            <a:off x="950976" y="551383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WEID / SSR DRIVE</a:t>
            </a:r>
          </a:p>
        </p:txBody>
      </p:sp>
      <p:sp>
        <p:nvSpPr>
          <p:cNvPr id="28" name="TEXT Gated +24 → SSR+3 AND act"/>
          <p:cNvSpPr txBox="1"/>
          <p:nvPr/>
        </p:nvSpPr>
        <p:spPr>
          <a:xfrm>
            <a:off x="3931920" y="546811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Gated +24 → SSR+3 AND activity HL+; SSR−4 AND activity HL− → W:13; W:14 → 0V.</a:t>
            </a:r>
          </a:p>
        </p:txBody>
      </p:sp>
      <p:sp>
        <p:nvSpPr>
          <p:cNvPr id="29" name="COMPONENT"/>
          <p:cNvSpPr/>
          <p:nvPr/>
        </p:nvSpPr>
        <p:spPr>
          <a:xfrm>
            <a:off x="795528" y="608990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DC POSITIVE"/>
          <p:cNvSpPr txBox="1"/>
          <p:nvPr/>
        </p:nvSpPr>
        <p:spPr>
          <a:xfrm>
            <a:off x="950976" y="621792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POSITIVE</a:t>
            </a:r>
          </a:p>
        </p:txBody>
      </p:sp>
      <p:sp>
        <p:nvSpPr>
          <p:cNvPr id="31" name="TEXT Supply DC+ → Lovato 1→2 →"/>
          <p:cNvSpPr txBox="1"/>
          <p:nvPr/>
        </p:nvSpPr>
        <p:spPr>
          <a:xfrm>
            <a:off x="3931920" y="617220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Supply DC+ → Lovato 1→2 → Finder 62.31 contact 34 (+)→14 (−) → SSR +1→−2 → heater+.</a:t>
            </a:r>
          </a:p>
        </p:txBody>
      </p:sp>
      <p:sp>
        <p:nvSpPr>
          <p:cNvPr id="32" name="COMPONENT"/>
          <p:cNvSpPr/>
          <p:nvPr/>
        </p:nvSpPr>
        <p:spPr>
          <a:xfrm>
            <a:off x="795528" y="679399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DC RETURN"/>
          <p:cNvSpPr txBox="1"/>
          <p:nvPr/>
        </p:nvSpPr>
        <p:spPr>
          <a:xfrm>
            <a:off x="950976" y="692200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RETURN</a:t>
            </a:r>
          </a:p>
        </p:txBody>
      </p:sp>
      <p:sp>
        <p:nvSpPr>
          <p:cNvPr id="34" name="TEXT Heater− → matching extern"/>
          <p:cNvSpPr txBox="1"/>
          <p:nvPr/>
        </p:nvSpPr>
        <p:spPr>
          <a:xfrm>
            <a:off x="3931920" y="687628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Heater− → matching external DC supply−; Finder 14 and SSR −2 are NOT DC−.</a:t>
            </a:r>
          </a:p>
        </p:txBody>
      </p:sp>
      <p:sp>
        <p:nvSpPr>
          <p:cNvPr id="35" name="COMPONENT"/>
          <p:cNvSpPr/>
          <p:nvPr/>
        </p:nvSpPr>
        <p:spPr>
          <a:xfrm>
            <a:off x="795528" y="749807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DC COIL"/>
          <p:cNvSpPr txBox="1"/>
          <p:nvPr/>
        </p:nvSpPr>
        <p:spPr>
          <a:xfrm>
            <a:off x="950976" y="7626096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COIL</a:t>
            </a:r>
          </a:p>
        </p:txBody>
      </p:sp>
      <p:sp>
        <p:nvSpPr>
          <p:cNvPr id="37" name="TEXT Finder 62.31 uses socket "/>
          <p:cNvSpPr txBox="1"/>
          <p:nvPr/>
        </p:nvSpPr>
        <p:spPr>
          <a:xfrm>
            <a:off x="3931920" y="758037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Finder 62.31 uses socket SK3/4: coil A1/A2, contact 34(+)/14(−). Actual 92.03 suffix and suppressor TBD.</a:t>
            </a:r>
          </a:p>
        </p:txBody>
      </p:sp>
      <p:sp>
        <p:nvSpPr>
          <p:cNvPr id="38" name="TEXT These are net-level circu"/>
          <p:cNvSpPr txBox="1"/>
          <p:nvPr/>
        </p:nvSpPr>
        <p:spPr>
          <a:xfrm>
            <a:off x="877824" y="8458200"/>
            <a:ext cx="1298448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These are net-level circuit proposals, NOT numbered physical wires. Final wire IDs, conductor sizes, terminations and current ratings remain to be assigned.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  /  MANUFACTURER DOCUM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11  /  MANUFACTURER DOCUMENTS &amp; RELEASE CHECKS</a:t>
            </a:r>
          </a:p>
        </p:txBody>
      </p:sp>
      <p:sp>
        <p:nvSpPr>
          <p:cNvPr id="3" name="TEXT Clickable component docum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Clickable component documents are embedded inside each named component block throughout the PowerPoint.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COMPONENT REGISTER   /  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COMPONENT REGISTER   /   TECHNICAL REVIEW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11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11</a:t>
            </a:r>
          </a:p>
        </p:txBody>
      </p:sp>
      <p:sp>
        <p:nvSpPr>
          <p:cNvPr id="10" name="TEXT Manufacturer sources are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Manufacturer sources are reference points, not proof that the integrated design has passed electrical safety review.</a:t>
            </a:r>
          </a:p>
        </p:txBody>
      </p:sp>
      <p:sp>
        <p:nvSpPr>
          <p:cNvPr id="11" name="COMPONENT REGISTER Schurter DD11.0111.1110"/>
          <p:cNvSpPr/>
          <p:nvPr/>
        </p:nvSpPr>
        <p:spPr>
          <a:xfrm>
            <a:off x="822960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Schurter DD11.0111.1110"/>
          <p:cNvSpPr txBox="1"/>
          <p:nvPr/>
        </p:nvSpPr>
        <p:spPr>
          <a:xfrm>
            <a:off x="960120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Schurter DD11.0111.1110</a:t>
            </a:r>
          </a:p>
        </p:txBody>
      </p:sp>
      <p:sp>
        <p:nvSpPr>
          <p:cNvPr id="13" name="TEXT Datasheet ↗"/>
          <p:cNvSpPr txBox="1"/>
          <p:nvPr/>
        </p:nvSpPr>
        <p:spPr>
          <a:xfrm>
            <a:off x="5806440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2"/>
              </a:rPr>
              <a:t>Datasheet ↗</a:t>
            </a:r>
          </a:p>
        </p:txBody>
      </p:sp>
      <p:sp>
        <p:nvSpPr>
          <p:cNvPr id="14" name="COMPONENT REGISTER Mean Well XDR-120E-24"/>
          <p:cNvSpPr/>
          <p:nvPr/>
        </p:nvSpPr>
        <p:spPr>
          <a:xfrm>
            <a:off x="7607808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ean Well XDR-120E-24"/>
          <p:cNvSpPr txBox="1"/>
          <p:nvPr/>
        </p:nvSpPr>
        <p:spPr>
          <a:xfrm>
            <a:off x="7744968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Mean Well XDR-120E-24</a:t>
            </a:r>
          </a:p>
        </p:txBody>
      </p:sp>
      <p:sp>
        <p:nvSpPr>
          <p:cNvPr id="16" name="TEXT Datasheet ↗"/>
          <p:cNvSpPr txBox="1"/>
          <p:nvPr/>
        </p:nvSpPr>
        <p:spPr>
          <a:xfrm>
            <a:off x="12591288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3"/>
              </a:rPr>
              <a:t>Datasheet ↗</a:t>
            </a:r>
          </a:p>
        </p:txBody>
      </p:sp>
      <p:sp>
        <p:nvSpPr>
          <p:cNvPr id="17" name="COMPONENT REGISTER Schneider XB5AD23 ×2"/>
          <p:cNvSpPr/>
          <p:nvPr/>
        </p:nvSpPr>
        <p:spPr>
          <a:xfrm>
            <a:off x="822960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Schneider XB5AD23 ×2"/>
          <p:cNvSpPr txBox="1"/>
          <p:nvPr/>
        </p:nvSpPr>
        <p:spPr>
          <a:xfrm>
            <a:off x="960120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Schneider XB5AD23 ×2</a:t>
            </a:r>
          </a:p>
        </p:txBody>
      </p:sp>
      <p:sp>
        <p:nvSpPr>
          <p:cNvPr id="19" name="TEXT Datasheet ↗"/>
          <p:cNvSpPr txBox="1"/>
          <p:nvPr/>
        </p:nvSpPr>
        <p:spPr>
          <a:xfrm>
            <a:off x="5806440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4"/>
              </a:rPr>
              <a:t>Datasheet ↗</a:t>
            </a:r>
          </a:p>
        </p:txBody>
      </p:sp>
      <p:sp>
        <p:nvSpPr>
          <p:cNvPr id="20" name="COMPONENT REGISTER Omron E5CC-TQX3A5M-000 / -003"/>
          <p:cNvSpPr/>
          <p:nvPr/>
        </p:nvSpPr>
        <p:spPr>
          <a:xfrm>
            <a:off x="7607808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Omron E5CC-TQX3A5M-000 / "/>
          <p:cNvSpPr txBox="1"/>
          <p:nvPr/>
        </p:nvSpPr>
        <p:spPr>
          <a:xfrm>
            <a:off x="7744968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Omron E5CC-TQX3A5M-000 / -003</a:t>
            </a:r>
          </a:p>
        </p:txBody>
      </p:sp>
      <p:sp>
        <p:nvSpPr>
          <p:cNvPr id="22" name="TEXT Datasheet ↗"/>
          <p:cNvSpPr txBox="1"/>
          <p:nvPr/>
        </p:nvSpPr>
        <p:spPr>
          <a:xfrm>
            <a:off x="12591288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5"/>
              </a:rPr>
              <a:t>Datasheet ↗</a:t>
            </a:r>
          </a:p>
        </p:txBody>
      </p:sp>
      <p:sp>
        <p:nvSpPr>
          <p:cNvPr id="23" name="COMPONENT REGISTER EAO 82-4151.1134 ×2"/>
          <p:cNvSpPr/>
          <p:nvPr/>
        </p:nvSpPr>
        <p:spPr>
          <a:xfrm>
            <a:off x="822960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EAO 82-4151.1134 ×2"/>
          <p:cNvSpPr txBox="1"/>
          <p:nvPr/>
        </p:nvSpPr>
        <p:spPr>
          <a:xfrm>
            <a:off x="960120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EAO 82-4151.1134 ×2</a:t>
            </a:r>
          </a:p>
        </p:txBody>
      </p:sp>
      <p:sp>
        <p:nvSpPr>
          <p:cNvPr id="25" name="TEXT Datasheet ↗"/>
          <p:cNvSpPr txBox="1"/>
          <p:nvPr/>
        </p:nvSpPr>
        <p:spPr>
          <a:xfrm>
            <a:off x="5806440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6"/>
              </a:rPr>
              <a:t>Datasheet ↗</a:t>
            </a:r>
          </a:p>
        </p:txBody>
      </p:sp>
      <p:sp>
        <p:nvSpPr>
          <p:cNvPr id="26" name="COMPONENT REGISTER Finder 13.61.0.024.0000 ×2"/>
          <p:cNvSpPr/>
          <p:nvPr/>
        </p:nvSpPr>
        <p:spPr>
          <a:xfrm>
            <a:off x="7607808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Finder 13.61.0.024.0000 ×"/>
          <p:cNvSpPr txBox="1"/>
          <p:nvPr/>
        </p:nvSpPr>
        <p:spPr>
          <a:xfrm>
            <a:off x="7744968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13.61.0.024.0000 ×2</a:t>
            </a:r>
          </a:p>
        </p:txBody>
      </p:sp>
      <p:sp>
        <p:nvSpPr>
          <p:cNvPr id="28" name="TEXT Datasheet ↗"/>
          <p:cNvSpPr txBox="1"/>
          <p:nvPr/>
        </p:nvSpPr>
        <p:spPr>
          <a:xfrm>
            <a:off x="12591288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7"/>
              </a:rPr>
              <a:t>Datasheet ↗</a:t>
            </a:r>
          </a:p>
        </p:txBody>
      </p:sp>
      <p:sp>
        <p:nvSpPr>
          <p:cNvPr id="29" name="COMPONENT REGISTER Finder 62.31.9.024.4800 ×2"/>
          <p:cNvSpPr/>
          <p:nvPr/>
        </p:nvSpPr>
        <p:spPr>
          <a:xfrm>
            <a:off x="822960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Finder 62.31.9.024.4800 ×"/>
          <p:cNvSpPr txBox="1"/>
          <p:nvPr/>
        </p:nvSpPr>
        <p:spPr>
          <a:xfrm>
            <a:off x="960120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62.31.9.024.4800 ×2</a:t>
            </a:r>
          </a:p>
        </p:txBody>
      </p:sp>
      <p:sp>
        <p:nvSpPr>
          <p:cNvPr id="31" name="TEXT Datasheet ↗"/>
          <p:cNvSpPr txBox="1"/>
          <p:nvPr/>
        </p:nvSpPr>
        <p:spPr>
          <a:xfrm>
            <a:off x="5806440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8"/>
              </a:rPr>
              <a:t>Datasheet ↗</a:t>
            </a:r>
          </a:p>
        </p:txBody>
      </p:sp>
      <p:sp>
        <p:nvSpPr>
          <p:cNvPr id="32" name="COMPONENT REGISTER Weidmüller 8950770000 ×2"/>
          <p:cNvSpPr/>
          <p:nvPr/>
        </p:nvSpPr>
        <p:spPr>
          <a:xfrm>
            <a:off x="7607808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Weidmüller 8950770000 ×2"/>
          <p:cNvSpPr txBox="1"/>
          <p:nvPr/>
        </p:nvSpPr>
        <p:spPr>
          <a:xfrm>
            <a:off x="7744968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Weidmüller 8950770000 ×2</a:t>
            </a:r>
          </a:p>
        </p:txBody>
      </p:sp>
      <p:sp>
        <p:nvSpPr>
          <p:cNvPr id="34" name="TEXT Datasheet ↗"/>
          <p:cNvSpPr txBox="1"/>
          <p:nvPr/>
        </p:nvSpPr>
        <p:spPr>
          <a:xfrm>
            <a:off x="12591288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9"/>
              </a:rPr>
              <a:t>Datasheet ↗</a:t>
            </a:r>
          </a:p>
        </p:txBody>
      </p:sp>
      <p:sp>
        <p:nvSpPr>
          <p:cNvPr id="35" name="COMPONENT REGISTER Crydom DR2220D30U ×2"/>
          <p:cNvSpPr/>
          <p:nvPr/>
        </p:nvSpPr>
        <p:spPr>
          <a:xfrm>
            <a:off x="822960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Crydom DR2220D30U ×2"/>
          <p:cNvSpPr txBox="1"/>
          <p:nvPr/>
        </p:nvSpPr>
        <p:spPr>
          <a:xfrm>
            <a:off x="960120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Crydom DR2220D30U ×2</a:t>
            </a:r>
          </a:p>
        </p:txBody>
      </p:sp>
      <p:sp>
        <p:nvSpPr>
          <p:cNvPr id="37" name="TEXT Datasheet ↗"/>
          <p:cNvSpPr txBox="1"/>
          <p:nvPr/>
        </p:nvSpPr>
        <p:spPr>
          <a:xfrm>
            <a:off x="5806440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0"/>
              </a:rPr>
              <a:t>Datasheet ↗</a:t>
            </a:r>
          </a:p>
        </p:txBody>
      </p:sp>
      <p:sp>
        <p:nvSpPr>
          <p:cNvPr id="38" name="COMPONENT REGISTER Lovato P1MB1PC16 ×2"/>
          <p:cNvSpPr/>
          <p:nvPr/>
        </p:nvSpPr>
        <p:spPr>
          <a:xfrm>
            <a:off x="7607808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Lovato P1MB1PC16 ×2"/>
          <p:cNvSpPr txBox="1"/>
          <p:nvPr/>
        </p:nvSpPr>
        <p:spPr>
          <a:xfrm>
            <a:off x="7744968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Lovato P1MB1PC16 ×2</a:t>
            </a:r>
          </a:p>
        </p:txBody>
      </p:sp>
      <p:sp>
        <p:nvSpPr>
          <p:cNvPr id="40" name="TEXT Datasheet ↗"/>
          <p:cNvSpPr txBox="1"/>
          <p:nvPr/>
        </p:nvSpPr>
        <p:spPr>
          <a:xfrm>
            <a:off x="12591288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1"/>
              </a:rPr>
              <a:t>Datasheet ↗</a:t>
            </a:r>
          </a:p>
        </p:txBody>
      </p:sp>
      <p:sp>
        <p:nvSpPr>
          <p:cNvPr id="41" name="TEXT REMAINING DESIGN-RELEASE "/>
          <p:cNvSpPr txBox="1"/>
          <p:nvPr/>
        </p:nvSpPr>
        <p:spPr>
          <a:xfrm>
            <a:off x="932688" y="5715000"/>
            <a:ext cx="1316736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30" b="1">
                <a:solidFill>
                  <a:srgbClr val="1D599B"/>
                </a:solidFill>
                <a:latin typeface="Aptos"/>
              </a:rPr>
              <a:t>REMAINING DESIGN-RELEASE BLOCKERS</a:t>
            </a:r>
          </a:p>
        </p:txBody>
      </p:sp>
      <p:sp>
        <p:nvSpPr>
          <p:cNvPr id="42" name="COMPONENT"/>
          <p:cNvSpPr/>
          <p:nvPr/>
        </p:nvSpPr>
        <p:spPr>
          <a:xfrm>
            <a:off x="896112" y="6108192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01"/>
          <p:cNvSpPr txBox="1"/>
          <p:nvPr/>
        </p:nvSpPr>
        <p:spPr>
          <a:xfrm>
            <a:off x="1078992" y="6181344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01</a:t>
            </a:r>
          </a:p>
        </p:txBody>
      </p:sp>
      <p:sp>
        <p:nvSpPr>
          <p:cNvPr id="44" name="TEXT Finder 13.61 must remain "/>
          <p:cNvSpPr txBox="1"/>
          <p:nvPr/>
        </p:nvSpPr>
        <p:spPr>
          <a:xfrm>
            <a:off x="1572768" y="6163055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Finder 13.61 must remain OFF after loss and restoration of 24 V; prove minimum interruption and button held states.</a:t>
            </a:r>
          </a:p>
        </p:txBody>
      </p:sp>
      <p:sp>
        <p:nvSpPr>
          <p:cNvPr id="45" name="COMPONENT"/>
          <p:cNvSpPr/>
          <p:nvPr/>
        </p:nvSpPr>
        <p:spPr>
          <a:xfrm>
            <a:off x="896112" y="6647688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02"/>
          <p:cNvSpPr txBox="1"/>
          <p:nvPr/>
        </p:nvSpPr>
        <p:spPr>
          <a:xfrm>
            <a:off x="1078992" y="6720840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02</a:t>
            </a:r>
          </a:p>
        </p:txBody>
      </p:sp>
      <p:sp>
        <p:nvSpPr>
          <p:cNvPr id="47" name="TEXT Confirm physical X1–X4 bl"/>
          <p:cNvSpPr txBox="1"/>
          <p:nvPr/>
        </p:nvSpPr>
        <p:spPr>
          <a:xfrm>
            <a:off x="1572768" y="6702551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Confirm physical X1–X4 blocks, Schneider second NO contacts, J1 outlet tabs and actual Finder 62.31 sockets.</a:t>
            </a:r>
          </a:p>
        </p:txBody>
      </p:sp>
      <p:sp>
        <p:nvSpPr>
          <p:cNvPr id="48" name="COMPONENT"/>
          <p:cNvSpPr/>
          <p:nvPr/>
        </p:nvSpPr>
        <p:spPr>
          <a:xfrm>
            <a:off x="896112" y="7187183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03"/>
          <p:cNvSpPr txBox="1"/>
          <p:nvPr/>
        </p:nvSpPr>
        <p:spPr>
          <a:xfrm>
            <a:off x="1078992" y="7260336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03</a:t>
            </a:r>
          </a:p>
        </p:txBody>
      </p:sp>
      <p:sp>
        <p:nvSpPr>
          <p:cNvPr id="50" name="TEXT Verify 15 A DC continuity"/>
          <p:cNvSpPr txBox="1"/>
          <p:nvPr/>
        </p:nvSpPr>
        <p:spPr>
          <a:xfrm>
            <a:off x="1572768" y="7242047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Verify 15 A DC continuity ratings, breaker/source fault coordination, cable size and connector ratings.</a:t>
            </a:r>
          </a:p>
        </p:txBody>
      </p:sp>
      <p:sp>
        <p:nvSpPr>
          <p:cNvPr id="51" name="COMPONENT"/>
          <p:cNvSpPr/>
          <p:nvPr/>
        </p:nvSpPr>
        <p:spPr>
          <a:xfrm>
            <a:off x="896112" y="7726679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04"/>
          <p:cNvSpPr txBox="1"/>
          <p:nvPr/>
        </p:nvSpPr>
        <p:spPr>
          <a:xfrm>
            <a:off x="1078992" y="7799831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04</a:t>
            </a:r>
          </a:p>
        </p:txBody>
      </p:sp>
      <p:sp>
        <p:nvSpPr>
          <p:cNvPr id="53" name="TEXT Validate SSR heat sink, W"/>
          <p:cNvSpPr txBox="1"/>
          <p:nvPr/>
        </p:nvSpPr>
        <p:spPr>
          <a:xfrm>
            <a:off x="1572768" y="7781544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Validate SSR heat sink, W1/W2 100 mA output (SSR+LED 35 mA max calculated), PE and emergency disconnection.</a:t>
            </a:r>
          </a:p>
        </p:txBody>
      </p:sp>
      <p:sp>
        <p:nvSpPr>
          <p:cNvPr id="54" name="COMPONENT"/>
          <p:cNvSpPr/>
          <p:nvPr/>
        </p:nvSpPr>
        <p:spPr>
          <a:xfrm>
            <a:off x="896112" y="8266175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05"/>
          <p:cNvSpPr txBox="1"/>
          <p:nvPr/>
        </p:nvSpPr>
        <p:spPr>
          <a:xfrm>
            <a:off x="1078992" y="8339327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05</a:t>
            </a:r>
          </a:p>
        </p:txBody>
      </p:sp>
      <p:sp>
        <p:nvSpPr>
          <p:cNvPr id="56" name="TEXT Independent safety design"/>
          <p:cNvSpPr txBox="1"/>
          <p:nvPr/>
        </p:nvSpPr>
        <p:spPr>
          <a:xfrm>
            <a:off x="1572768" y="8321040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Independent safety design review and pre-energisation electrical/function tests by a suitably competent person.</a:t>
            </a:r>
          </a:p>
        </p:txBody>
      </p:sp>
      <p:sp>
        <p:nvSpPr>
          <p:cNvPr id="57" name="TEXT HL1/HL2 activity indicato"/>
          <p:cNvSpPr txBox="1"/>
          <p:nvPr/>
        </p:nvSpPr>
        <p:spPr>
          <a:xfrm>
            <a:off x="886968" y="5385816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A35B1B"/>
                </a:solidFill>
                <a:latin typeface="Aptos"/>
                <a:hlinkClick r:id="rId13"/>
              </a:rPr>
              <a:t>HL1/HL2 specified: RS PRO 130-1086 yellow LED, 24 V DC, max 20 mA, IP67; 14 mm mounting hole.</a:t>
            </a:r>
          </a:p>
        </p:txBody>
      </p:sp>
      <p:sp>
        <p:nvSpPr>
          <p:cNvPr id="58" name="TEXT Finder 92.03-series socke"/>
          <p:cNvSpPr txBox="1"/>
          <p:nvPr/>
        </p:nvSpPr>
        <p:spPr>
          <a:xfrm>
            <a:off x="886968" y="8732520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12"/>
              </a:rPr>
              <a:t>Finder 92.03-series socket datasheet (actual fitted socket still unverified)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</TotalTime>
  <Words>2826</Words>
  <Application>Microsoft Office PowerPoint</Application>
  <PresentationFormat>Custom</PresentationFormat>
  <Paragraphs>529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Heating controller | D7 mains aligned component borders</dc:title>
  <dc:subject>Fully editable circuit presentation | Design review, not for construction</dc:subject>
  <dc:creator>Bogdan Alecsa</dc:creator>
  <cp:keywords/>
  <dc:description>generated using python-pptx</dc:description>
  <cp:lastModifiedBy>Alecsa, Bogdan</cp:lastModifiedBy>
  <cp:revision>2</cp:revision>
  <dcterms:created xsi:type="dcterms:W3CDTF">2013-01-27T09:14:16Z</dcterms:created>
  <dcterms:modified xsi:type="dcterms:W3CDTF">2026-10-13T12:56:49Z</dcterms:modified>
  <cp:category/>
</cp:coreProperties>
</file>