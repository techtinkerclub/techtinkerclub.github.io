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7.xml"/><Relationship Id="rId3" Type="http://schemas.openxmlformats.org/officeDocument/2006/relationships/hyperlink" Target="https://www.schurter.com/en/pdf/english/typ_dd11.pdf" TargetMode="External"/><Relationship Id="rId4" Type="http://schemas.openxmlformats.org/officeDocument/2006/relationships/hyperlink" Target="https://www.meanwell.co.uk/assets/pdf/XDR-120E.pdf" TargetMode="External"/><Relationship Id="rId5" Type="http://schemas.openxmlformats.org/officeDocument/2006/relationships/hyperlink" Target="https://www.se.com/uk/en/product/XB5AD23/harmony-xb5-selector-switch-plastic-black-%C3%B822-2-positions-stay-put-2-no/" TargetMode="External"/><Relationship Id="rId6" Type="http://schemas.openxmlformats.org/officeDocument/2006/relationships/hyperlink" Target="https://industrial.omron.eu/en/products/E5CC-TQX3A5M-000.pdf" TargetMode="External"/><Relationship Id="rId7" Type="http://schemas.openxmlformats.org/officeDocument/2006/relationships/hyperlink" Target="https://industrial.omron.eu/en/products/E5CC-TQX3A5M-003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anwell.co.uk/assets/pdf/XDR-120E.pdf" TargetMode="External"/><Relationship Id="rId3" Type="http://schemas.openxmlformats.org/officeDocument/2006/relationships/hyperlink" Target="https://www.se.com/uk/en/product/XB5AD23/harmony-xb5-selector-switch-plastic-black-%C3%B822-2-positions-stay-put-2-no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ao.com/component/82-4151.1134/en/illuminated-pushbutton-16mmsilvercontact" TargetMode="External"/><Relationship Id="rId3" Type="http://schemas.openxmlformats.org/officeDocument/2006/relationships/hyperlink" Target="https://cdn.findernet.com/app/uploads/ZDPENXX1361.pdf" TargetMode="External"/><Relationship Id="rId4" Type="http://schemas.openxmlformats.org/officeDocument/2006/relationships/hyperlink" Target="https://www.cse-distributors.co.uk/sites/admin/plugins/elfinder/files/cse/ExtraDocs/Finder%2062%20Series/Finder%2062%20Series%20Report.pdf" TargetMode="External"/><Relationship Id="rId5" Type="http://schemas.openxmlformats.org/officeDocument/2006/relationships/hyperlink" Target="https://cdn.findernet.com/app/uploads/S62EN.pdf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ao.com/component/82-4151.1134/en/illuminated-pushbutton-16mmsilvercontact" TargetMode="External"/><Relationship Id="rId3" Type="http://schemas.openxmlformats.org/officeDocument/2006/relationships/hyperlink" Target="https://cdn.findernet.com/app/uploads/ZDPENXX1361.pdf" TargetMode="External"/><Relationship Id="rId4" Type="http://schemas.openxmlformats.org/officeDocument/2006/relationships/hyperlink" Target="https://www.cse-distributors.co.uk/sites/admin/plugins/elfinder/files/cse/ExtraDocs/Finder%2062%20Series/Finder%2062%20Series%20Report.pdf" TargetMode="External"/><Relationship Id="rId5" Type="http://schemas.openxmlformats.org/officeDocument/2006/relationships/hyperlink" Target="https://cdn.findernet.com/app/uploads/S62EN.pdf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dustrial.omron.co.uk/en/products/E5CC-TQX3A5M-000" TargetMode="External"/><Relationship Id="rId3" Type="http://schemas.openxmlformats.org/officeDocument/2006/relationships/hyperlink" Target="https://eshop.weidmueller.com/en/top-12vdc48vdc-01a/p/8950770000" TargetMode="External"/><Relationship Id="rId4" Type="http://schemas.openxmlformats.org/officeDocument/2006/relationships/hyperlink" Target="https://www.sensata.com/sites/default/files/a/sensata-dr22-series-dc-output-din-rail-mount-datasheet.pdf" TargetMode="External"/><Relationship Id="rId5" Type="http://schemas.openxmlformats.org/officeDocument/2006/relationships/hyperlink" Target="https://uk.rs-online.com/web/p/panel-mount-indicators/1301086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dustrial.omron.co.uk/en/products/E5CC-TQX3A5M-003" TargetMode="External"/><Relationship Id="rId3" Type="http://schemas.openxmlformats.org/officeDocument/2006/relationships/hyperlink" Target="https://eshop.weidmueller.com/en/top-12vdc48vdc-01a/p/8950770000" TargetMode="External"/><Relationship Id="rId4" Type="http://schemas.openxmlformats.org/officeDocument/2006/relationships/hyperlink" Target="https://www.sensata.com/sites/default/files/a/sensata-dr22-series-dc-output-din-rail-mount-datasheet.pdf" TargetMode="External"/><Relationship Id="rId5" Type="http://schemas.openxmlformats.org/officeDocument/2006/relationships/hyperlink" Target="https://uk.rs-online.com/web/p/panel-mount-indicators/130108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sheet.lovatoelectric.com/Miniature_and_residual_circuit_breakers/ENG/P1MB1PC16.pdf" TargetMode="External"/><Relationship Id="rId3" Type="http://schemas.openxmlformats.org/officeDocument/2006/relationships/hyperlink" Target="https://cdn.findernet.com/app/uploads/S62EN.pdf" TargetMode="External"/><Relationship Id="rId4" Type="http://schemas.openxmlformats.org/officeDocument/2006/relationships/hyperlink" Target="https://www.sensata.com/sites/default/files/a/sensata-dr22-series-dc-output-din-rail-mount-datasheet.pdf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sheet.lovatoelectric.com/Miniature_and_residual_circuit_breakers/ENG/P1MB1PC16.pdf" TargetMode="External"/><Relationship Id="rId3" Type="http://schemas.openxmlformats.org/officeDocument/2006/relationships/hyperlink" Target="https://cdn.findernet.com/app/uploads/S62EN.pdf" TargetMode="External"/><Relationship Id="rId4" Type="http://schemas.openxmlformats.org/officeDocument/2006/relationships/hyperlink" Target="https://www.sensata.com/sites/default/files/a/sensata-dr22-series-dc-output-din-rail-mount-datasheet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churter.com/en/pdf/english/typ_dd11.pdf" TargetMode="External"/><Relationship Id="rId3" Type="http://schemas.openxmlformats.org/officeDocument/2006/relationships/hyperlink" Target="https://www.meanwell.co.uk/assets/pdf/XDR-120E.pdf" TargetMode="External"/><Relationship Id="rId4" Type="http://schemas.openxmlformats.org/officeDocument/2006/relationships/hyperlink" Target="https://www.se.com/uk/en/product/XB5AD23/harmony-xb5-selector-switch-plastic-black-%C3%B822-2-positions-stay-put-2-no/" TargetMode="External"/><Relationship Id="rId5" Type="http://schemas.openxmlformats.org/officeDocument/2006/relationships/hyperlink" Target="https://industrial.omron.co.uk/en/products/E5CC-TQX3A5M-000" TargetMode="External"/><Relationship Id="rId6" Type="http://schemas.openxmlformats.org/officeDocument/2006/relationships/hyperlink" Target="https://www.eao.com/component/82-4151.1134/en/illuminated-pushbutton-16mmsilvercontact" TargetMode="External"/><Relationship Id="rId7" Type="http://schemas.openxmlformats.org/officeDocument/2006/relationships/hyperlink" Target="https://cdn.findernet.com/app/uploads/ZDPENXX1361.pdf" TargetMode="External"/><Relationship Id="rId8" Type="http://schemas.openxmlformats.org/officeDocument/2006/relationships/hyperlink" Target="https://www.cse-distributors.co.uk/sites/admin/plugins/elfinder/files/cse/ExtraDocs/Finder%2062%20Series/Finder%2062%20Series%20Report.pdf" TargetMode="External"/><Relationship Id="rId9" Type="http://schemas.openxmlformats.org/officeDocument/2006/relationships/hyperlink" Target="https://eshop.weidmueller.com/en/top-12vdc48vdc-01a/p/8950770000" TargetMode="External"/><Relationship Id="rId10" Type="http://schemas.openxmlformats.org/officeDocument/2006/relationships/hyperlink" Target="https://www.sensata.com/sites/default/files/a/sensata-dr22-series-dc-output-din-rail-mount-datasheet.pdf" TargetMode="External"/><Relationship Id="rId11" Type="http://schemas.openxmlformats.org/officeDocument/2006/relationships/hyperlink" Target="https://datasheet.lovatoelectric.com/Miniature_and_residual_circuit_breakers/ENG/P1MB1PC16.pdf" TargetMode="External"/><Relationship Id="rId12" Type="http://schemas.openxmlformats.org/officeDocument/2006/relationships/hyperlink" Target="https://cdn.findernet.com/app/uploads/S62EN.pdf" TargetMode="External"/><Relationship Id="rId13" Type="http://schemas.openxmlformats.org/officeDocument/2006/relationships/hyperlink" Target="https://docs.rs-online.com/9e66/0900766b8159e8d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1  /  MAINS SUPPLY &amp; DISTRIBUTION"/>
          <p:cNvSpPr txBox="1"/>
          <p:nvPr/>
        </p:nvSpPr>
        <p:spPr>
          <a:xfrm>
            <a:off x="566928" y="320040"/>
            <a:ext cx="10927080" cy="4572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2400" b="1">
                <a:solidFill>
                  <a:srgbClr val="1F344E"/>
                </a:solidFill>
                <a:latin typeface="Aptos"/>
              </a:rPr>
              <a:t>01  /  MAINS SUPPLY &amp; DISTRIBUTION</a:t>
            </a:r>
          </a:p>
        </p:txBody>
      </p:sp>
      <p:sp>
        <p:nvSpPr>
          <p:cNvPr id="3" name="TEXT Two independent Omron channels  • "/>
          <p:cNvSpPr txBox="1"/>
          <p:nvPr/>
        </p:nvSpPr>
        <p:spPr>
          <a:xfrm>
            <a:off x="576072" y="877824"/>
            <a:ext cx="10607040" cy="30175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60" b="0">
                <a:solidFill>
                  <a:srgbClr val="607084"/>
                </a:solidFill>
                <a:latin typeface="Aptos"/>
              </a:rPr>
              <a:t>Two independent Omron channels  •  Shared 24 V supply  •  Editable schematic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3962888" cy="34747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AC INPUT"/>
          <p:cNvSpPr txBox="1"/>
          <p:nvPr/>
        </p:nvSpPr>
        <p:spPr>
          <a:xfrm>
            <a:off x="576072" y="1481328"/>
            <a:ext cx="2468880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90" b="1">
                <a:solidFill>
                  <a:srgbClr val="1D599B"/>
                </a:solidFill>
                <a:latin typeface="Aptos"/>
              </a:rPr>
              <a:t>AC INPUT</a:t>
            </a:r>
          </a:p>
        </p:txBody>
      </p:sp>
      <p:sp>
        <p:nvSpPr>
          <p:cNvPr id="6" name="TEXT DISTRIBUTION / X1"/>
          <p:cNvSpPr txBox="1"/>
          <p:nvPr/>
        </p:nvSpPr>
        <p:spPr>
          <a:xfrm>
            <a:off x="3867912" y="1481328"/>
            <a:ext cx="2377440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90" b="1">
                <a:solidFill>
                  <a:srgbClr val="1D599B"/>
                </a:solidFill>
                <a:latin typeface="Aptos"/>
              </a:rPr>
              <a:t>DISTRIBUTION / X1</a:t>
            </a:r>
          </a:p>
        </p:txBody>
      </p:sp>
      <p:sp>
        <p:nvSpPr>
          <p:cNvPr id="7" name="TEXT POWER SUPPLY &amp; TWO CONTROLLER BRAN"/>
          <p:cNvSpPr txBox="1"/>
          <p:nvPr/>
        </p:nvSpPr>
        <p:spPr>
          <a:xfrm>
            <a:off x="8339327" y="1481328"/>
            <a:ext cx="5577840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90" b="1">
                <a:solidFill>
                  <a:srgbClr val="1D599B"/>
                </a:solidFill>
                <a:latin typeface="Aptos"/>
              </a:rPr>
              <a:t>POWER SUPPLY &amp; TWO CONTROLLER BRANCHES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43816" y="603504"/>
            <a:ext cx="356616" cy="32004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 L"/>
          <p:cNvSpPr txBox="1"/>
          <p:nvPr/>
        </p:nvSpPr>
        <p:spPr>
          <a:xfrm>
            <a:off x="12646152" y="512064"/>
            <a:ext cx="274320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40" b="1">
                <a:solidFill>
                  <a:srgbClr val="607084"/>
                </a:solidFill>
                <a:latin typeface="Aptos"/>
              </a:rPr>
              <a:t>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02768" y="603504"/>
            <a:ext cx="356616" cy="32004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N"/>
          <p:cNvSpPr txBox="1"/>
          <p:nvPr/>
        </p:nvSpPr>
        <p:spPr>
          <a:xfrm>
            <a:off x="13405104" y="512064"/>
            <a:ext cx="274320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40" b="1">
                <a:solidFill>
                  <a:srgbClr val="607084"/>
                </a:solidFill>
                <a:latin typeface="Aptos"/>
              </a:rP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89152" y="603504"/>
            <a:ext cx="356616" cy="32004"/>
          </a:xfrm>
          <a:prstGeom prst="rect">
            <a:avLst/>
          </a:prstGeom>
          <a:solidFill>
            <a:srgbClr val="16834A"/>
          </a:solidFill>
          <a:ln w="1270">
            <a:solidFill>
              <a:srgbClr val="168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PE"/>
          <p:cNvSpPr txBox="1"/>
          <p:nvPr/>
        </p:nvSpPr>
        <p:spPr>
          <a:xfrm>
            <a:off x="14191488" y="512064"/>
            <a:ext cx="274320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40" b="1">
                <a:solidFill>
                  <a:srgbClr val="607084"/>
                </a:solidFill>
                <a:latin typeface="Aptos"/>
              </a:rPr>
              <a:t>PE</a:t>
            </a:r>
          </a:p>
        </p:txBody>
      </p:sp>
      <p:sp>
        <p:nvSpPr>
          <p:cNvPr id="14" name="COMP J1  SCHURTER"/>
          <p:cNvSpPr/>
          <p:nvPr/>
        </p:nvSpPr>
        <p:spPr>
          <a:xfrm>
            <a:off x="621792" y="2066543"/>
            <a:ext cx="2267712" cy="312724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MP LABEL J1  SCHURTER"/>
          <p:cNvSpPr txBox="1"/>
          <p:nvPr/>
        </p:nvSpPr>
        <p:spPr>
          <a:xfrm>
            <a:off x="804672" y="2231136"/>
            <a:ext cx="1901952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380" b="1">
                <a:solidFill>
                  <a:srgbClr val="1F344E"/>
                </a:solidFill>
                <a:latin typeface="Aptos"/>
              </a:rPr>
              <a:t>J1  SCHURTER</a:t>
            </a:r>
          </a:p>
        </p:txBody>
      </p:sp>
      <p:sp>
        <p:nvSpPr>
          <p:cNvPr id="16" name="PART J1  SCHURTER"/>
          <p:cNvSpPr txBox="1"/>
          <p:nvPr/>
        </p:nvSpPr>
        <p:spPr>
          <a:xfrm>
            <a:off x="804672" y="2560320"/>
            <a:ext cx="1901952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DD11.0111.1110</a:t>
            </a:r>
          </a:p>
        </p:txBody>
      </p:sp>
      <p:sp>
        <p:nvSpPr>
          <p:cNvPr id="17" name="DESC J1  SCHURTER"/>
          <p:cNvSpPr txBox="1"/>
          <p:nvPr/>
        </p:nvSpPr>
        <p:spPr>
          <a:xfrm>
            <a:off x="804672" y="2916936"/>
            <a:ext cx="1901952" cy="26517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C14 inlet · switch · fuse</a:t>
            </a:r>
          </a:p>
        </p:txBody>
      </p:sp>
      <p:sp>
        <p:nvSpPr>
          <p:cNvPr id="18" name="DATASHEET J1  SCHURTER"/>
          <p:cNvSpPr txBox="1"/>
          <p:nvPr/>
        </p:nvSpPr>
        <p:spPr>
          <a:xfrm>
            <a:off x="804672" y="4800600"/>
            <a:ext cx="1901952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19" name="COMP PE  CHASSIS"/>
          <p:cNvSpPr/>
          <p:nvPr/>
        </p:nvSpPr>
        <p:spPr>
          <a:xfrm>
            <a:off x="621792" y="6729984"/>
            <a:ext cx="2267712" cy="1307592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OMP LABEL PE  CHASSIS"/>
          <p:cNvSpPr txBox="1"/>
          <p:nvPr/>
        </p:nvSpPr>
        <p:spPr>
          <a:xfrm>
            <a:off x="804672" y="6894576"/>
            <a:ext cx="1901952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300" b="1">
                <a:solidFill>
                  <a:srgbClr val="1F344E"/>
                </a:solidFill>
                <a:latin typeface="Aptos"/>
              </a:rPr>
              <a:t>PE  CHASSIS</a:t>
            </a:r>
          </a:p>
        </p:txBody>
      </p:sp>
      <p:sp>
        <p:nvSpPr>
          <p:cNvPr id="21" name="PART PE  CHASSIS"/>
          <p:cNvSpPr txBox="1"/>
          <p:nvPr/>
        </p:nvSpPr>
        <p:spPr>
          <a:xfrm>
            <a:off x="804672" y="7223760"/>
            <a:ext cx="1901952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Enclosure / door / DIN rail</a:t>
            </a:r>
          </a:p>
        </p:txBody>
      </p:sp>
      <p:sp>
        <p:nvSpPr>
          <p:cNvPr id="22" name="COMP X1  AC DISTRIBUTION"/>
          <p:cNvSpPr/>
          <p:nvPr/>
        </p:nvSpPr>
        <p:spPr>
          <a:xfrm>
            <a:off x="3813048" y="2066543"/>
            <a:ext cx="2395728" cy="597103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OMP LABEL X1  AC DISTRIBUTION"/>
          <p:cNvSpPr txBox="1"/>
          <p:nvPr/>
        </p:nvSpPr>
        <p:spPr>
          <a:xfrm>
            <a:off x="3995928" y="2231136"/>
            <a:ext cx="2029968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260" b="1">
                <a:solidFill>
                  <a:srgbClr val="1F344E"/>
                </a:solidFill>
                <a:latin typeface="Aptos"/>
              </a:rPr>
              <a:t>X1  AC DISTRIBUTION</a:t>
            </a:r>
          </a:p>
        </p:txBody>
      </p:sp>
      <p:sp>
        <p:nvSpPr>
          <p:cNvPr id="24" name="PART X1  AC DISTRIBUTION"/>
          <p:cNvSpPr txBox="1"/>
          <p:nvPr/>
        </p:nvSpPr>
        <p:spPr>
          <a:xfrm>
            <a:off x="3995928" y="2560320"/>
            <a:ext cx="2029968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L / N / PE</a:t>
            </a:r>
          </a:p>
        </p:txBody>
      </p:sp>
      <p:sp>
        <p:nvSpPr>
          <p:cNvPr id="25" name="DESC X1  AC DISTRIBUTION"/>
          <p:cNvSpPr txBox="1"/>
          <p:nvPr/>
        </p:nvSpPr>
        <p:spPr>
          <a:xfrm>
            <a:off x="4306824" y="2852927"/>
            <a:ext cx="1792224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Logical bus · terminals TBD</a:t>
            </a:r>
          </a:p>
        </p:txBody>
      </p:sp>
      <p:sp>
        <p:nvSpPr>
          <p:cNvPr id="26" name="TEXT BRANCH / CH 1"/>
          <p:cNvSpPr txBox="1"/>
          <p:nvPr/>
        </p:nvSpPr>
        <p:spPr>
          <a:xfrm>
            <a:off x="4315968" y="4690872"/>
            <a:ext cx="1700784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BRANCH / CH 1</a:t>
            </a:r>
          </a:p>
        </p:txBody>
      </p:sp>
      <p:sp>
        <p:nvSpPr>
          <p:cNvPr id="27" name="TEXT BRANCH / CH 2"/>
          <p:cNvSpPr txBox="1"/>
          <p:nvPr/>
        </p:nvSpPr>
        <p:spPr>
          <a:xfrm>
            <a:off x="4315968" y="6665976"/>
            <a:ext cx="1700784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BRANCH / CH 2</a:t>
            </a:r>
          </a:p>
        </p:txBody>
      </p:sp>
      <p:sp>
        <p:nvSpPr>
          <p:cNvPr id="28" name="TEXT X1 jumpers: TBD"/>
          <p:cNvSpPr txBox="1"/>
          <p:nvPr/>
        </p:nvSpPr>
        <p:spPr>
          <a:xfrm>
            <a:off x="4315968" y="7626096"/>
            <a:ext cx="1700784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69" b="0">
                <a:solidFill>
                  <a:srgbClr val="A35B1B"/>
                </a:solidFill>
                <a:latin typeface="Aptos"/>
              </a:rPr>
              <a:t>X1 jumpers: TBD</a:t>
            </a:r>
          </a:p>
        </p:txBody>
      </p:sp>
      <p:sp>
        <p:nvSpPr>
          <p:cNvPr id="29" name="COMP PS1  MEAN WELL"/>
          <p:cNvSpPr/>
          <p:nvPr/>
        </p:nvSpPr>
        <p:spPr>
          <a:xfrm>
            <a:off x="8412480" y="2066543"/>
            <a:ext cx="2889504" cy="2441448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OMP LABEL PS1  MEAN WELL"/>
          <p:cNvSpPr txBox="1"/>
          <p:nvPr/>
        </p:nvSpPr>
        <p:spPr>
          <a:xfrm>
            <a:off x="8906255" y="2231136"/>
            <a:ext cx="2286000" cy="283464"/>
          </a:xfrm>
          <a:prstGeom prst="rect">
            <a:avLst/>
          </a:prstGeom>
          <a:noFill/>
          <a:ln w="13208"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340" b="1">
                <a:solidFill>
                  <a:srgbClr val="1F344E"/>
                </a:solidFill>
                <a:latin typeface="Aptos"/>
              </a:rPr>
              <a:t>PS1  MEAN WELL</a:t>
            </a:r>
          </a:p>
        </p:txBody>
      </p:sp>
      <p:sp>
        <p:nvSpPr>
          <p:cNvPr id="31" name="PART PS1  MEAN WELL"/>
          <p:cNvSpPr txBox="1"/>
          <p:nvPr/>
        </p:nvSpPr>
        <p:spPr>
          <a:xfrm>
            <a:off x="8906255" y="2560320"/>
            <a:ext cx="2286000" cy="23774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19" b="0">
                <a:solidFill>
                  <a:srgbClr val="607084"/>
                </a:solidFill>
                <a:latin typeface="Aptos"/>
              </a:rPr>
              <a:t>XDR-120E-24 · 24 V / 5 A</a:t>
            </a:r>
          </a:p>
        </p:txBody>
      </p:sp>
      <p:sp>
        <p:nvSpPr>
          <p:cNvPr id="32" name="DESC PS1  MEAN WELL"/>
          <p:cNvSpPr txBox="1"/>
          <p:nvPr/>
        </p:nvSpPr>
        <p:spPr>
          <a:xfrm>
            <a:off x="8906255" y="2916936"/>
            <a:ext cx="2286000" cy="26517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Shared 24 V DC supply</a:t>
            </a:r>
          </a:p>
        </p:txBody>
      </p:sp>
      <p:sp>
        <p:nvSpPr>
          <p:cNvPr id="33" name="DATASHEET PS1  MEAN WELL"/>
          <p:cNvSpPr txBox="1"/>
          <p:nvPr/>
        </p:nvSpPr>
        <p:spPr>
          <a:xfrm>
            <a:off x="8906255" y="4114800"/>
            <a:ext cx="2286000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4" name="COMP S1  SELECTOR"/>
          <p:cNvSpPr/>
          <p:nvPr/>
        </p:nvSpPr>
        <p:spPr>
          <a:xfrm>
            <a:off x="7616952" y="4572000"/>
            <a:ext cx="1993392" cy="123444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LABEL S1  SELECTOR"/>
          <p:cNvSpPr txBox="1"/>
          <p:nvPr/>
        </p:nvSpPr>
        <p:spPr>
          <a:xfrm>
            <a:off x="7744968" y="4677156"/>
            <a:ext cx="1225296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S1-A  SELECTOR</a:t>
            </a:r>
          </a:p>
        </p:txBody>
      </p:sp>
      <p:sp>
        <p:nvSpPr>
          <p:cNvPr id="36" name="DATASHEET S1  SELECTOR"/>
          <p:cNvSpPr txBox="1"/>
          <p:nvPr/>
        </p:nvSpPr>
        <p:spPr>
          <a:xfrm>
            <a:off x="8997696" y="4681728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5"/>
              </a:rPr>
              <a:t>DATA ↗</a:t>
            </a:r>
          </a:p>
        </p:txBody>
      </p:sp>
      <p:sp>
        <p:nvSpPr>
          <p:cNvPr id="37" name="TEXT Schneider XB5AD23"/>
          <p:cNvSpPr txBox="1"/>
          <p:nvPr/>
        </p:nvSpPr>
        <p:spPr>
          <a:xfrm>
            <a:off x="7744968" y="4928616"/>
            <a:ext cx="173736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Schneider XB5AD23</a:t>
            </a:r>
          </a:p>
        </p:txBody>
      </p:sp>
      <p:sp>
        <p:nvSpPr>
          <p:cNvPr id="38" name="COMP E1  OMRON"/>
          <p:cNvSpPr/>
          <p:nvPr/>
        </p:nvSpPr>
        <p:spPr>
          <a:xfrm>
            <a:off x="11631168" y="4572000"/>
            <a:ext cx="2478024" cy="1572768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LABEL E1  OMRON"/>
          <p:cNvSpPr txBox="1"/>
          <p:nvPr/>
        </p:nvSpPr>
        <p:spPr>
          <a:xfrm>
            <a:off x="11759184" y="4677156"/>
            <a:ext cx="1563624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E1  OMRON</a:t>
            </a:r>
          </a:p>
        </p:txBody>
      </p:sp>
      <p:sp>
        <p:nvSpPr>
          <p:cNvPr id="40" name="DATASHEET E1  OMRON"/>
          <p:cNvSpPr txBox="1"/>
          <p:nvPr/>
        </p:nvSpPr>
        <p:spPr>
          <a:xfrm>
            <a:off x="13496544" y="4681728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6"/>
              </a:rPr>
              <a:t>DATA ↗</a:t>
            </a:r>
          </a:p>
        </p:txBody>
      </p:sp>
      <p:sp>
        <p:nvSpPr>
          <p:cNvPr id="41" name="TEXT E5CC-TQX3A5M-000"/>
          <p:cNvSpPr txBox="1"/>
          <p:nvPr/>
        </p:nvSpPr>
        <p:spPr>
          <a:xfrm>
            <a:off x="11759184" y="4928616"/>
            <a:ext cx="2221991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E5CC-TQX3A5M-000</a:t>
            </a:r>
          </a:p>
        </p:txBody>
      </p:sp>
      <p:sp>
        <p:nvSpPr>
          <p:cNvPr id="42" name="TEXT NO contact 13–14"/>
          <p:cNvSpPr txBox="1"/>
          <p:nvPr/>
        </p:nvSpPr>
        <p:spPr>
          <a:xfrm>
            <a:off x="7754112" y="5568696"/>
            <a:ext cx="1536192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A  ·  NO 13–14</a:t>
            </a:r>
          </a:p>
        </p:txBody>
      </p:sp>
      <p:sp>
        <p:nvSpPr>
          <p:cNvPr id="43" name="TEXT 230 V AC input"/>
          <p:cNvSpPr txBox="1"/>
          <p:nvPr/>
        </p:nvSpPr>
        <p:spPr>
          <a:xfrm>
            <a:off x="11786616" y="5568696"/>
            <a:ext cx="160020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230 V AC input</a:t>
            </a:r>
          </a:p>
        </p:txBody>
      </p:sp>
      <p:sp>
        <p:nvSpPr>
          <p:cNvPr id="44" name="COMP S2  SELECTOR"/>
          <p:cNvSpPr/>
          <p:nvPr/>
        </p:nvSpPr>
        <p:spPr>
          <a:xfrm>
            <a:off x="7616952" y="6638544"/>
            <a:ext cx="1993392" cy="123444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LABEL S2  SELECTOR"/>
          <p:cNvSpPr txBox="1"/>
          <p:nvPr/>
        </p:nvSpPr>
        <p:spPr>
          <a:xfrm>
            <a:off x="7744968" y="6743700"/>
            <a:ext cx="1225296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S2-A  SELECTOR</a:t>
            </a:r>
          </a:p>
        </p:txBody>
      </p:sp>
      <p:sp>
        <p:nvSpPr>
          <p:cNvPr id="46" name="DATASHEET S2  SELECTOR"/>
          <p:cNvSpPr txBox="1"/>
          <p:nvPr/>
        </p:nvSpPr>
        <p:spPr>
          <a:xfrm>
            <a:off x="8997696" y="6748272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5"/>
              </a:rPr>
              <a:t>DATA ↗</a:t>
            </a:r>
          </a:p>
        </p:txBody>
      </p:sp>
      <p:sp>
        <p:nvSpPr>
          <p:cNvPr id="47" name="TEXT Schneider XB5AD23"/>
          <p:cNvSpPr txBox="1"/>
          <p:nvPr/>
        </p:nvSpPr>
        <p:spPr>
          <a:xfrm>
            <a:off x="7744968" y="6995160"/>
            <a:ext cx="173736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Schneider XB5AD23</a:t>
            </a:r>
          </a:p>
        </p:txBody>
      </p:sp>
      <p:sp>
        <p:nvSpPr>
          <p:cNvPr id="48" name="COMP E2  OMRON"/>
          <p:cNvSpPr/>
          <p:nvPr/>
        </p:nvSpPr>
        <p:spPr>
          <a:xfrm>
            <a:off x="11631168" y="6638544"/>
            <a:ext cx="2478024" cy="1572768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LABEL E2  OMRON"/>
          <p:cNvSpPr txBox="1"/>
          <p:nvPr/>
        </p:nvSpPr>
        <p:spPr>
          <a:xfrm>
            <a:off x="11759184" y="6743700"/>
            <a:ext cx="1563624" cy="219456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130" b="1">
                <a:solidFill>
                  <a:srgbClr val="1F344E"/>
                </a:solidFill>
                <a:latin typeface="Aptos"/>
              </a:rPr>
              <a:t>E2  OMRON</a:t>
            </a:r>
          </a:p>
        </p:txBody>
      </p:sp>
      <p:sp>
        <p:nvSpPr>
          <p:cNvPr id="50" name="DATASHEET E2  OMRON"/>
          <p:cNvSpPr txBox="1"/>
          <p:nvPr/>
        </p:nvSpPr>
        <p:spPr>
          <a:xfrm>
            <a:off x="13496544" y="6748272"/>
            <a:ext cx="539496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7"/>
              </a:rPr>
              <a:t>DATA ↗</a:t>
            </a:r>
          </a:p>
        </p:txBody>
      </p:sp>
      <p:sp>
        <p:nvSpPr>
          <p:cNvPr id="51" name="TEXT E5CC-TQX3A5M-003"/>
          <p:cNvSpPr txBox="1"/>
          <p:nvPr/>
        </p:nvSpPr>
        <p:spPr>
          <a:xfrm>
            <a:off x="11759184" y="6995160"/>
            <a:ext cx="2221991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0">
                <a:solidFill>
                  <a:srgbClr val="607084"/>
                </a:solidFill>
                <a:latin typeface="Aptos"/>
              </a:rPr>
              <a:t>E5CC-TQX3A5M-003</a:t>
            </a:r>
          </a:p>
        </p:txBody>
      </p:sp>
      <p:sp>
        <p:nvSpPr>
          <p:cNvPr id="52" name="TEXT NO contact 13–14"/>
          <p:cNvSpPr txBox="1"/>
          <p:nvPr/>
        </p:nvSpPr>
        <p:spPr>
          <a:xfrm>
            <a:off x="7754112" y="7635240"/>
            <a:ext cx="1536192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A  ·  NO 13–14</a:t>
            </a:r>
          </a:p>
        </p:txBody>
      </p:sp>
      <p:sp>
        <p:nvSpPr>
          <p:cNvPr id="53" name="TEXT 230 V AC input"/>
          <p:cNvSpPr txBox="1"/>
          <p:nvPr/>
        </p:nvSpPr>
        <p:spPr>
          <a:xfrm>
            <a:off x="11786616" y="7635240"/>
            <a:ext cx="160020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230 V AC input</a:t>
            </a:r>
          </a:p>
        </p:txBody>
      </p:sp>
      <p:sp>
        <p:nvSpPr>
          <p:cNvPr id="54" name="TERM jl L"/>
          <p:cNvSpPr/>
          <p:nvPr/>
        </p:nvSpPr>
        <p:spPr>
          <a:xfrm>
            <a:off x="2624328" y="3081527"/>
            <a:ext cx="530352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</a:t>
            </a:r>
          </a:p>
        </p:txBody>
      </p:sp>
      <p:sp>
        <p:nvSpPr>
          <p:cNvPr id="55" name="TERM jn N"/>
          <p:cNvSpPr/>
          <p:nvPr/>
        </p:nvSpPr>
        <p:spPr>
          <a:xfrm>
            <a:off x="2624328" y="3721608"/>
            <a:ext cx="530352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</a:t>
            </a:r>
          </a:p>
        </p:txBody>
      </p:sp>
      <p:sp>
        <p:nvSpPr>
          <p:cNvPr id="56" name="TERM jpe PE"/>
          <p:cNvSpPr/>
          <p:nvPr/>
        </p:nvSpPr>
        <p:spPr>
          <a:xfrm>
            <a:off x="2624328" y="4361688"/>
            <a:ext cx="530352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57" name="TERM xil L IN"/>
          <p:cNvSpPr/>
          <p:nvPr/>
        </p:nvSpPr>
        <p:spPr>
          <a:xfrm>
            <a:off x="3470148" y="3081527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9A5127"/>
                </a:solidFill>
                <a:latin typeface="Aptos"/>
              </a:rPr>
              <a:t>L IN</a:t>
            </a:r>
          </a:p>
        </p:txBody>
      </p:sp>
      <p:sp>
        <p:nvSpPr>
          <p:cNvPr id="58" name="TERM xin N IN"/>
          <p:cNvSpPr/>
          <p:nvPr/>
        </p:nvSpPr>
        <p:spPr>
          <a:xfrm>
            <a:off x="3470148" y="3721608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A5BAE"/>
                </a:solidFill>
                <a:latin typeface="Aptos"/>
              </a:rPr>
              <a:t>N IN</a:t>
            </a:r>
          </a:p>
        </p:txBody>
      </p:sp>
      <p:sp>
        <p:nvSpPr>
          <p:cNvPr id="59" name="TERM xip PE IN"/>
          <p:cNvSpPr/>
          <p:nvPr/>
        </p:nvSpPr>
        <p:spPr>
          <a:xfrm>
            <a:off x="3470148" y="4361688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6834A"/>
                </a:solidFill>
                <a:latin typeface="Aptos"/>
              </a:rPr>
              <a:t>PE IN</a:t>
            </a:r>
          </a:p>
        </p:txBody>
      </p:sp>
      <p:sp>
        <p:nvSpPr>
          <p:cNvPr id="60" name="TERM ch_pe PE"/>
          <p:cNvSpPr/>
          <p:nvPr/>
        </p:nvSpPr>
        <p:spPr>
          <a:xfrm>
            <a:off x="2615184" y="7315200"/>
            <a:ext cx="54864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61" name="TERM x_pe PE"/>
          <p:cNvSpPr/>
          <p:nvPr/>
        </p:nvSpPr>
        <p:spPr>
          <a:xfrm>
            <a:off x="3470148" y="7315200"/>
            <a:ext cx="685800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62" name="TERM xlps L"/>
          <p:cNvSpPr/>
          <p:nvPr/>
        </p:nvSpPr>
        <p:spPr>
          <a:xfrm>
            <a:off x="5907024" y="2596896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</a:t>
            </a:r>
          </a:p>
        </p:txBody>
      </p:sp>
      <p:sp>
        <p:nvSpPr>
          <p:cNvPr id="63" name="TERM xnps N"/>
          <p:cNvSpPr/>
          <p:nvPr/>
        </p:nvSpPr>
        <p:spPr>
          <a:xfrm>
            <a:off x="5907024" y="3209544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</a:t>
            </a:r>
          </a:p>
        </p:txBody>
      </p:sp>
      <p:sp>
        <p:nvSpPr>
          <p:cNvPr id="64" name="TERM xpps PE"/>
          <p:cNvSpPr/>
          <p:nvPr/>
        </p:nvSpPr>
        <p:spPr>
          <a:xfrm>
            <a:off x="5907024" y="3822192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PE</a:t>
            </a:r>
          </a:p>
        </p:txBody>
      </p:sp>
      <p:sp>
        <p:nvSpPr>
          <p:cNvPr id="65" name="TERM psl C1"/>
          <p:cNvSpPr/>
          <p:nvPr/>
        </p:nvSpPr>
        <p:spPr>
          <a:xfrm>
            <a:off x="8110727" y="2596896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C1</a:t>
            </a:r>
          </a:p>
        </p:txBody>
      </p:sp>
      <p:sp>
        <p:nvSpPr>
          <p:cNvPr id="66" name="TERM psn C2"/>
          <p:cNvSpPr/>
          <p:nvPr/>
        </p:nvSpPr>
        <p:spPr>
          <a:xfrm>
            <a:off x="8110727" y="3209544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C2</a:t>
            </a:r>
          </a:p>
        </p:txBody>
      </p:sp>
      <p:sp>
        <p:nvSpPr>
          <p:cNvPr id="67" name="TERM pspe C3"/>
          <p:cNvSpPr/>
          <p:nvPr/>
        </p:nvSpPr>
        <p:spPr>
          <a:xfrm>
            <a:off x="8110727" y="3822192"/>
            <a:ext cx="6035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6834A"/>
                </a:solidFill>
                <a:latin typeface="Aptos"/>
              </a:rPr>
              <a:t>C3</a:t>
            </a:r>
          </a:p>
        </p:txBody>
      </p:sp>
      <p:sp>
        <p:nvSpPr>
          <p:cNvPr id="68" name="TERM pplus A1 +Vo"/>
          <p:cNvSpPr/>
          <p:nvPr/>
        </p:nvSpPr>
        <p:spPr>
          <a:xfrm>
            <a:off x="10885932" y="2633472"/>
            <a:ext cx="8321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D599B"/>
                </a:solidFill>
                <a:latin typeface="Aptos"/>
              </a:rPr>
              <a:t>A1 +Vo</a:t>
            </a:r>
          </a:p>
        </p:txBody>
      </p:sp>
      <p:sp>
        <p:nvSpPr>
          <p:cNvPr id="69" name="TERM pminus1 A2 −Vo"/>
          <p:cNvSpPr/>
          <p:nvPr/>
        </p:nvSpPr>
        <p:spPr>
          <a:xfrm>
            <a:off x="10885932" y="3227832"/>
            <a:ext cx="8321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D599B"/>
                </a:solidFill>
                <a:latin typeface="Aptos"/>
              </a:rPr>
              <a:t>A2 −Vo</a:t>
            </a:r>
          </a:p>
        </p:txBody>
      </p:sp>
      <p:sp>
        <p:nvSpPr>
          <p:cNvPr id="70" name="TERM pminus2 A3 −Vo"/>
          <p:cNvSpPr/>
          <p:nvPr/>
        </p:nvSpPr>
        <p:spPr>
          <a:xfrm>
            <a:off x="10885932" y="3822192"/>
            <a:ext cx="832104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D599B"/>
                </a:solidFill>
                <a:latin typeface="Aptos"/>
              </a:rPr>
              <a:t>A3 −Vo</a:t>
            </a:r>
          </a:p>
        </p:txBody>
      </p:sp>
      <p:sp>
        <p:nvSpPr>
          <p:cNvPr id="71" name="TERM xl1 L1"/>
          <p:cNvSpPr/>
          <p:nvPr/>
        </p:nvSpPr>
        <p:spPr>
          <a:xfrm>
            <a:off x="5916168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L1</a:t>
            </a:r>
          </a:p>
        </p:txBody>
      </p:sp>
      <p:sp>
        <p:nvSpPr>
          <p:cNvPr id="72" name="TERM xn1 N1"/>
          <p:cNvSpPr/>
          <p:nvPr/>
        </p:nvSpPr>
        <p:spPr>
          <a:xfrm>
            <a:off x="5916168" y="5705856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N1</a:t>
            </a:r>
          </a:p>
        </p:txBody>
      </p:sp>
      <p:sp>
        <p:nvSpPr>
          <p:cNvPr id="73" name="TERM s1in 13"/>
          <p:cNvSpPr/>
          <p:nvPr/>
        </p:nvSpPr>
        <p:spPr>
          <a:xfrm>
            <a:off x="7324344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13</a:t>
            </a:r>
          </a:p>
        </p:txBody>
      </p:sp>
      <p:sp>
        <p:nvSpPr>
          <p:cNvPr id="74" name="TERM s1out 14"/>
          <p:cNvSpPr/>
          <p:nvPr/>
        </p:nvSpPr>
        <p:spPr>
          <a:xfrm>
            <a:off x="9317736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14</a:t>
            </a:r>
          </a:p>
        </p:txBody>
      </p:sp>
      <p:sp>
        <p:nvSpPr>
          <p:cNvPr id="75" name="TERM e1l 11"/>
          <p:cNvSpPr/>
          <p:nvPr/>
        </p:nvSpPr>
        <p:spPr>
          <a:xfrm>
            <a:off x="11338560" y="5129783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11</a:t>
            </a:r>
          </a:p>
        </p:txBody>
      </p:sp>
      <p:sp>
        <p:nvSpPr>
          <p:cNvPr id="76" name="TERM e1n 12"/>
          <p:cNvSpPr/>
          <p:nvPr/>
        </p:nvSpPr>
        <p:spPr>
          <a:xfrm>
            <a:off x="11338560" y="5705856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12</a:t>
            </a:r>
          </a:p>
        </p:txBody>
      </p:sp>
      <p:sp>
        <p:nvSpPr>
          <p:cNvPr id="77" name="TERM xl2 L2"/>
          <p:cNvSpPr/>
          <p:nvPr/>
        </p:nvSpPr>
        <p:spPr>
          <a:xfrm>
            <a:off x="5916168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L2</a:t>
            </a:r>
          </a:p>
        </p:txBody>
      </p:sp>
      <p:sp>
        <p:nvSpPr>
          <p:cNvPr id="78" name="TERM xn2 N2"/>
          <p:cNvSpPr/>
          <p:nvPr/>
        </p:nvSpPr>
        <p:spPr>
          <a:xfrm>
            <a:off x="5916168" y="7772400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N2</a:t>
            </a:r>
          </a:p>
        </p:txBody>
      </p:sp>
      <p:sp>
        <p:nvSpPr>
          <p:cNvPr id="79" name="TERM s2in 13"/>
          <p:cNvSpPr/>
          <p:nvPr/>
        </p:nvSpPr>
        <p:spPr>
          <a:xfrm>
            <a:off x="7324344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13</a:t>
            </a:r>
          </a:p>
        </p:txBody>
      </p:sp>
      <p:sp>
        <p:nvSpPr>
          <p:cNvPr id="80" name="TERM s2out 14"/>
          <p:cNvSpPr/>
          <p:nvPr/>
        </p:nvSpPr>
        <p:spPr>
          <a:xfrm>
            <a:off x="9317736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14</a:t>
            </a:r>
          </a:p>
        </p:txBody>
      </p:sp>
      <p:sp>
        <p:nvSpPr>
          <p:cNvPr id="81" name="TERM e2l 11"/>
          <p:cNvSpPr/>
          <p:nvPr/>
        </p:nvSpPr>
        <p:spPr>
          <a:xfrm>
            <a:off x="11338560" y="7196328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9A5127"/>
                </a:solidFill>
                <a:latin typeface="Aptos"/>
              </a:rPr>
              <a:t>11</a:t>
            </a:r>
          </a:p>
        </p:txBody>
      </p:sp>
      <p:sp>
        <p:nvSpPr>
          <p:cNvPr id="82" name="TERM e2n 12"/>
          <p:cNvSpPr/>
          <p:nvPr/>
        </p:nvSpPr>
        <p:spPr>
          <a:xfrm>
            <a:off x="11338560" y="7772400"/>
            <a:ext cx="585216" cy="329184"/>
          </a:xfrm>
          <a:prstGeom prst="rect">
            <a:avLst/>
          </a:prstGeom>
          <a:solidFill>
            <a:srgbClr val="FFFFFF"/>
          </a:solidFill>
          <a:ln w="17272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80" b="1">
                <a:solidFill>
                  <a:srgbClr val="1A5BAE"/>
                </a:solidFill>
                <a:latin typeface="Aptos"/>
              </a:rPr>
              <a:t>12</a:t>
            </a:r>
          </a:p>
        </p:txBody>
      </p:sp>
      <p:cxnSp>
        <p:nvCxnSpPr>
          <p:cNvPr id="83" name="WIRE jl -&gt; xil (live)"/>
          <p:cNvCxnSpPr/>
          <p:nvPr/>
        </p:nvCxnSpPr>
        <p:spPr>
          <a:xfrm>
            <a:off x="3154680" y="3246119"/>
            <a:ext cx="315468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WIRE jn -&gt; xin (neutral)"/>
          <p:cNvCxnSpPr/>
          <p:nvPr/>
        </p:nvCxnSpPr>
        <p:spPr>
          <a:xfrm>
            <a:off x="3154680" y="3886200"/>
            <a:ext cx="315468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WIRE jpe -&gt; xip (pe)"/>
          <p:cNvCxnSpPr/>
          <p:nvPr/>
        </p:nvCxnSpPr>
        <p:spPr>
          <a:xfrm>
            <a:off x="3154680" y="4526280"/>
            <a:ext cx="315468" cy="0"/>
          </a:xfrm>
          <a:prstGeom prst="line">
            <a:avLst/>
          </a:prstGeom>
          <a:ln w="28575">
            <a:solidFill>
              <a:srgbClr val="168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WIRE ch_pe -&gt; x_pe (pe)"/>
          <p:cNvCxnSpPr/>
          <p:nvPr/>
        </p:nvCxnSpPr>
        <p:spPr>
          <a:xfrm>
            <a:off x="3163824" y="7479792"/>
            <a:ext cx="306324" cy="0"/>
          </a:xfrm>
          <a:prstGeom prst="line">
            <a:avLst/>
          </a:prstGeom>
          <a:ln w="28575">
            <a:solidFill>
              <a:srgbClr val="168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WIRE xlps -&gt; psl (live)"/>
          <p:cNvCxnSpPr/>
          <p:nvPr/>
        </p:nvCxnSpPr>
        <p:spPr>
          <a:xfrm>
            <a:off x="6510528" y="2761488"/>
            <a:ext cx="1600199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WIRE xnps -&gt; psn (neutral)"/>
          <p:cNvCxnSpPr/>
          <p:nvPr/>
        </p:nvCxnSpPr>
        <p:spPr>
          <a:xfrm>
            <a:off x="6510528" y="3374136"/>
            <a:ext cx="1600199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WIRE xpps -&gt; pspe (pe)"/>
          <p:cNvCxnSpPr/>
          <p:nvPr/>
        </p:nvCxnSpPr>
        <p:spPr>
          <a:xfrm>
            <a:off x="6510528" y="3986784"/>
            <a:ext cx="1600199" cy="0"/>
          </a:xfrm>
          <a:prstGeom prst="line">
            <a:avLst/>
          </a:prstGeom>
          <a:ln w="28575">
            <a:solidFill>
              <a:srgbClr val="168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WIRE xl1 -&gt; s1in (live)"/>
          <p:cNvCxnSpPr/>
          <p:nvPr/>
        </p:nvCxnSpPr>
        <p:spPr>
          <a:xfrm>
            <a:off x="6501384" y="5294375"/>
            <a:ext cx="822960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WIRE s1out -&gt; e1l (live)"/>
          <p:cNvCxnSpPr/>
          <p:nvPr/>
        </p:nvCxnSpPr>
        <p:spPr>
          <a:xfrm>
            <a:off x="9902952" y="5294375"/>
            <a:ext cx="1435608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WIRE xn1 -&gt; e1n (neutral)"/>
          <p:cNvCxnSpPr/>
          <p:nvPr/>
        </p:nvCxnSpPr>
        <p:spPr>
          <a:xfrm>
            <a:off x="6501384" y="5870448"/>
            <a:ext cx="4837176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WIRE xl2 -&gt; s2in (live)"/>
          <p:cNvCxnSpPr/>
          <p:nvPr/>
        </p:nvCxnSpPr>
        <p:spPr>
          <a:xfrm>
            <a:off x="6501384" y="7360920"/>
            <a:ext cx="822960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WIRE s2out -&gt; e2l (live)"/>
          <p:cNvCxnSpPr/>
          <p:nvPr/>
        </p:nvCxnSpPr>
        <p:spPr>
          <a:xfrm>
            <a:off x="9902952" y="7360920"/>
            <a:ext cx="1435608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WIRE xn2 -&gt; e2n (neutral)"/>
          <p:cNvCxnSpPr/>
          <p:nvPr/>
        </p:nvCxnSpPr>
        <p:spPr>
          <a:xfrm>
            <a:off x="6501384" y="7936992"/>
            <a:ext cx="4837176" cy="0"/>
          </a:xfrm>
          <a:prstGeom prst="line">
            <a:avLst/>
          </a:prstGeom>
          <a:ln w="28575">
            <a:solidFill>
              <a:srgbClr val="1A5B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MAINTAINED NO CONTACT SYMBOL"/>
          <p:cNvCxnSpPr/>
          <p:nvPr/>
        </p:nvCxnSpPr>
        <p:spPr>
          <a:xfrm>
            <a:off x="7909560" y="5294376"/>
            <a:ext cx="484632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MAINTAINED NO CONTACT SYMBOL"/>
          <p:cNvCxnSpPr/>
          <p:nvPr/>
        </p:nvCxnSpPr>
        <p:spPr>
          <a:xfrm>
            <a:off x="8942832" y="5294376"/>
            <a:ext cx="374904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MAINTAINED NO CONTACT SYMBOL"/>
          <p:cNvCxnSpPr/>
          <p:nvPr/>
        </p:nvCxnSpPr>
        <p:spPr>
          <a:xfrm flipV="1">
            <a:off x="8394192" y="5175504"/>
            <a:ext cx="438912" cy="118872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NO CONTACT DOT"/>
          <p:cNvSpPr/>
          <p:nvPr/>
        </p:nvSpPr>
        <p:spPr>
          <a:xfrm>
            <a:off x="8362188" y="5262372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NO CONTACT DOT"/>
          <p:cNvSpPr/>
          <p:nvPr/>
        </p:nvSpPr>
        <p:spPr>
          <a:xfrm>
            <a:off x="8910828" y="5262372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" name="MAINTAINED NO CONTACT SYMBOL"/>
          <p:cNvCxnSpPr/>
          <p:nvPr/>
        </p:nvCxnSpPr>
        <p:spPr>
          <a:xfrm>
            <a:off x="7909560" y="7360920"/>
            <a:ext cx="484632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MAINTAINED NO CONTACT SYMBOL"/>
          <p:cNvCxnSpPr/>
          <p:nvPr/>
        </p:nvCxnSpPr>
        <p:spPr>
          <a:xfrm>
            <a:off x="8942832" y="7360920"/>
            <a:ext cx="374904" cy="0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MAINTAINED NO CONTACT SYMBOL"/>
          <p:cNvCxnSpPr/>
          <p:nvPr/>
        </p:nvCxnSpPr>
        <p:spPr>
          <a:xfrm flipV="1">
            <a:off x="8394192" y="7242048"/>
            <a:ext cx="438912" cy="118872"/>
          </a:xfrm>
          <a:prstGeom prst="line">
            <a:avLst/>
          </a:prstGeom>
          <a:ln w="28575">
            <a:solidFill>
              <a:srgbClr val="9A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NO CONTACT DOT"/>
          <p:cNvSpPr/>
          <p:nvPr/>
        </p:nvSpPr>
        <p:spPr>
          <a:xfrm>
            <a:off x="8362188" y="7328916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NO CONTACT DOT"/>
          <p:cNvSpPr/>
          <p:nvPr/>
        </p:nvSpPr>
        <p:spPr>
          <a:xfrm>
            <a:off x="8910828" y="7328916"/>
            <a:ext cx="64008" cy="64008"/>
          </a:xfrm>
          <a:prstGeom prst="rect">
            <a:avLst/>
          </a:prstGeom>
          <a:solidFill>
            <a:srgbClr val="FFFFFF"/>
          </a:solidFill>
          <a:ln w="15875">
            <a:solidFill>
              <a:srgbClr val="9A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 TO SHARED PSU"/>
          <p:cNvSpPr txBox="1"/>
          <p:nvPr/>
        </p:nvSpPr>
        <p:spPr>
          <a:xfrm>
            <a:off x="6318504" y="2276856"/>
            <a:ext cx="1527048" cy="246888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30" b="1">
                <a:solidFill>
                  <a:srgbClr val="607084"/>
                </a:solidFill>
                <a:latin typeface="Aptos"/>
              </a:rPr>
              <a:t>TO SHARED PSU</a:t>
            </a:r>
          </a:p>
        </p:txBody>
      </p:sp>
      <p:sp>
        <p:nvSpPr>
          <p:cNvPr id="107" name="TEXT CH 1 CONTROLLER"/>
          <p:cNvSpPr txBox="1"/>
          <p:nvPr/>
        </p:nvSpPr>
        <p:spPr>
          <a:xfrm>
            <a:off x="9875520" y="4544568"/>
            <a:ext cx="1572768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CH 1 CONTROLLER</a:t>
            </a:r>
          </a:p>
        </p:txBody>
      </p:sp>
      <p:sp>
        <p:nvSpPr>
          <p:cNvPr id="108" name="TEXT CH 2 CONTROLLER"/>
          <p:cNvSpPr txBox="1"/>
          <p:nvPr/>
        </p:nvSpPr>
        <p:spPr>
          <a:xfrm>
            <a:off x="9875520" y="6583680"/>
            <a:ext cx="1572768" cy="210312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607084"/>
                </a:solidFill>
                <a:latin typeface="Aptos"/>
              </a:rPr>
              <a:t>CH 2 CONTROLLER</a:t>
            </a:r>
          </a:p>
        </p:txBody>
      </p:sp>
      <p:sp>
        <p:nvSpPr>
          <p:cNvPr id="109" name="TEXT 24 V OUTPUT → SHEET 02"/>
          <p:cNvSpPr txBox="1"/>
          <p:nvPr/>
        </p:nvSpPr>
        <p:spPr>
          <a:xfrm>
            <a:off x="11622024" y="4114800"/>
            <a:ext cx="2542032" cy="192024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00" b="1">
                <a:solidFill>
                  <a:srgbClr val="1D599B"/>
                </a:solidFill>
                <a:latin typeface="Aptos"/>
              </a:rPr>
              <a:t>24 V OUTPUT → SHEET 02</a:t>
            </a:r>
          </a:p>
        </p:txBody>
      </p:sp>
      <p:sp>
        <p:nvSpPr>
          <p:cNvPr id="110" name="DESIGN REVIEW NOTE"/>
          <p:cNvSpPr/>
          <p:nvPr/>
        </p:nvSpPr>
        <p:spPr>
          <a:xfrm>
            <a:off x="621792" y="8705088"/>
            <a:ext cx="13487400" cy="685800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13208">
            <a:solidFill>
              <a:srgbClr val="D9A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 DESIGN REVIEW ONLY — Not approved "/>
          <p:cNvSpPr txBox="1"/>
          <p:nvPr/>
        </p:nvSpPr>
        <p:spPr>
          <a:xfrm>
            <a:off x="850392" y="8796528"/>
            <a:ext cx="12947904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1070" b="1">
                <a:solidFill>
                  <a:srgbClr val="A35B1B"/>
                </a:solidFill>
                <a:latin typeface="Aptos"/>
              </a:rPr>
              <a:t>DESIGN REVIEW ONLY — Not approved for wiring / energising</a:t>
            </a:r>
          </a:p>
        </p:txBody>
      </p:sp>
      <p:sp>
        <p:nvSpPr>
          <p:cNvPr id="112" name="TEXT Confirm X1 terminal blocks and jum"/>
          <p:cNvSpPr txBox="1"/>
          <p:nvPr/>
        </p:nvSpPr>
        <p:spPr>
          <a:xfrm>
            <a:off x="850392" y="9034272"/>
            <a:ext cx="12984480" cy="18288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50" b="0">
                <a:solidFill>
                  <a:srgbClr val="A35B1B"/>
                </a:solidFill>
                <a:latin typeface="Aptos"/>
              </a:rPr>
              <a:t>Confirm X1 terminal blocks and jumpers, DD11 output tabs / fuse, PE bonds, and 24 V interlock design.</a:t>
            </a:r>
          </a:p>
        </p:txBody>
      </p:sp>
      <p:sp>
        <p:nvSpPr>
          <p:cNvPr id="113" name="TEXT HEATING RATE CONTROLLER   /   D7 A"/>
          <p:cNvSpPr txBox="1"/>
          <p:nvPr/>
        </p:nvSpPr>
        <p:spPr>
          <a:xfrm>
            <a:off x="640080" y="9765792"/>
            <a:ext cx="9601200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l"/>
            <a:r>
              <a:rPr sz="969" b="1">
                <a:solidFill>
                  <a:srgbClr val="607084"/>
                </a:solidFill>
                <a:latin typeface="Aptos"/>
              </a:rPr>
              <a:t>HEATING RATE CONTROLLER   /   D12 SOCKET + ACTIVITY LED   /   EDITABLE POWERPOINT</a:t>
            </a:r>
          </a:p>
        </p:txBody>
      </p:sp>
      <p:sp>
        <p:nvSpPr>
          <p:cNvPr id="114" name="TEXT SHEET 01 / 01"/>
          <p:cNvSpPr txBox="1"/>
          <p:nvPr/>
        </p:nvSpPr>
        <p:spPr>
          <a:xfrm>
            <a:off x="12115800" y="9765792"/>
            <a:ext cx="2011680" cy="228600"/>
          </a:xfrm>
          <a:prstGeom prst="rect">
            <a:avLst/>
          </a:prstGeom>
          <a:noFill/>
        </p:spPr>
        <p:txBody>
          <a:bodyPr wrap="none" lIns="10972" tIns="0" rIns="10972" bIns="0" anchor="ctr">
            <a:spAutoFit/>
          </a:bodyPr>
          <a:lstStyle/>
          <a:p>
            <a:pPr algn="r"/>
            <a:r>
              <a:rPr sz="969" b="1">
                <a:solidFill>
                  <a:srgbClr val="607084"/>
                </a:solidFill>
                <a:latin typeface="Aptos"/>
              </a:rPr>
              <a:t>SHEET 01 / 01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2  /  SHARED 24 V DISTRI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02  /  SHARED 24 V DISTRIBUTION &amp; CHANNEL INTERLOCKS</a:t>
            </a:r>
          </a:p>
        </p:txBody>
      </p:sp>
      <p:sp>
        <p:nvSpPr>
          <p:cNvPr id="3" name="TEXT One shared Mean Well supp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One shared Mean Well supply; S1-B and S2-B independently enable their respective 24 V branches.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4 V DC DISTRIBUTION   /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24 V DC DISTRIBUTION   /   CHANNEL 1 + CHANNEL 2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2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02</a:t>
            </a:r>
          </a:p>
        </p:txBody>
      </p:sp>
      <p:sp>
        <p:nvSpPr>
          <p:cNvPr id="10" name="TEXT S1/S2 second contact numb"/>
          <p:cNvSpPr txBox="1"/>
          <p:nvPr/>
        </p:nvSpPr>
        <p:spPr>
          <a:xfrm>
            <a:off x="667512" y="8065008"/>
            <a:ext cx="13395960" cy="47548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r>
              <a:rPr sz="1030">
                <a:solidFill>
                  <a:srgbClr val="3F5A6F"/>
                </a:solidFill>
              </a:rPr>
              <a:t>Selector terminal references:  A = 13–14 (AC)   |   B = 23–24* (gated +24 V).</a:t>
            </a:r>
          </a:p>
          <a:p>
            <a:r>
              <a:rPr sz="1030">
                <a:solidFill>
                  <a:srgbClr val="3F5A6F"/>
                </a:solidFill>
              </a:rPr>
              <a:t>* IEC design labels only. Confirm stamps on the actual XB5AD23 contact-block assembly before wiring; X2–X4 distribution hardware remains TBD.</a:t>
            </a:r>
          </a:p>
        </p:txBody>
      </p:sp>
      <p:sp>
        <p:nvSpPr>
          <p:cNvPr id="11" name="COMPONENT PS1  MEAN WELL"/>
          <p:cNvSpPr/>
          <p:nvPr/>
        </p:nvSpPr>
        <p:spPr>
          <a:xfrm>
            <a:off x="658368" y="2761488"/>
            <a:ext cx="2157984" cy="245059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PS1  MEAN WELL"/>
          <p:cNvSpPr txBox="1"/>
          <p:nvPr/>
        </p:nvSpPr>
        <p:spPr>
          <a:xfrm>
            <a:off x="822959" y="2898648"/>
            <a:ext cx="1856231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PS1  MEAN WELL</a:t>
            </a:r>
          </a:p>
        </p:txBody>
      </p:sp>
      <p:sp>
        <p:nvSpPr>
          <p:cNvPr id="13" name="TEXT XDR-120E-24"/>
          <p:cNvSpPr txBox="1"/>
          <p:nvPr/>
        </p:nvSpPr>
        <p:spPr>
          <a:xfrm>
            <a:off x="822959" y="3209544"/>
            <a:ext cx="1856231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XDR-120E-24</a:t>
            </a:r>
          </a:p>
        </p:txBody>
      </p:sp>
      <p:sp>
        <p:nvSpPr>
          <p:cNvPr id="14" name="TEXT 24 V DC / 5 A&#10;shared supp"/>
          <p:cNvSpPr txBox="1"/>
          <p:nvPr/>
        </p:nvSpPr>
        <p:spPr>
          <a:xfrm>
            <a:off x="822959" y="3483864"/>
            <a:ext cx="18288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24 V DC / 5 A
shared supply</a:t>
            </a:r>
          </a:p>
        </p:txBody>
      </p:sp>
      <p:sp>
        <p:nvSpPr>
          <p:cNvPr id="15" name="MFR LINK PS1  MEAN WELL"/>
          <p:cNvSpPr txBox="1"/>
          <p:nvPr/>
        </p:nvSpPr>
        <p:spPr>
          <a:xfrm>
            <a:off x="822959" y="4901184"/>
            <a:ext cx="18288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16" name="COMPONENT X2  DC DISTR."/>
          <p:cNvSpPr/>
          <p:nvPr/>
        </p:nvSpPr>
        <p:spPr>
          <a:xfrm>
            <a:off x="3685032" y="2203704"/>
            <a:ext cx="2212848" cy="529437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 X2  DC DISTR."/>
          <p:cNvSpPr txBox="1"/>
          <p:nvPr/>
        </p:nvSpPr>
        <p:spPr>
          <a:xfrm>
            <a:off x="3849624" y="2340864"/>
            <a:ext cx="191109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X2  DC DISTR.</a:t>
            </a:r>
          </a:p>
        </p:txBody>
      </p:sp>
      <p:sp>
        <p:nvSpPr>
          <p:cNvPr id="18" name="TEXT +24 V  /  0 V"/>
          <p:cNvSpPr txBox="1"/>
          <p:nvPr/>
        </p:nvSpPr>
        <p:spPr>
          <a:xfrm>
            <a:off x="3849624" y="2651760"/>
            <a:ext cx="191109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+24 V  /  0 V</a:t>
            </a:r>
          </a:p>
        </p:txBody>
      </p:sp>
      <p:sp>
        <p:nvSpPr>
          <p:cNvPr id="19" name="TEXT Physical terminals and ju"/>
          <p:cNvSpPr txBox="1"/>
          <p:nvPr/>
        </p:nvSpPr>
        <p:spPr>
          <a:xfrm>
            <a:off x="3867912" y="4599432"/>
            <a:ext cx="1719072" cy="6858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90" b="0">
                <a:solidFill>
                  <a:srgbClr val="607084"/>
                </a:solidFill>
                <a:latin typeface="Aptos"/>
              </a:rPr>
              <a:t>Physical terminals and jumpers TBD</a:t>
            </a:r>
          </a:p>
        </p:txBody>
      </p:sp>
      <p:sp>
        <p:nvSpPr>
          <p:cNvPr id="20" name="COMPONENT S1-B  SELECTOR"/>
          <p:cNvSpPr/>
          <p:nvPr/>
        </p:nvSpPr>
        <p:spPr>
          <a:xfrm>
            <a:off x="6757416" y="2176272"/>
            <a:ext cx="1993392" cy="175564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S1-B  SELECTOR"/>
          <p:cNvSpPr txBox="1"/>
          <p:nvPr/>
        </p:nvSpPr>
        <p:spPr>
          <a:xfrm>
            <a:off x="6922007" y="2313432"/>
            <a:ext cx="16916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S1-B  SELECTOR</a:t>
            </a:r>
          </a:p>
        </p:txBody>
      </p:sp>
      <p:sp>
        <p:nvSpPr>
          <p:cNvPr id="22" name="TEXT XB5AD23"/>
          <p:cNvSpPr txBox="1"/>
          <p:nvPr/>
        </p:nvSpPr>
        <p:spPr>
          <a:xfrm>
            <a:off x="6922007" y="2624328"/>
            <a:ext cx="16916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XB5AD23</a:t>
            </a:r>
          </a:p>
        </p:txBody>
      </p:sp>
      <p:sp>
        <p:nvSpPr>
          <p:cNvPr id="23" name="MFR LINK S1-B  SELECTOR"/>
          <p:cNvSpPr txBox="1"/>
          <p:nvPr/>
        </p:nvSpPr>
        <p:spPr>
          <a:xfrm>
            <a:off x="6922007" y="3621024"/>
            <a:ext cx="16642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4" name="COMPONENT X3  CH1 CONTROL"/>
          <p:cNvSpPr/>
          <p:nvPr/>
        </p:nvSpPr>
        <p:spPr>
          <a:xfrm>
            <a:off x="11091672" y="2276856"/>
            <a:ext cx="2404872" cy="19476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 X3  CH1 CONTROL"/>
          <p:cNvSpPr txBox="1"/>
          <p:nvPr/>
        </p:nvSpPr>
        <p:spPr>
          <a:xfrm>
            <a:off x="11256264" y="2414016"/>
            <a:ext cx="210312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X3  CH1 CONTROL</a:t>
            </a:r>
          </a:p>
        </p:txBody>
      </p:sp>
      <p:sp>
        <p:nvSpPr>
          <p:cNvPr id="26" name="TEXT Gated +24 V / 0 V"/>
          <p:cNvSpPr txBox="1"/>
          <p:nvPr/>
        </p:nvSpPr>
        <p:spPr>
          <a:xfrm>
            <a:off x="11256264" y="2724912"/>
            <a:ext cx="210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Gated +24 V / 0 V</a:t>
            </a:r>
          </a:p>
        </p:txBody>
      </p:sp>
      <p:sp>
        <p:nvSpPr>
          <p:cNvPr id="27" name="COMPONENT S2-B  SELECTOR"/>
          <p:cNvSpPr/>
          <p:nvPr/>
        </p:nvSpPr>
        <p:spPr>
          <a:xfrm>
            <a:off x="6757416" y="4837176"/>
            <a:ext cx="1993392" cy="175564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 S2-B  SELECTOR"/>
          <p:cNvSpPr txBox="1"/>
          <p:nvPr/>
        </p:nvSpPr>
        <p:spPr>
          <a:xfrm>
            <a:off x="6922007" y="4974336"/>
            <a:ext cx="16916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S2-B  SELECTOR</a:t>
            </a:r>
          </a:p>
        </p:txBody>
      </p:sp>
      <p:sp>
        <p:nvSpPr>
          <p:cNvPr id="29" name="TEXT XB5AD23"/>
          <p:cNvSpPr txBox="1"/>
          <p:nvPr/>
        </p:nvSpPr>
        <p:spPr>
          <a:xfrm>
            <a:off x="6922007" y="5285232"/>
            <a:ext cx="16916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XB5AD23</a:t>
            </a:r>
          </a:p>
        </p:txBody>
      </p:sp>
      <p:sp>
        <p:nvSpPr>
          <p:cNvPr id="30" name="MFR LINK S2-B  SELECTOR"/>
          <p:cNvSpPr txBox="1"/>
          <p:nvPr/>
        </p:nvSpPr>
        <p:spPr>
          <a:xfrm>
            <a:off x="6922007" y="6281928"/>
            <a:ext cx="16642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31" name="COMPONENT X4  CH2 CONTROL"/>
          <p:cNvSpPr/>
          <p:nvPr/>
        </p:nvSpPr>
        <p:spPr>
          <a:xfrm>
            <a:off x="11091672" y="4910328"/>
            <a:ext cx="2404872" cy="19476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X4  CH2 CONTROL"/>
          <p:cNvSpPr txBox="1"/>
          <p:nvPr/>
        </p:nvSpPr>
        <p:spPr>
          <a:xfrm>
            <a:off x="11256264" y="5047488"/>
            <a:ext cx="210312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X4  CH2 CONTROL</a:t>
            </a:r>
          </a:p>
        </p:txBody>
      </p:sp>
      <p:sp>
        <p:nvSpPr>
          <p:cNvPr id="33" name="TEXT Gated +24 V / 0 V"/>
          <p:cNvSpPr txBox="1"/>
          <p:nvPr/>
        </p:nvSpPr>
        <p:spPr>
          <a:xfrm>
            <a:off x="11256264" y="5358384"/>
            <a:ext cx="210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Gated +24 V / 0 V</a:t>
            </a:r>
          </a:p>
        </p:txBody>
      </p:sp>
      <p:sp>
        <p:nvSpPr>
          <p:cNvPr id="34" name="PORT +Vo"/>
          <p:cNvSpPr/>
          <p:nvPr/>
        </p:nvSpPr>
        <p:spPr>
          <a:xfrm>
            <a:off x="2359152" y="3191256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+Vo"/>
          <p:cNvSpPr txBox="1"/>
          <p:nvPr/>
        </p:nvSpPr>
        <p:spPr>
          <a:xfrm>
            <a:off x="2372868" y="3204972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+Vo</a:t>
            </a:r>
          </a:p>
        </p:txBody>
      </p:sp>
      <p:sp>
        <p:nvSpPr>
          <p:cNvPr id="36" name="PORT 24+"/>
          <p:cNvSpPr/>
          <p:nvPr/>
        </p:nvSpPr>
        <p:spPr>
          <a:xfrm>
            <a:off x="3557016" y="3191256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24+"/>
          <p:cNvSpPr txBox="1"/>
          <p:nvPr/>
        </p:nvSpPr>
        <p:spPr>
          <a:xfrm>
            <a:off x="3570732" y="3204972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24+</a:t>
            </a:r>
          </a:p>
        </p:txBody>
      </p:sp>
      <p:cxnSp>
        <p:nvCxnSpPr>
          <p:cNvPr id="38" name="PROPOSED WIRE v24"/>
          <p:cNvCxnSpPr/>
          <p:nvPr/>
        </p:nvCxnSpPr>
        <p:spPr>
          <a:xfrm>
            <a:off x="2944368" y="3374136"/>
            <a:ext cx="612648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RT -Vo"/>
          <p:cNvSpPr/>
          <p:nvPr/>
        </p:nvSpPr>
        <p:spPr>
          <a:xfrm>
            <a:off x="2359152" y="3931920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-Vo"/>
          <p:cNvSpPr txBox="1"/>
          <p:nvPr/>
        </p:nvSpPr>
        <p:spPr>
          <a:xfrm>
            <a:off x="2372868" y="3945635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-Vo</a:t>
            </a:r>
          </a:p>
        </p:txBody>
      </p:sp>
      <p:sp>
        <p:nvSpPr>
          <p:cNvPr id="41" name="PORT 0 V"/>
          <p:cNvSpPr/>
          <p:nvPr/>
        </p:nvSpPr>
        <p:spPr>
          <a:xfrm>
            <a:off x="3557016" y="3931920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 0 V"/>
          <p:cNvSpPr txBox="1"/>
          <p:nvPr/>
        </p:nvSpPr>
        <p:spPr>
          <a:xfrm>
            <a:off x="3570732" y="3945635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43" name="PROPOSED WIRE return"/>
          <p:cNvCxnSpPr/>
          <p:nvPr/>
        </p:nvCxnSpPr>
        <p:spPr>
          <a:xfrm>
            <a:off x="2944368" y="4114800"/>
            <a:ext cx="612648" cy="0"/>
          </a:xfrm>
          <a:prstGeom prst="line">
            <a:avLst/>
          </a:prstGeom>
          <a:ln w="2857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RT 24+"/>
          <p:cNvSpPr/>
          <p:nvPr/>
        </p:nvSpPr>
        <p:spPr>
          <a:xfrm>
            <a:off x="5431536" y="2962656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 24+"/>
          <p:cNvSpPr txBox="1"/>
          <p:nvPr/>
        </p:nvSpPr>
        <p:spPr>
          <a:xfrm>
            <a:off x="5445251" y="2976372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24+</a:t>
            </a:r>
          </a:p>
        </p:txBody>
      </p:sp>
      <p:sp>
        <p:nvSpPr>
          <p:cNvPr id="46" name="PORT 13"/>
          <p:cNvSpPr/>
          <p:nvPr/>
        </p:nvSpPr>
        <p:spPr>
          <a:xfrm>
            <a:off x="6629400" y="2962656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23</a:t>
            </a:r>
          </a:p>
        </p:txBody>
      </p:sp>
      <p:sp>
        <p:nvSpPr>
          <p:cNvPr id="47" name="TEXT 13"/>
          <p:cNvSpPr txBox="1"/>
          <p:nvPr/>
        </p:nvSpPr>
        <p:spPr>
          <a:xfrm>
            <a:off x="6643116" y="2976372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23</a:t>
            </a:r>
          </a:p>
        </p:txBody>
      </p:sp>
      <p:sp>
        <p:nvSpPr>
          <p:cNvPr id="48" name="PORT 14"/>
          <p:cNvSpPr/>
          <p:nvPr/>
        </p:nvSpPr>
        <p:spPr>
          <a:xfrm>
            <a:off x="8321040" y="2962656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24</a:t>
            </a:r>
          </a:p>
        </p:txBody>
      </p:sp>
      <p:sp>
        <p:nvSpPr>
          <p:cNvPr id="49" name="TEXT 14"/>
          <p:cNvSpPr txBox="1"/>
          <p:nvPr/>
        </p:nvSpPr>
        <p:spPr>
          <a:xfrm>
            <a:off x="8334756" y="2976372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</a:t>
            </a:r>
          </a:p>
        </p:txBody>
      </p:sp>
      <p:sp>
        <p:nvSpPr>
          <p:cNvPr id="50" name="PORT +24"/>
          <p:cNvSpPr/>
          <p:nvPr/>
        </p:nvSpPr>
        <p:spPr>
          <a:xfrm>
            <a:off x="10963656" y="2962656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 +24"/>
          <p:cNvSpPr txBox="1"/>
          <p:nvPr/>
        </p:nvSpPr>
        <p:spPr>
          <a:xfrm>
            <a:off x="10977372" y="2976372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52" name="PROPOSED WIRE v24"/>
          <p:cNvCxnSpPr/>
          <p:nvPr/>
        </p:nvCxnSpPr>
        <p:spPr>
          <a:xfrm>
            <a:off x="6025896" y="3145536"/>
            <a:ext cx="603504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PROPOSED WIRE v24"/>
          <p:cNvCxnSpPr/>
          <p:nvPr/>
        </p:nvCxnSpPr>
        <p:spPr>
          <a:xfrm>
            <a:off x="7187184" y="3145536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PROPOSED WIRE v24"/>
          <p:cNvCxnSpPr/>
          <p:nvPr/>
        </p:nvCxnSpPr>
        <p:spPr>
          <a:xfrm>
            <a:off x="7891272" y="3145536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PROPOSED WIRE v24"/>
          <p:cNvCxnSpPr/>
          <p:nvPr/>
        </p:nvCxnSpPr>
        <p:spPr>
          <a:xfrm flipV="1">
            <a:off x="7616952" y="3044952"/>
            <a:ext cx="205740" cy="100584"/>
          </a:xfrm>
          <a:prstGeom prst="line">
            <a:avLst/>
          </a:prstGeom>
          <a:ln w="2159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ONTACT TERMINAL DOT"/>
          <p:cNvSpPr/>
          <p:nvPr/>
        </p:nvSpPr>
        <p:spPr>
          <a:xfrm>
            <a:off x="7592263" y="3120847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ONTACT TERMINAL DOT"/>
          <p:cNvSpPr/>
          <p:nvPr/>
        </p:nvSpPr>
        <p:spPr>
          <a:xfrm>
            <a:off x="7866583" y="3120847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PROPOSED WIRE v24"/>
          <p:cNvCxnSpPr/>
          <p:nvPr/>
        </p:nvCxnSpPr>
        <p:spPr>
          <a:xfrm>
            <a:off x="8878824" y="3145536"/>
            <a:ext cx="2084832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ORT 0 V"/>
          <p:cNvSpPr/>
          <p:nvPr/>
        </p:nvSpPr>
        <p:spPr>
          <a:xfrm>
            <a:off x="5431536" y="3867911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 0 V"/>
          <p:cNvSpPr txBox="1"/>
          <p:nvPr/>
        </p:nvSpPr>
        <p:spPr>
          <a:xfrm>
            <a:off x="5445251" y="3881627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61" name="PORT 0 V"/>
          <p:cNvSpPr/>
          <p:nvPr/>
        </p:nvSpPr>
        <p:spPr>
          <a:xfrm>
            <a:off x="10963656" y="3867911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 0 V"/>
          <p:cNvSpPr txBox="1"/>
          <p:nvPr/>
        </p:nvSpPr>
        <p:spPr>
          <a:xfrm>
            <a:off x="10977372" y="3881627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63" name="PROPOSED WIRE return"/>
          <p:cNvCxnSpPr/>
          <p:nvPr/>
        </p:nvCxnSpPr>
        <p:spPr>
          <a:xfrm>
            <a:off x="6025896" y="4050791"/>
            <a:ext cx="4937760" cy="0"/>
          </a:xfrm>
          <a:prstGeom prst="line">
            <a:avLst/>
          </a:prstGeom>
          <a:ln w="2857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RT 24+"/>
          <p:cNvSpPr/>
          <p:nvPr/>
        </p:nvSpPr>
        <p:spPr>
          <a:xfrm>
            <a:off x="5431536" y="5623559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 24+"/>
          <p:cNvSpPr txBox="1"/>
          <p:nvPr/>
        </p:nvSpPr>
        <p:spPr>
          <a:xfrm>
            <a:off x="5445251" y="5637275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24+</a:t>
            </a:r>
          </a:p>
        </p:txBody>
      </p:sp>
      <p:sp>
        <p:nvSpPr>
          <p:cNvPr id="66" name="PORT 13"/>
          <p:cNvSpPr/>
          <p:nvPr/>
        </p:nvSpPr>
        <p:spPr>
          <a:xfrm>
            <a:off x="6629400" y="5623559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23</a:t>
            </a:r>
          </a:p>
        </p:txBody>
      </p:sp>
      <p:sp>
        <p:nvSpPr>
          <p:cNvPr id="67" name="TEXT 13"/>
          <p:cNvSpPr txBox="1"/>
          <p:nvPr/>
        </p:nvSpPr>
        <p:spPr>
          <a:xfrm>
            <a:off x="6643116" y="5637275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23</a:t>
            </a:r>
          </a:p>
        </p:txBody>
      </p:sp>
      <p:sp>
        <p:nvSpPr>
          <p:cNvPr id="68" name="PORT 14"/>
          <p:cNvSpPr/>
          <p:nvPr/>
        </p:nvSpPr>
        <p:spPr>
          <a:xfrm>
            <a:off x="8321040" y="5623559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24</a:t>
            </a:r>
          </a:p>
        </p:txBody>
      </p:sp>
      <p:sp>
        <p:nvSpPr>
          <p:cNvPr id="69" name="TEXT 14"/>
          <p:cNvSpPr txBox="1"/>
          <p:nvPr/>
        </p:nvSpPr>
        <p:spPr>
          <a:xfrm>
            <a:off x="8334756" y="5637275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24</a:t>
            </a:r>
          </a:p>
        </p:txBody>
      </p:sp>
      <p:sp>
        <p:nvSpPr>
          <p:cNvPr id="70" name="PORT +24"/>
          <p:cNvSpPr/>
          <p:nvPr/>
        </p:nvSpPr>
        <p:spPr>
          <a:xfrm>
            <a:off x="10963656" y="5623559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 +24"/>
          <p:cNvSpPr txBox="1"/>
          <p:nvPr/>
        </p:nvSpPr>
        <p:spPr>
          <a:xfrm>
            <a:off x="10977372" y="5637275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72" name="PROPOSED WIRE v24"/>
          <p:cNvCxnSpPr/>
          <p:nvPr/>
        </p:nvCxnSpPr>
        <p:spPr>
          <a:xfrm>
            <a:off x="6025896" y="5806440"/>
            <a:ext cx="603504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PROPOSED WIRE v24"/>
          <p:cNvCxnSpPr/>
          <p:nvPr/>
        </p:nvCxnSpPr>
        <p:spPr>
          <a:xfrm>
            <a:off x="7187184" y="5806440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PROPOSED WIRE v24"/>
          <p:cNvCxnSpPr/>
          <p:nvPr/>
        </p:nvCxnSpPr>
        <p:spPr>
          <a:xfrm>
            <a:off x="7891272" y="5806440"/>
            <a:ext cx="429768" cy="0"/>
          </a:xfrm>
          <a:prstGeom prst="line">
            <a:avLst/>
          </a:prstGeom>
          <a:ln w="2413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PROPOSED WIRE v24"/>
          <p:cNvCxnSpPr/>
          <p:nvPr/>
        </p:nvCxnSpPr>
        <p:spPr>
          <a:xfrm flipV="1">
            <a:off x="7616952" y="5705855"/>
            <a:ext cx="205740" cy="100585"/>
          </a:xfrm>
          <a:prstGeom prst="line">
            <a:avLst/>
          </a:prstGeom>
          <a:ln w="2159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CONTACT TERMINAL DOT"/>
          <p:cNvSpPr/>
          <p:nvPr/>
        </p:nvSpPr>
        <p:spPr>
          <a:xfrm>
            <a:off x="7592263" y="5781751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ONTACT TERMINAL DOT"/>
          <p:cNvSpPr/>
          <p:nvPr/>
        </p:nvSpPr>
        <p:spPr>
          <a:xfrm>
            <a:off x="7866583" y="5781751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PROPOSED WIRE v24"/>
          <p:cNvCxnSpPr/>
          <p:nvPr/>
        </p:nvCxnSpPr>
        <p:spPr>
          <a:xfrm>
            <a:off x="8878824" y="5806440"/>
            <a:ext cx="2084832" cy="0"/>
          </a:xfrm>
          <a:prstGeom prst="line">
            <a:avLst/>
          </a:prstGeom>
          <a:ln w="2857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PORT 0 V"/>
          <p:cNvSpPr/>
          <p:nvPr/>
        </p:nvSpPr>
        <p:spPr>
          <a:xfrm>
            <a:off x="5431536" y="6583680"/>
            <a:ext cx="59436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 0 V"/>
          <p:cNvSpPr txBox="1"/>
          <p:nvPr/>
        </p:nvSpPr>
        <p:spPr>
          <a:xfrm>
            <a:off x="5445251" y="6597396"/>
            <a:ext cx="56692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81" name="PORT 0 V"/>
          <p:cNvSpPr/>
          <p:nvPr/>
        </p:nvSpPr>
        <p:spPr>
          <a:xfrm>
            <a:off x="10963656" y="658368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 0 V"/>
          <p:cNvSpPr txBox="1"/>
          <p:nvPr/>
        </p:nvSpPr>
        <p:spPr>
          <a:xfrm>
            <a:off x="10977372" y="659739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83" name="PROPOSED WIRE return"/>
          <p:cNvCxnSpPr/>
          <p:nvPr/>
        </p:nvCxnSpPr>
        <p:spPr>
          <a:xfrm>
            <a:off x="6025896" y="6766560"/>
            <a:ext cx="4937760" cy="0"/>
          </a:xfrm>
          <a:prstGeom prst="line">
            <a:avLst/>
          </a:prstGeom>
          <a:ln w="2857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 CH1: 24 V gated by S1-B  "/>
          <p:cNvSpPr txBox="1"/>
          <p:nvPr/>
        </p:nvSpPr>
        <p:spPr>
          <a:xfrm>
            <a:off x="6848856" y="4315968"/>
            <a:ext cx="6565392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5" b="0">
                <a:solidFill>
                  <a:srgbClr val="A35B1B"/>
                </a:solidFill>
                <a:latin typeface="Aptos"/>
              </a:rPr>
              <a:t>CH1: 24 V gated by S1-B  |  shared 0 V below selector</a:t>
            </a:r>
          </a:p>
        </p:txBody>
      </p:sp>
      <p:sp>
        <p:nvSpPr>
          <p:cNvPr id="85" name="TEXT CH2: 24 V gated by S2-B  "/>
          <p:cNvSpPr txBox="1"/>
          <p:nvPr/>
        </p:nvSpPr>
        <p:spPr>
          <a:xfrm>
            <a:off x="6848856" y="7059168"/>
            <a:ext cx="656539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5" b="0">
                <a:solidFill>
                  <a:srgbClr val="A35B1B"/>
                </a:solidFill>
                <a:latin typeface="Aptos"/>
              </a:rPr>
              <a:t>CH2: 24 V gated by S2-B  |  shared 0 V below selector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+24 V / gated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+24 V / gated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0 V return</a:t>
            </a:r>
          </a:p>
        </p:txBody>
      </p:sp>
      <p:sp>
        <p:nvSpPr>
          <p:cNvPr id="90" name="CONTACT ID S1-B 23-24"/>
          <p:cNvSpPr txBox="1"/>
          <p:nvPr/>
        </p:nvSpPr>
        <p:spPr>
          <a:xfrm>
            <a:off x="6848856" y="3415284"/>
            <a:ext cx="181051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365E75"/>
                </a:solidFill>
              </a:rPr>
              <a:t>B  ·  NO 23–24*</a:t>
            </a:r>
          </a:p>
        </p:txBody>
      </p:sp>
      <p:sp>
        <p:nvSpPr>
          <p:cNvPr id="91" name="CONTACT ID S2-B 23-24"/>
          <p:cNvSpPr txBox="1"/>
          <p:nvPr/>
        </p:nvSpPr>
        <p:spPr>
          <a:xfrm>
            <a:off x="6848856" y="6076188"/>
            <a:ext cx="181051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365E75"/>
                </a:solidFill>
              </a:rPr>
              <a:t>B  ·  NO 23–24*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3  /  CHANNEL 1 / MOMENT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03  /  CHANNEL 1 / MOMENTARY ENABLE &amp; FINDER CONTROL</a:t>
            </a:r>
          </a:p>
        </p:txBody>
      </p:sp>
      <p:sp>
        <p:nvSpPr>
          <p:cNvPr id="3" name="TEXT EAO button pulses the Fi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EAO button pulses the Finder 13.61; its output enables the existing Finder 62.31 heater relay (CH1).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HEATER ENABLE CIRCUIT   /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HEATER ENABLE CIRCUIT   /   24 V DC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3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03</a:t>
            </a:r>
          </a:p>
        </p:txBody>
      </p:sp>
      <p:sp>
        <p:nvSpPr>
          <p:cNvPr id="10" name="TEXT OFF-on-power-restoration 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OFF-on-power-restoration and exact Finder supply/trigger/socket terminal markings remain to be verified.</a:t>
            </a:r>
          </a:p>
        </p:txBody>
      </p:sp>
      <p:sp>
        <p:nvSpPr>
          <p:cNvPr id="11" name="COMPONENT X3  CH1 CONTROL"/>
          <p:cNvSpPr/>
          <p:nvPr/>
        </p:nvSpPr>
        <p:spPr>
          <a:xfrm>
            <a:off x="667512" y="2779776"/>
            <a:ext cx="1965960" cy="40050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X3  CH1 CONTROL"/>
          <p:cNvSpPr txBox="1"/>
          <p:nvPr/>
        </p:nvSpPr>
        <p:spPr>
          <a:xfrm>
            <a:off x="832103" y="2916936"/>
            <a:ext cx="1664207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X3  CH1 CONTROL</a:t>
            </a:r>
          </a:p>
        </p:txBody>
      </p:sp>
      <p:sp>
        <p:nvSpPr>
          <p:cNvPr id="13" name="TEXT Gated +24 V / 0 V"/>
          <p:cNvSpPr txBox="1"/>
          <p:nvPr/>
        </p:nvSpPr>
        <p:spPr>
          <a:xfrm>
            <a:off x="832103" y="3227832"/>
            <a:ext cx="1664207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Gated +24 V / 0 V</a:t>
            </a:r>
          </a:p>
        </p:txBody>
      </p:sp>
      <p:sp>
        <p:nvSpPr>
          <p:cNvPr id="14" name="COMPONENT SB1  EAO + LED"/>
          <p:cNvSpPr/>
          <p:nvPr/>
        </p:nvSpPr>
        <p:spPr>
          <a:xfrm>
            <a:off x="3291840" y="2779776"/>
            <a:ext cx="2286000" cy="4005072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SB1  EAO + LED"/>
          <p:cNvSpPr txBox="1"/>
          <p:nvPr/>
        </p:nvSpPr>
        <p:spPr>
          <a:xfrm>
            <a:off x="3456432" y="291693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SB1  EAO + LED</a:t>
            </a:r>
          </a:p>
        </p:txBody>
      </p:sp>
      <p:sp>
        <p:nvSpPr>
          <p:cNvPr id="16" name="TEXT 82-4151.1134"/>
          <p:cNvSpPr txBox="1"/>
          <p:nvPr/>
        </p:nvSpPr>
        <p:spPr>
          <a:xfrm>
            <a:off x="3456432" y="322783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82-4151.1134</a:t>
            </a:r>
          </a:p>
        </p:txBody>
      </p:sp>
      <p:sp>
        <p:nvSpPr>
          <p:cNvPr id="17" name="MFR LINK SB1  EAO + LED"/>
          <p:cNvSpPr txBox="1"/>
          <p:nvPr/>
        </p:nvSpPr>
        <p:spPr>
          <a:xfrm>
            <a:off x="3456432" y="6473952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18" name="COMPONENT K1  FINDER 13.61"/>
          <p:cNvSpPr/>
          <p:nvPr/>
        </p:nvSpPr>
        <p:spPr>
          <a:xfrm>
            <a:off x="6592824" y="2779776"/>
            <a:ext cx="2907792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K1  FINDER 13.61"/>
          <p:cNvSpPr txBox="1"/>
          <p:nvPr/>
        </p:nvSpPr>
        <p:spPr>
          <a:xfrm>
            <a:off x="6757416" y="2916936"/>
            <a:ext cx="26060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K1  FINDER 13.61</a:t>
            </a:r>
          </a:p>
        </p:txBody>
      </p:sp>
      <p:sp>
        <p:nvSpPr>
          <p:cNvPr id="20" name="TEXT 13.61.0.024.0000"/>
          <p:cNvSpPr txBox="1"/>
          <p:nvPr/>
        </p:nvSpPr>
        <p:spPr>
          <a:xfrm>
            <a:off x="6757416" y="3227832"/>
            <a:ext cx="26060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13.61.0.024.0000</a:t>
            </a:r>
          </a:p>
        </p:txBody>
      </p:sp>
      <p:sp>
        <p:nvSpPr>
          <p:cNvPr id="21" name="MFR LINK K1  FINDER 13.61"/>
          <p:cNvSpPr txBox="1"/>
          <p:nvPr/>
        </p:nvSpPr>
        <p:spPr>
          <a:xfrm>
            <a:off x="6757416" y="6473952"/>
            <a:ext cx="25786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2" name="COMPONENT K3 / SK3  RELAY + SOCKET"/>
          <p:cNvSpPr/>
          <p:nvPr/>
        </p:nvSpPr>
        <p:spPr>
          <a:xfrm>
            <a:off x="10981944" y="2779776"/>
            <a:ext cx="2596896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K3 / SK3  RELAY + SOCKET"/>
          <p:cNvSpPr txBox="1"/>
          <p:nvPr/>
        </p:nvSpPr>
        <p:spPr>
          <a:xfrm>
            <a:off x="11146536" y="2916936"/>
            <a:ext cx="2295144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50" b="1">
                <a:solidFill>
                  <a:srgbClr val="1F344E"/>
                </a:solidFill>
                <a:latin typeface="Aptos"/>
              </a:rPr>
              <a:t>K3 / SK3  RELAY + SOCKET</a:t>
            </a:r>
          </a:p>
        </p:txBody>
      </p:sp>
      <p:sp>
        <p:nvSpPr>
          <p:cNvPr id="24" name="TEXT 62.31.9.024.4800"/>
          <p:cNvSpPr txBox="1"/>
          <p:nvPr/>
        </p:nvSpPr>
        <p:spPr>
          <a:xfrm>
            <a:off x="11146536" y="3227832"/>
            <a:ext cx="229514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5" name="TEXT 92.03 socket family;&#10;actu"/>
          <p:cNvSpPr txBox="1"/>
          <p:nvPr/>
        </p:nvSpPr>
        <p:spPr>
          <a:xfrm>
            <a:off x="11146536" y="3886200"/>
            <a:ext cx="22860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92.03 socket family;
actual fitted type TBD</a:t>
            </a:r>
          </a:p>
        </p:txBody>
      </p:sp>
      <p:sp>
        <p:nvSpPr>
          <p:cNvPr id="26" name="TEXT Relay PDF ↗"/>
          <p:cNvSpPr txBox="1"/>
          <p:nvPr/>
        </p:nvSpPr>
        <p:spPr>
          <a:xfrm>
            <a:off x="11173968" y="6355080"/>
            <a:ext cx="94183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4"/>
              </a:rPr>
              <a:t>Relay PDF ↗</a:t>
            </a:r>
          </a:p>
        </p:txBody>
      </p:sp>
      <p:sp>
        <p:nvSpPr>
          <p:cNvPr id="27" name="TEXT Socket PDF ↗"/>
          <p:cNvSpPr txBox="1"/>
          <p:nvPr/>
        </p:nvSpPr>
        <p:spPr>
          <a:xfrm>
            <a:off x="12134088" y="6355080"/>
            <a:ext cx="12070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5"/>
              </a:rPr>
              <a:t>Socket PDF ↗</a:t>
            </a:r>
          </a:p>
        </p:txBody>
      </p:sp>
      <p:sp>
        <p:nvSpPr>
          <p:cNvPr id="28" name="TEXT A1/A2 are SOCKET coil lab"/>
          <p:cNvSpPr txBox="1"/>
          <p:nvPr/>
        </p:nvSpPr>
        <p:spPr>
          <a:xfrm>
            <a:off x="11119104" y="6885432"/>
            <a:ext cx="25603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40" b="1">
                <a:solidFill>
                  <a:srgbClr val="607084"/>
                </a:solidFill>
                <a:latin typeface="Aptos"/>
              </a:rPr>
              <a:t>A1/A2 are SOCKET coil labels</a:t>
            </a:r>
          </a:p>
        </p:txBody>
      </p:sp>
      <p:sp>
        <p:nvSpPr>
          <p:cNvPr id="29" name="PORT +24"/>
          <p:cNvSpPr/>
          <p:nvPr/>
        </p:nvSpPr>
        <p:spPr>
          <a:xfrm>
            <a:off x="2176272" y="334670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+24"/>
          <p:cNvSpPr txBox="1"/>
          <p:nvPr/>
        </p:nvSpPr>
        <p:spPr>
          <a:xfrm>
            <a:off x="2189988" y="33604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sp>
        <p:nvSpPr>
          <p:cNvPr id="31" name="PORT C"/>
          <p:cNvSpPr/>
          <p:nvPr/>
        </p:nvSpPr>
        <p:spPr>
          <a:xfrm>
            <a:off x="3163824" y="3346703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C"/>
          <p:cNvSpPr txBox="1"/>
          <p:nvPr/>
        </p:nvSpPr>
        <p:spPr>
          <a:xfrm>
            <a:off x="3177540" y="3360420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C</a:t>
            </a:r>
          </a:p>
        </p:txBody>
      </p:sp>
      <p:cxnSp>
        <p:nvCxnSpPr>
          <p:cNvPr id="33" name="PROPOSED WIRE v24"/>
          <p:cNvCxnSpPr/>
          <p:nvPr/>
        </p:nvCxnSpPr>
        <p:spPr>
          <a:xfrm>
            <a:off x="2761488" y="3529584"/>
            <a:ext cx="402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ORT 0 V"/>
          <p:cNvSpPr/>
          <p:nvPr/>
        </p:nvSpPr>
        <p:spPr>
          <a:xfrm>
            <a:off x="2176272" y="4608576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0 V"/>
          <p:cNvSpPr txBox="1"/>
          <p:nvPr/>
        </p:nvSpPr>
        <p:spPr>
          <a:xfrm>
            <a:off x="2189988" y="4622292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36" name="PORT LED−"/>
          <p:cNvSpPr/>
          <p:nvPr/>
        </p:nvSpPr>
        <p:spPr>
          <a:xfrm>
            <a:off x="3163824" y="4608576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LED−"/>
          <p:cNvSpPr txBox="1"/>
          <p:nvPr/>
        </p:nvSpPr>
        <p:spPr>
          <a:xfrm>
            <a:off x="3177540" y="4622292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cxnSp>
        <p:nvCxnSpPr>
          <p:cNvPr id="38" name="PROPOSED WIRE return"/>
          <p:cNvCxnSpPr/>
          <p:nvPr/>
        </p:nvCxnSpPr>
        <p:spPr>
          <a:xfrm>
            <a:off x="2761488" y="4791456"/>
            <a:ext cx="402336" cy="0"/>
          </a:xfrm>
          <a:prstGeom prst="line">
            <a:avLst/>
          </a:prstGeom>
          <a:ln w="2730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RT NO"/>
          <p:cNvSpPr/>
          <p:nvPr/>
        </p:nvSpPr>
        <p:spPr>
          <a:xfrm>
            <a:off x="5157216" y="433425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NO"/>
          <p:cNvSpPr txBox="1"/>
          <p:nvPr/>
        </p:nvSpPr>
        <p:spPr>
          <a:xfrm>
            <a:off x="5170931" y="4347972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NO</a:t>
            </a:r>
          </a:p>
        </p:txBody>
      </p:sp>
      <p:sp>
        <p:nvSpPr>
          <p:cNvPr id="41" name="PORT 3"/>
          <p:cNvSpPr/>
          <p:nvPr/>
        </p:nvSpPr>
        <p:spPr>
          <a:xfrm>
            <a:off x="6464808" y="4334256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 3"/>
          <p:cNvSpPr txBox="1"/>
          <p:nvPr/>
        </p:nvSpPr>
        <p:spPr>
          <a:xfrm>
            <a:off x="6478524" y="4347972"/>
            <a:ext cx="53949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3</a:t>
            </a:r>
          </a:p>
        </p:txBody>
      </p:sp>
      <p:cxnSp>
        <p:nvCxnSpPr>
          <p:cNvPr id="43" name="PROPOSED WIRE pulse"/>
          <p:cNvCxnSpPr/>
          <p:nvPr/>
        </p:nvCxnSpPr>
        <p:spPr>
          <a:xfrm>
            <a:off x="5705855" y="4517136"/>
            <a:ext cx="758953" cy="0"/>
          </a:xfrm>
          <a:prstGeom prst="line">
            <a:avLst/>
          </a:prstGeom>
          <a:ln w="29209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RT +24"/>
          <p:cNvSpPr/>
          <p:nvPr/>
        </p:nvSpPr>
        <p:spPr>
          <a:xfrm>
            <a:off x="2157984" y="384048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 +24"/>
          <p:cNvSpPr txBox="1"/>
          <p:nvPr/>
        </p:nvSpPr>
        <p:spPr>
          <a:xfrm>
            <a:off x="2171700" y="385419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46" name="PROPOSED WIRE v24"/>
          <p:cNvCxnSpPr/>
          <p:nvPr/>
        </p:nvCxnSpPr>
        <p:spPr>
          <a:xfrm>
            <a:off x="2761488" y="4023360"/>
            <a:ext cx="201168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ROPOSED WIRE v24"/>
          <p:cNvCxnSpPr/>
          <p:nvPr/>
        </p:nvCxnSpPr>
        <p:spPr>
          <a:xfrm flipV="1">
            <a:off x="2962656" y="2340864"/>
            <a:ext cx="0" cy="1682496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ROPOSED WIRE v24"/>
          <p:cNvCxnSpPr/>
          <p:nvPr/>
        </p:nvCxnSpPr>
        <p:spPr>
          <a:xfrm>
            <a:off x="2962656" y="2340864"/>
            <a:ext cx="3200400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PROPOSED WIRE v24"/>
          <p:cNvCxnSpPr/>
          <p:nvPr/>
        </p:nvCxnSpPr>
        <p:spPr>
          <a:xfrm>
            <a:off x="6163056" y="2340864"/>
            <a:ext cx="0" cy="1536192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ECTRICAL JUNCTION"/>
          <p:cNvSpPr/>
          <p:nvPr/>
        </p:nvSpPr>
        <p:spPr>
          <a:xfrm>
            <a:off x="2929737" y="349666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ORT L/+"/>
          <p:cNvSpPr/>
          <p:nvPr/>
        </p:nvSpPr>
        <p:spPr>
          <a:xfrm>
            <a:off x="6464808" y="324612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 L/+"/>
          <p:cNvSpPr txBox="1"/>
          <p:nvPr/>
        </p:nvSpPr>
        <p:spPr>
          <a:xfrm>
            <a:off x="6478524" y="325983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L/+</a:t>
            </a:r>
          </a:p>
        </p:txBody>
      </p:sp>
      <p:cxnSp>
        <p:nvCxnSpPr>
          <p:cNvPr id="53" name="PROPOSED WIRE v24"/>
          <p:cNvCxnSpPr/>
          <p:nvPr/>
        </p:nvCxnSpPr>
        <p:spPr>
          <a:xfrm>
            <a:off x="6163056" y="3429000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ORT 11"/>
          <p:cNvSpPr/>
          <p:nvPr/>
        </p:nvSpPr>
        <p:spPr>
          <a:xfrm>
            <a:off x="6464808" y="3694176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11"/>
          <p:cNvSpPr txBox="1"/>
          <p:nvPr/>
        </p:nvSpPr>
        <p:spPr>
          <a:xfrm>
            <a:off x="6478524" y="3707891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11</a:t>
            </a:r>
          </a:p>
        </p:txBody>
      </p:sp>
      <p:cxnSp>
        <p:nvCxnSpPr>
          <p:cNvPr id="56" name="PROPOSED WIRE v24"/>
          <p:cNvCxnSpPr/>
          <p:nvPr/>
        </p:nvCxnSpPr>
        <p:spPr>
          <a:xfrm>
            <a:off x="6163056" y="3877056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ELECTRICAL JUNCTION"/>
          <p:cNvSpPr/>
          <p:nvPr/>
        </p:nvSpPr>
        <p:spPr>
          <a:xfrm>
            <a:off x="6130137" y="3396081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LECTRICAL JUNCTION"/>
          <p:cNvSpPr/>
          <p:nvPr/>
        </p:nvSpPr>
        <p:spPr>
          <a:xfrm>
            <a:off x="6130137" y="3844137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ORT 14"/>
          <p:cNvSpPr/>
          <p:nvPr/>
        </p:nvSpPr>
        <p:spPr>
          <a:xfrm>
            <a:off x="9052560" y="5166359"/>
            <a:ext cx="57607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 14"/>
          <p:cNvSpPr txBox="1"/>
          <p:nvPr/>
        </p:nvSpPr>
        <p:spPr>
          <a:xfrm>
            <a:off x="9066276" y="5180075"/>
            <a:ext cx="54864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14</a:t>
            </a:r>
          </a:p>
        </p:txBody>
      </p:sp>
      <p:sp>
        <p:nvSpPr>
          <p:cNvPr id="61" name="PORT A1"/>
          <p:cNvSpPr/>
          <p:nvPr/>
        </p:nvSpPr>
        <p:spPr>
          <a:xfrm>
            <a:off x="10853928" y="5166359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 A1"/>
          <p:cNvSpPr txBox="1"/>
          <p:nvPr/>
        </p:nvSpPr>
        <p:spPr>
          <a:xfrm>
            <a:off x="10867644" y="5180075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A1</a:t>
            </a:r>
          </a:p>
        </p:txBody>
      </p:sp>
      <p:cxnSp>
        <p:nvCxnSpPr>
          <p:cNvPr id="63" name="PROPOSED WIRE v24"/>
          <p:cNvCxnSpPr/>
          <p:nvPr/>
        </p:nvCxnSpPr>
        <p:spPr>
          <a:xfrm>
            <a:off x="9628632" y="5349240"/>
            <a:ext cx="1225296" cy="0"/>
          </a:xfrm>
          <a:prstGeom prst="line">
            <a:avLst/>
          </a:prstGeom>
          <a:ln w="3048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RT 0 V"/>
          <p:cNvSpPr/>
          <p:nvPr/>
        </p:nvSpPr>
        <p:spPr>
          <a:xfrm>
            <a:off x="2176272" y="587959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 0 V"/>
          <p:cNvSpPr txBox="1"/>
          <p:nvPr/>
        </p:nvSpPr>
        <p:spPr>
          <a:xfrm>
            <a:off x="2189988" y="5893307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66" name="PROPOSED WIRE return"/>
          <p:cNvCxnSpPr/>
          <p:nvPr/>
        </p:nvCxnSpPr>
        <p:spPr>
          <a:xfrm>
            <a:off x="2761488" y="6062472"/>
            <a:ext cx="21945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PROPOSED WIRE return"/>
          <p:cNvCxnSpPr/>
          <p:nvPr/>
        </p:nvCxnSpPr>
        <p:spPr>
          <a:xfrm>
            <a:off x="2980944" y="6062472"/>
            <a:ext cx="0" cy="1737359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PROPOSED WIRE return"/>
          <p:cNvCxnSpPr/>
          <p:nvPr/>
        </p:nvCxnSpPr>
        <p:spPr>
          <a:xfrm>
            <a:off x="2980944" y="7799831"/>
            <a:ext cx="76260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PORT N/−"/>
          <p:cNvSpPr/>
          <p:nvPr/>
        </p:nvSpPr>
        <p:spPr>
          <a:xfrm>
            <a:off x="6464808" y="5998464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N/−"/>
          <p:cNvSpPr txBox="1"/>
          <p:nvPr/>
        </p:nvSpPr>
        <p:spPr>
          <a:xfrm>
            <a:off x="6478524" y="601217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N/−</a:t>
            </a:r>
          </a:p>
        </p:txBody>
      </p:sp>
      <p:cxnSp>
        <p:nvCxnSpPr>
          <p:cNvPr id="71" name="PROPOSED WIRE return"/>
          <p:cNvCxnSpPr/>
          <p:nvPr/>
        </p:nvCxnSpPr>
        <p:spPr>
          <a:xfrm flipV="1">
            <a:off x="6144768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PROPOSED WIRE return"/>
          <p:cNvCxnSpPr/>
          <p:nvPr/>
        </p:nvCxnSpPr>
        <p:spPr>
          <a:xfrm>
            <a:off x="6144768" y="6181344"/>
            <a:ext cx="320040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PORT A2"/>
          <p:cNvSpPr/>
          <p:nvPr/>
        </p:nvSpPr>
        <p:spPr>
          <a:xfrm>
            <a:off x="10853928" y="5998464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A2"/>
          <p:cNvSpPr txBox="1"/>
          <p:nvPr/>
        </p:nvSpPr>
        <p:spPr>
          <a:xfrm>
            <a:off x="10867644" y="6012179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A2</a:t>
            </a:r>
          </a:p>
        </p:txBody>
      </p:sp>
      <p:cxnSp>
        <p:nvCxnSpPr>
          <p:cNvPr id="75" name="PROPOSED WIRE return"/>
          <p:cNvCxnSpPr/>
          <p:nvPr/>
        </p:nvCxnSpPr>
        <p:spPr>
          <a:xfrm flipV="1">
            <a:off x="10607040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PROPOSED WIRE return"/>
          <p:cNvCxnSpPr/>
          <p:nvPr/>
        </p:nvCxnSpPr>
        <p:spPr>
          <a:xfrm>
            <a:off x="10607040" y="6181344"/>
            <a:ext cx="246888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ELECTRICAL JUNCTION"/>
          <p:cNvSpPr/>
          <p:nvPr/>
        </p:nvSpPr>
        <p:spPr>
          <a:xfrm>
            <a:off x="6111849" y="7766913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PORT LED+"/>
          <p:cNvSpPr/>
          <p:nvPr/>
        </p:nvSpPr>
        <p:spPr>
          <a:xfrm>
            <a:off x="5020055" y="5632704"/>
            <a:ext cx="68580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 LED+"/>
          <p:cNvSpPr txBox="1"/>
          <p:nvPr/>
        </p:nvSpPr>
        <p:spPr>
          <a:xfrm>
            <a:off x="5033771" y="5646420"/>
            <a:ext cx="65836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80" name="PROPOSED WIRE v24"/>
          <p:cNvCxnSpPr/>
          <p:nvPr/>
        </p:nvCxnSpPr>
        <p:spPr>
          <a:xfrm>
            <a:off x="5705855" y="5815584"/>
            <a:ext cx="192025" cy="0"/>
          </a:xfrm>
          <a:prstGeom prst="line">
            <a:avLst/>
          </a:prstGeom>
          <a:ln w="2667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 EN1"/>
          <p:cNvSpPr txBox="1"/>
          <p:nvPr/>
        </p:nvSpPr>
        <p:spPr>
          <a:xfrm>
            <a:off x="5833872" y="5504688"/>
            <a:ext cx="630936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1">
                <a:solidFill>
                  <a:srgbClr val="008192"/>
                </a:solidFill>
                <a:latin typeface="Aptos"/>
              </a:rPr>
              <a:t>EN1</a:t>
            </a:r>
          </a:p>
        </p:txBody>
      </p:sp>
      <p:sp>
        <p:nvSpPr>
          <p:cNvPr id="82" name="TEXT EN1"/>
          <p:cNvSpPr txBox="1"/>
          <p:nvPr/>
        </p:nvSpPr>
        <p:spPr>
          <a:xfrm>
            <a:off x="9710928" y="4992624"/>
            <a:ext cx="105156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1">
                <a:solidFill>
                  <a:srgbClr val="008192"/>
                </a:solidFill>
                <a:latin typeface="Aptos"/>
              </a:rPr>
              <a:t>EN1</a:t>
            </a:r>
          </a:p>
        </p:txBody>
      </p:sp>
      <p:sp>
        <p:nvSpPr>
          <p:cNvPr id="83" name="TEXT EN1: K1:14 / K3:A1 / SB1:"/>
          <p:cNvSpPr txBox="1"/>
          <p:nvPr/>
        </p:nvSpPr>
        <p:spPr>
          <a:xfrm>
            <a:off x="3502152" y="7059168"/>
            <a:ext cx="342900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9" b="1">
                <a:solidFill>
                  <a:srgbClr val="1D599B"/>
                </a:solidFill>
                <a:latin typeface="Aptos"/>
              </a:rPr>
              <a:t>EN1: K1:14 / K3:A1 / SB1:LED+</a:t>
            </a:r>
          </a:p>
        </p:txBody>
      </p:sp>
      <p:sp>
        <p:nvSpPr>
          <p:cNvPr id="84" name="TEXT Matching EN reference ind"/>
          <p:cNvSpPr txBox="1"/>
          <p:nvPr/>
        </p:nvSpPr>
        <p:spPr>
          <a:xfrm>
            <a:off x="3502152" y="8119872"/>
            <a:ext cx="868680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9" b="0">
                <a:solidFill>
                  <a:srgbClr val="607084"/>
                </a:solidFill>
                <a:latin typeface="Aptos"/>
              </a:rPr>
              <a:t>Matching EN reference indicates ONE electrical net (avoids a wire crossing other circuits).</a:t>
            </a:r>
          </a:p>
        </p:txBody>
      </p:sp>
      <p:sp>
        <p:nvSpPr>
          <p:cNvPr id="85" name="TEXT X3:+24 → button C and K1 "/>
          <p:cNvSpPr txBox="1"/>
          <p:nvPr/>
        </p:nvSpPr>
        <p:spPr>
          <a:xfrm>
            <a:off x="795528" y="8503920"/>
            <a:ext cx="13121640" cy="2194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>
                <a:solidFill>
                  <a:srgbClr val="607084"/>
                </a:solidFill>
                <a:latin typeface="Aptos"/>
              </a:rPr>
              <a:t>X3:+24 → button C and K1 L/+,11  |  Button NO → K1:3  |  EN1 → relay coil A1 and LED+  |  0V → K1:N/−, K3:A2, LED−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Gated +24 V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Gated +24 V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0 V return</a:t>
            </a:r>
          </a:p>
        </p:txBody>
      </p:sp>
      <p:sp>
        <p:nvSpPr>
          <p:cNvPr id="9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 Momentary input"/>
          <p:cNvSpPr txBox="1"/>
          <p:nvPr/>
        </p:nvSpPr>
        <p:spPr>
          <a:xfrm>
            <a:off x="11548872" y="1142999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Momentary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4  /  CHANNEL 2 / MOMENT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04  /  CHANNEL 2 / MOMENTARY ENABLE &amp; FINDER CONTROL</a:t>
            </a:r>
          </a:p>
        </p:txBody>
      </p:sp>
      <p:sp>
        <p:nvSpPr>
          <p:cNvPr id="3" name="TEXT EAO button pulses the Fi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EAO button pulses the Finder 13.61; its output enables the existing Finder 62.31 heater relay (CH2).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HEATER ENABLE CIRCUIT   /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HEATER ENABLE CIRCUIT   /   24 V DC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4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04</a:t>
            </a:r>
          </a:p>
        </p:txBody>
      </p:sp>
      <p:sp>
        <p:nvSpPr>
          <p:cNvPr id="10" name="TEXT OFF-on-power-restoration 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OFF-on-power-restoration and exact Finder supply/trigger/socket terminal markings remain to be verified.</a:t>
            </a:r>
          </a:p>
        </p:txBody>
      </p:sp>
      <p:sp>
        <p:nvSpPr>
          <p:cNvPr id="11" name="COMPONENT X4  CH2 CONTROL"/>
          <p:cNvSpPr/>
          <p:nvPr/>
        </p:nvSpPr>
        <p:spPr>
          <a:xfrm>
            <a:off x="667512" y="2779776"/>
            <a:ext cx="1965960" cy="4005072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X4  CH2 CONTROL"/>
          <p:cNvSpPr txBox="1"/>
          <p:nvPr/>
        </p:nvSpPr>
        <p:spPr>
          <a:xfrm>
            <a:off x="832103" y="2916936"/>
            <a:ext cx="1664207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X4  CH2 CONTROL</a:t>
            </a:r>
          </a:p>
        </p:txBody>
      </p:sp>
      <p:sp>
        <p:nvSpPr>
          <p:cNvPr id="13" name="TEXT Gated +24 V / 0 V"/>
          <p:cNvSpPr txBox="1"/>
          <p:nvPr/>
        </p:nvSpPr>
        <p:spPr>
          <a:xfrm>
            <a:off x="832103" y="3227832"/>
            <a:ext cx="1664207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Gated +24 V / 0 V</a:t>
            </a:r>
          </a:p>
        </p:txBody>
      </p:sp>
      <p:sp>
        <p:nvSpPr>
          <p:cNvPr id="14" name="COMPONENT SB2  EAO + LED"/>
          <p:cNvSpPr/>
          <p:nvPr/>
        </p:nvSpPr>
        <p:spPr>
          <a:xfrm>
            <a:off x="3291840" y="2779776"/>
            <a:ext cx="2286000" cy="4005072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SB2  EAO + LED"/>
          <p:cNvSpPr txBox="1"/>
          <p:nvPr/>
        </p:nvSpPr>
        <p:spPr>
          <a:xfrm>
            <a:off x="3456432" y="291693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SB2  EAO + LED</a:t>
            </a:r>
          </a:p>
        </p:txBody>
      </p:sp>
      <p:sp>
        <p:nvSpPr>
          <p:cNvPr id="16" name="TEXT 82-4151.1134"/>
          <p:cNvSpPr txBox="1"/>
          <p:nvPr/>
        </p:nvSpPr>
        <p:spPr>
          <a:xfrm>
            <a:off x="3456432" y="322783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82-4151.1134</a:t>
            </a:r>
          </a:p>
        </p:txBody>
      </p:sp>
      <p:sp>
        <p:nvSpPr>
          <p:cNvPr id="17" name="MFR LINK SB2  EAO + LED"/>
          <p:cNvSpPr txBox="1"/>
          <p:nvPr/>
        </p:nvSpPr>
        <p:spPr>
          <a:xfrm>
            <a:off x="3456432" y="6473952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18" name="COMPONENT K2  FINDER 13.61"/>
          <p:cNvSpPr/>
          <p:nvPr/>
        </p:nvSpPr>
        <p:spPr>
          <a:xfrm>
            <a:off x="6592824" y="2779776"/>
            <a:ext cx="2907792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K2  FINDER 13.61"/>
          <p:cNvSpPr txBox="1"/>
          <p:nvPr/>
        </p:nvSpPr>
        <p:spPr>
          <a:xfrm>
            <a:off x="6757416" y="2916936"/>
            <a:ext cx="260604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K2  FINDER 13.61</a:t>
            </a:r>
          </a:p>
        </p:txBody>
      </p:sp>
      <p:sp>
        <p:nvSpPr>
          <p:cNvPr id="20" name="TEXT 13.61.0.024.0000"/>
          <p:cNvSpPr txBox="1"/>
          <p:nvPr/>
        </p:nvSpPr>
        <p:spPr>
          <a:xfrm>
            <a:off x="6757416" y="3227832"/>
            <a:ext cx="260604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13.61.0.024.0000</a:t>
            </a:r>
          </a:p>
        </p:txBody>
      </p:sp>
      <p:sp>
        <p:nvSpPr>
          <p:cNvPr id="21" name="MFR LINK K2  FINDER 13.61"/>
          <p:cNvSpPr txBox="1"/>
          <p:nvPr/>
        </p:nvSpPr>
        <p:spPr>
          <a:xfrm>
            <a:off x="6757416" y="6473952"/>
            <a:ext cx="257860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2" name="COMPONENT K4 / SK4  RELAY + SOCKET"/>
          <p:cNvSpPr/>
          <p:nvPr/>
        </p:nvSpPr>
        <p:spPr>
          <a:xfrm>
            <a:off x="10981944" y="2779776"/>
            <a:ext cx="2596896" cy="400507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K4 / SK4  RELAY + SOCKET"/>
          <p:cNvSpPr txBox="1"/>
          <p:nvPr/>
        </p:nvSpPr>
        <p:spPr>
          <a:xfrm>
            <a:off x="11146536" y="2916936"/>
            <a:ext cx="2295144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50" b="1">
                <a:solidFill>
                  <a:srgbClr val="1F344E"/>
                </a:solidFill>
                <a:latin typeface="Aptos"/>
              </a:rPr>
              <a:t>K4 / SK4  RELAY + SOCKET</a:t>
            </a:r>
          </a:p>
        </p:txBody>
      </p:sp>
      <p:sp>
        <p:nvSpPr>
          <p:cNvPr id="24" name="TEXT 62.31.9.024.4800"/>
          <p:cNvSpPr txBox="1"/>
          <p:nvPr/>
        </p:nvSpPr>
        <p:spPr>
          <a:xfrm>
            <a:off x="11146536" y="3227832"/>
            <a:ext cx="229514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5" name="TEXT 92.03 socket family;&#10;actu"/>
          <p:cNvSpPr txBox="1"/>
          <p:nvPr/>
        </p:nvSpPr>
        <p:spPr>
          <a:xfrm>
            <a:off x="11146536" y="3886200"/>
            <a:ext cx="2286000" cy="45720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607084"/>
                </a:solidFill>
                <a:latin typeface="Aptos"/>
              </a:rPr>
              <a:t>92.03 socket family;
actual fitted type TBD</a:t>
            </a:r>
          </a:p>
        </p:txBody>
      </p:sp>
      <p:sp>
        <p:nvSpPr>
          <p:cNvPr id="26" name="TEXT Relay PDF ↗"/>
          <p:cNvSpPr txBox="1"/>
          <p:nvPr/>
        </p:nvSpPr>
        <p:spPr>
          <a:xfrm>
            <a:off x="11173968" y="6355080"/>
            <a:ext cx="94183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4"/>
              </a:rPr>
              <a:t>Relay PDF ↗</a:t>
            </a:r>
          </a:p>
        </p:txBody>
      </p:sp>
      <p:sp>
        <p:nvSpPr>
          <p:cNvPr id="27" name="TEXT Socket PDF ↗"/>
          <p:cNvSpPr txBox="1"/>
          <p:nvPr/>
        </p:nvSpPr>
        <p:spPr>
          <a:xfrm>
            <a:off x="12134088" y="6355080"/>
            <a:ext cx="12070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9" b="0" u="sng">
                <a:solidFill>
                  <a:srgbClr val="1D599B"/>
                </a:solidFill>
                <a:latin typeface="Aptos"/>
                <a:hlinkClick r:id="rId5"/>
              </a:rPr>
              <a:t>Socket PDF ↗</a:t>
            </a:r>
          </a:p>
        </p:txBody>
      </p:sp>
      <p:sp>
        <p:nvSpPr>
          <p:cNvPr id="28" name="TEXT A1/A2 are SOCKET coil lab"/>
          <p:cNvSpPr txBox="1"/>
          <p:nvPr/>
        </p:nvSpPr>
        <p:spPr>
          <a:xfrm>
            <a:off x="11119104" y="6885432"/>
            <a:ext cx="25603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40" b="1">
                <a:solidFill>
                  <a:srgbClr val="607084"/>
                </a:solidFill>
                <a:latin typeface="Aptos"/>
              </a:rPr>
              <a:t>A1/A2 are SOCKET coil labels</a:t>
            </a:r>
          </a:p>
        </p:txBody>
      </p:sp>
      <p:sp>
        <p:nvSpPr>
          <p:cNvPr id="29" name="PORT +24"/>
          <p:cNvSpPr/>
          <p:nvPr/>
        </p:nvSpPr>
        <p:spPr>
          <a:xfrm>
            <a:off x="2176272" y="334670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+24"/>
          <p:cNvSpPr txBox="1"/>
          <p:nvPr/>
        </p:nvSpPr>
        <p:spPr>
          <a:xfrm>
            <a:off x="2189988" y="33604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sp>
        <p:nvSpPr>
          <p:cNvPr id="31" name="PORT C"/>
          <p:cNvSpPr/>
          <p:nvPr/>
        </p:nvSpPr>
        <p:spPr>
          <a:xfrm>
            <a:off x="3163824" y="3346703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 C"/>
          <p:cNvSpPr txBox="1"/>
          <p:nvPr/>
        </p:nvSpPr>
        <p:spPr>
          <a:xfrm>
            <a:off x="3177540" y="3360420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C</a:t>
            </a:r>
          </a:p>
        </p:txBody>
      </p:sp>
      <p:cxnSp>
        <p:nvCxnSpPr>
          <p:cNvPr id="33" name="PROPOSED WIRE v24"/>
          <p:cNvCxnSpPr/>
          <p:nvPr/>
        </p:nvCxnSpPr>
        <p:spPr>
          <a:xfrm>
            <a:off x="2761488" y="3529584"/>
            <a:ext cx="402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ORT 0 V"/>
          <p:cNvSpPr/>
          <p:nvPr/>
        </p:nvSpPr>
        <p:spPr>
          <a:xfrm>
            <a:off x="2176272" y="4608576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0 V"/>
          <p:cNvSpPr txBox="1"/>
          <p:nvPr/>
        </p:nvSpPr>
        <p:spPr>
          <a:xfrm>
            <a:off x="2189988" y="4622292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sp>
        <p:nvSpPr>
          <p:cNvPr id="36" name="PORT LED−"/>
          <p:cNvSpPr/>
          <p:nvPr/>
        </p:nvSpPr>
        <p:spPr>
          <a:xfrm>
            <a:off x="3163824" y="4608576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LED−"/>
          <p:cNvSpPr txBox="1"/>
          <p:nvPr/>
        </p:nvSpPr>
        <p:spPr>
          <a:xfrm>
            <a:off x="3177540" y="4622292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cxnSp>
        <p:nvCxnSpPr>
          <p:cNvPr id="38" name="PROPOSED WIRE return"/>
          <p:cNvCxnSpPr/>
          <p:nvPr/>
        </p:nvCxnSpPr>
        <p:spPr>
          <a:xfrm>
            <a:off x="2761488" y="4791456"/>
            <a:ext cx="402336" cy="0"/>
          </a:xfrm>
          <a:prstGeom prst="line">
            <a:avLst/>
          </a:prstGeom>
          <a:ln w="2730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RT NO"/>
          <p:cNvSpPr/>
          <p:nvPr/>
        </p:nvSpPr>
        <p:spPr>
          <a:xfrm>
            <a:off x="5157216" y="433425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NO"/>
          <p:cNvSpPr txBox="1"/>
          <p:nvPr/>
        </p:nvSpPr>
        <p:spPr>
          <a:xfrm>
            <a:off x="5170931" y="4347972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NO</a:t>
            </a:r>
          </a:p>
        </p:txBody>
      </p:sp>
      <p:sp>
        <p:nvSpPr>
          <p:cNvPr id="41" name="PORT 3"/>
          <p:cNvSpPr/>
          <p:nvPr/>
        </p:nvSpPr>
        <p:spPr>
          <a:xfrm>
            <a:off x="6464808" y="4334256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 3"/>
          <p:cNvSpPr txBox="1"/>
          <p:nvPr/>
        </p:nvSpPr>
        <p:spPr>
          <a:xfrm>
            <a:off x="6478524" y="4347972"/>
            <a:ext cx="53949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3</a:t>
            </a:r>
          </a:p>
        </p:txBody>
      </p:sp>
      <p:cxnSp>
        <p:nvCxnSpPr>
          <p:cNvPr id="43" name="PROPOSED WIRE pulse"/>
          <p:cNvCxnSpPr/>
          <p:nvPr/>
        </p:nvCxnSpPr>
        <p:spPr>
          <a:xfrm>
            <a:off x="5705855" y="4517136"/>
            <a:ext cx="758953" cy="0"/>
          </a:xfrm>
          <a:prstGeom prst="line">
            <a:avLst/>
          </a:prstGeom>
          <a:ln w="29209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RT +24"/>
          <p:cNvSpPr/>
          <p:nvPr/>
        </p:nvSpPr>
        <p:spPr>
          <a:xfrm>
            <a:off x="2157984" y="384048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 +24"/>
          <p:cNvSpPr txBox="1"/>
          <p:nvPr/>
        </p:nvSpPr>
        <p:spPr>
          <a:xfrm>
            <a:off x="2171700" y="385419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46" name="PROPOSED WIRE v24"/>
          <p:cNvCxnSpPr/>
          <p:nvPr/>
        </p:nvCxnSpPr>
        <p:spPr>
          <a:xfrm>
            <a:off x="2761488" y="4023360"/>
            <a:ext cx="201168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ROPOSED WIRE v24"/>
          <p:cNvCxnSpPr/>
          <p:nvPr/>
        </p:nvCxnSpPr>
        <p:spPr>
          <a:xfrm flipV="1">
            <a:off x="2962656" y="2340864"/>
            <a:ext cx="0" cy="1682496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ROPOSED WIRE v24"/>
          <p:cNvCxnSpPr/>
          <p:nvPr/>
        </p:nvCxnSpPr>
        <p:spPr>
          <a:xfrm>
            <a:off x="2962656" y="2340864"/>
            <a:ext cx="3200400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PROPOSED WIRE v24"/>
          <p:cNvCxnSpPr/>
          <p:nvPr/>
        </p:nvCxnSpPr>
        <p:spPr>
          <a:xfrm>
            <a:off x="6163056" y="2340864"/>
            <a:ext cx="0" cy="1536192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ECTRICAL JUNCTION"/>
          <p:cNvSpPr/>
          <p:nvPr/>
        </p:nvSpPr>
        <p:spPr>
          <a:xfrm>
            <a:off x="2929737" y="349666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ORT L/+"/>
          <p:cNvSpPr/>
          <p:nvPr/>
        </p:nvSpPr>
        <p:spPr>
          <a:xfrm>
            <a:off x="6464808" y="3246120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 L/+"/>
          <p:cNvSpPr txBox="1"/>
          <p:nvPr/>
        </p:nvSpPr>
        <p:spPr>
          <a:xfrm>
            <a:off x="6478524" y="3259836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L/+</a:t>
            </a:r>
          </a:p>
        </p:txBody>
      </p:sp>
      <p:cxnSp>
        <p:nvCxnSpPr>
          <p:cNvPr id="53" name="PROPOSED WIRE v24"/>
          <p:cNvCxnSpPr/>
          <p:nvPr/>
        </p:nvCxnSpPr>
        <p:spPr>
          <a:xfrm>
            <a:off x="6163056" y="3429000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PORT 11"/>
          <p:cNvSpPr/>
          <p:nvPr/>
        </p:nvSpPr>
        <p:spPr>
          <a:xfrm>
            <a:off x="6464808" y="3694176"/>
            <a:ext cx="60350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11"/>
          <p:cNvSpPr txBox="1"/>
          <p:nvPr/>
        </p:nvSpPr>
        <p:spPr>
          <a:xfrm>
            <a:off x="6478524" y="3707891"/>
            <a:ext cx="57607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11</a:t>
            </a:r>
          </a:p>
        </p:txBody>
      </p:sp>
      <p:cxnSp>
        <p:nvCxnSpPr>
          <p:cNvPr id="56" name="PROPOSED WIRE v24"/>
          <p:cNvCxnSpPr/>
          <p:nvPr/>
        </p:nvCxnSpPr>
        <p:spPr>
          <a:xfrm>
            <a:off x="6163056" y="3877056"/>
            <a:ext cx="301752" cy="0"/>
          </a:xfrm>
          <a:prstGeom prst="line">
            <a:avLst/>
          </a:prstGeom>
          <a:ln w="26034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ELECTRICAL JUNCTION"/>
          <p:cNvSpPr/>
          <p:nvPr/>
        </p:nvSpPr>
        <p:spPr>
          <a:xfrm>
            <a:off x="6130137" y="3396081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LECTRICAL JUNCTION"/>
          <p:cNvSpPr/>
          <p:nvPr/>
        </p:nvSpPr>
        <p:spPr>
          <a:xfrm>
            <a:off x="6130137" y="3844137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ORT 14"/>
          <p:cNvSpPr/>
          <p:nvPr/>
        </p:nvSpPr>
        <p:spPr>
          <a:xfrm>
            <a:off x="9052560" y="5166359"/>
            <a:ext cx="57607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 14"/>
          <p:cNvSpPr txBox="1"/>
          <p:nvPr/>
        </p:nvSpPr>
        <p:spPr>
          <a:xfrm>
            <a:off x="9066276" y="5180075"/>
            <a:ext cx="54864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14</a:t>
            </a:r>
          </a:p>
        </p:txBody>
      </p:sp>
      <p:sp>
        <p:nvSpPr>
          <p:cNvPr id="61" name="PORT A1"/>
          <p:cNvSpPr/>
          <p:nvPr/>
        </p:nvSpPr>
        <p:spPr>
          <a:xfrm>
            <a:off x="10853928" y="5166359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 A1"/>
          <p:cNvSpPr txBox="1"/>
          <p:nvPr/>
        </p:nvSpPr>
        <p:spPr>
          <a:xfrm>
            <a:off x="10867644" y="5180075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A1</a:t>
            </a:r>
          </a:p>
        </p:txBody>
      </p:sp>
      <p:cxnSp>
        <p:nvCxnSpPr>
          <p:cNvPr id="63" name="PROPOSED WIRE v24"/>
          <p:cNvCxnSpPr/>
          <p:nvPr/>
        </p:nvCxnSpPr>
        <p:spPr>
          <a:xfrm>
            <a:off x="9628632" y="5349240"/>
            <a:ext cx="1225296" cy="0"/>
          </a:xfrm>
          <a:prstGeom prst="line">
            <a:avLst/>
          </a:prstGeom>
          <a:ln w="3048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RT 0 V"/>
          <p:cNvSpPr/>
          <p:nvPr/>
        </p:nvSpPr>
        <p:spPr>
          <a:xfrm>
            <a:off x="2176272" y="587959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 0 V"/>
          <p:cNvSpPr txBox="1"/>
          <p:nvPr/>
        </p:nvSpPr>
        <p:spPr>
          <a:xfrm>
            <a:off x="2189988" y="5893307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66" name="PROPOSED WIRE return"/>
          <p:cNvCxnSpPr/>
          <p:nvPr/>
        </p:nvCxnSpPr>
        <p:spPr>
          <a:xfrm>
            <a:off x="2761488" y="6062472"/>
            <a:ext cx="21945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PROPOSED WIRE return"/>
          <p:cNvCxnSpPr/>
          <p:nvPr/>
        </p:nvCxnSpPr>
        <p:spPr>
          <a:xfrm>
            <a:off x="2980944" y="6062472"/>
            <a:ext cx="0" cy="1737359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PROPOSED WIRE return"/>
          <p:cNvCxnSpPr/>
          <p:nvPr/>
        </p:nvCxnSpPr>
        <p:spPr>
          <a:xfrm>
            <a:off x="2980944" y="7799831"/>
            <a:ext cx="76260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PORT N/−"/>
          <p:cNvSpPr/>
          <p:nvPr/>
        </p:nvSpPr>
        <p:spPr>
          <a:xfrm>
            <a:off x="6464808" y="5998464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N/−"/>
          <p:cNvSpPr txBox="1"/>
          <p:nvPr/>
        </p:nvSpPr>
        <p:spPr>
          <a:xfrm>
            <a:off x="6478524" y="601217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N/−</a:t>
            </a:r>
          </a:p>
        </p:txBody>
      </p:sp>
      <p:cxnSp>
        <p:nvCxnSpPr>
          <p:cNvPr id="71" name="PROPOSED WIRE return"/>
          <p:cNvCxnSpPr/>
          <p:nvPr/>
        </p:nvCxnSpPr>
        <p:spPr>
          <a:xfrm flipV="1">
            <a:off x="6144768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PROPOSED WIRE return"/>
          <p:cNvCxnSpPr/>
          <p:nvPr/>
        </p:nvCxnSpPr>
        <p:spPr>
          <a:xfrm>
            <a:off x="6144768" y="6181344"/>
            <a:ext cx="320040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PORT A2"/>
          <p:cNvSpPr/>
          <p:nvPr/>
        </p:nvSpPr>
        <p:spPr>
          <a:xfrm>
            <a:off x="10853928" y="5998464"/>
            <a:ext cx="621792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A2"/>
          <p:cNvSpPr txBox="1"/>
          <p:nvPr/>
        </p:nvSpPr>
        <p:spPr>
          <a:xfrm>
            <a:off x="10867644" y="6012179"/>
            <a:ext cx="594360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A2</a:t>
            </a:r>
          </a:p>
        </p:txBody>
      </p:sp>
      <p:cxnSp>
        <p:nvCxnSpPr>
          <p:cNvPr id="75" name="PROPOSED WIRE return"/>
          <p:cNvCxnSpPr/>
          <p:nvPr/>
        </p:nvCxnSpPr>
        <p:spPr>
          <a:xfrm flipV="1">
            <a:off x="10607040" y="6181344"/>
            <a:ext cx="0" cy="1618487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PROPOSED WIRE return"/>
          <p:cNvCxnSpPr/>
          <p:nvPr/>
        </p:nvCxnSpPr>
        <p:spPr>
          <a:xfrm>
            <a:off x="10607040" y="6181344"/>
            <a:ext cx="246888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ELECTRICAL JUNCTION"/>
          <p:cNvSpPr/>
          <p:nvPr/>
        </p:nvSpPr>
        <p:spPr>
          <a:xfrm>
            <a:off x="6111849" y="7766913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PORT LED+"/>
          <p:cNvSpPr/>
          <p:nvPr/>
        </p:nvSpPr>
        <p:spPr>
          <a:xfrm>
            <a:off x="5020055" y="5632704"/>
            <a:ext cx="68580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 LED+"/>
          <p:cNvSpPr txBox="1"/>
          <p:nvPr/>
        </p:nvSpPr>
        <p:spPr>
          <a:xfrm>
            <a:off x="5033771" y="5646420"/>
            <a:ext cx="658368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80" name="PROPOSED WIRE v24"/>
          <p:cNvCxnSpPr/>
          <p:nvPr/>
        </p:nvCxnSpPr>
        <p:spPr>
          <a:xfrm>
            <a:off x="5705855" y="5815584"/>
            <a:ext cx="192025" cy="0"/>
          </a:xfrm>
          <a:prstGeom prst="line">
            <a:avLst/>
          </a:prstGeom>
          <a:ln w="26670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 EN2"/>
          <p:cNvSpPr txBox="1"/>
          <p:nvPr/>
        </p:nvSpPr>
        <p:spPr>
          <a:xfrm>
            <a:off x="5833872" y="5504688"/>
            <a:ext cx="630936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1">
                <a:solidFill>
                  <a:srgbClr val="008192"/>
                </a:solidFill>
                <a:latin typeface="Aptos"/>
              </a:rPr>
              <a:t>EN2</a:t>
            </a:r>
          </a:p>
        </p:txBody>
      </p:sp>
      <p:sp>
        <p:nvSpPr>
          <p:cNvPr id="82" name="TEXT EN2"/>
          <p:cNvSpPr txBox="1"/>
          <p:nvPr/>
        </p:nvSpPr>
        <p:spPr>
          <a:xfrm>
            <a:off x="9710928" y="4992624"/>
            <a:ext cx="105156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1">
                <a:solidFill>
                  <a:srgbClr val="008192"/>
                </a:solidFill>
                <a:latin typeface="Aptos"/>
              </a:rPr>
              <a:t>EN2</a:t>
            </a:r>
          </a:p>
        </p:txBody>
      </p:sp>
      <p:sp>
        <p:nvSpPr>
          <p:cNvPr id="83" name="TEXT EN2: K2:14 / K4:A1 / SB2:"/>
          <p:cNvSpPr txBox="1"/>
          <p:nvPr/>
        </p:nvSpPr>
        <p:spPr>
          <a:xfrm>
            <a:off x="3502152" y="7059168"/>
            <a:ext cx="342900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9" b="1">
                <a:solidFill>
                  <a:srgbClr val="1D599B"/>
                </a:solidFill>
                <a:latin typeface="Aptos"/>
              </a:rPr>
              <a:t>EN2: K2:14 / K4:A1 / SB2:LED+</a:t>
            </a:r>
          </a:p>
        </p:txBody>
      </p:sp>
      <p:sp>
        <p:nvSpPr>
          <p:cNvPr id="84" name="TEXT Matching EN reference ind"/>
          <p:cNvSpPr txBox="1"/>
          <p:nvPr/>
        </p:nvSpPr>
        <p:spPr>
          <a:xfrm>
            <a:off x="3502152" y="8119872"/>
            <a:ext cx="868680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9" b="0">
                <a:solidFill>
                  <a:srgbClr val="607084"/>
                </a:solidFill>
                <a:latin typeface="Aptos"/>
              </a:rPr>
              <a:t>Matching EN reference indicates ONE electrical net (avoids a wire crossing other circuits).</a:t>
            </a:r>
          </a:p>
        </p:txBody>
      </p:sp>
      <p:sp>
        <p:nvSpPr>
          <p:cNvPr id="85" name="TEXT X4:+24 → button C and K2 "/>
          <p:cNvSpPr txBox="1"/>
          <p:nvPr/>
        </p:nvSpPr>
        <p:spPr>
          <a:xfrm>
            <a:off x="795528" y="8503920"/>
            <a:ext cx="13121640" cy="2194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>
                <a:solidFill>
                  <a:srgbClr val="607084"/>
                </a:solidFill>
                <a:latin typeface="Aptos"/>
              </a:rPr>
              <a:t>X4:+24 → button C and K2 L/+,11  |  Button NO → K2:3  |  EN2 → relay coil A1 and LED+  |  0V → K2:N/−, K4:A2, LED−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Gated +24 V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Gated +24 V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0 V return</a:t>
            </a:r>
          </a:p>
        </p:txBody>
      </p:sp>
      <p:sp>
        <p:nvSpPr>
          <p:cNvPr id="9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 Momentary input"/>
          <p:cNvSpPr txBox="1"/>
          <p:nvPr/>
        </p:nvSpPr>
        <p:spPr>
          <a:xfrm>
            <a:off x="11548872" y="1142999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Momentary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5  /  CHANNEL 1 / SSR DR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05  /  CHANNEL 1 / SSR DRIVE + HEATER ACTIVITY LED</a:t>
            </a:r>
          </a:p>
        </p:txBody>
      </p:sp>
      <p:sp>
        <p:nvSpPr>
          <p:cNvPr id="3" name="TEXT Omron 12 V SSR demand co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Omron 12 V SSR demand controls an isolated Weidmüller interface switching both Crydom input and activity LED.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HERMOCOUPLE  /  PULSE IN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THERMOCOUPLE  /  PULSE INTERFACE  /  TWO PARALLEL 24 V LOADS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5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05</a:t>
            </a:r>
          </a:p>
        </p:txBody>
      </p:sp>
      <p:sp>
        <p:nvSpPr>
          <p:cNvPr id="10" name="TEXT LED is on the 24 V CONTRO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LED is on the 24 V CONTROL circuit, not the external heater: HL1/HL2 = RS 130-1086, yellow, 24 V DC, 20 mA max.</a:t>
            </a:r>
          </a:p>
        </p:txBody>
      </p:sp>
      <p:sp>
        <p:nvSpPr>
          <p:cNvPr id="11" name="COMPONENT JTC1  TYPE K"/>
          <p:cNvSpPr/>
          <p:nvPr/>
        </p:nvSpPr>
        <p:spPr>
          <a:xfrm>
            <a:off x="685800" y="2999232"/>
            <a:ext cx="2121408" cy="21945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TC1  TYPE K"/>
          <p:cNvSpPr txBox="1"/>
          <p:nvPr/>
        </p:nvSpPr>
        <p:spPr>
          <a:xfrm>
            <a:off x="850392" y="3136391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JTC1  TYPE K</a:t>
            </a:r>
          </a:p>
        </p:txBody>
      </p:sp>
      <p:sp>
        <p:nvSpPr>
          <p:cNvPr id="13" name="TEXT External sensor"/>
          <p:cNvSpPr txBox="1"/>
          <p:nvPr/>
        </p:nvSpPr>
        <p:spPr>
          <a:xfrm>
            <a:off x="850392" y="3447287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sensor</a:t>
            </a:r>
          </a:p>
        </p:txBody>
      </p:sp>
      <p:sp>
        <p:nvSpPr>
          <p:cNvPr id="14" name="TEXT Connector model TBD"/>
          <p:cNvSpPr txBox="1"/>
          <p:nvPr/>
        </p:nvSpPr>
        <p:spPr>
          <a:xfrm>
            <a:off x="850392" y="3721608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Connector model TBD</a:t>
            </a:r>
          </a:p>
        </p:txBody>
      </p:sp>
      <p:sp>
        <p:nvSpPr>
          <p:cNvPr id="15" name="COMPONENT E1  OMRON"/>
          <p:cNvSpPr/>
          <p:nvPr/>
        </p:nvSpPr>
        <p:spPr>
          <a:xfrm>
            <a:off x="3447288" y="2743200"/>
            <a:ext cx="2615184" cy="356616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E1  OMRON"/>
          <p:cNvSpPr txBox="1"/>
          <p:nvPr/>
        </p:nvSpPr>
        <p:spPr>
          <a:xfrm>
            <a:off x="3611880" y="2880360"/>
            <a:ext cx="2313432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40" b="1">
                <a:solidFill>
                  <a:srgbClr val="1F344E"/>
                </a:solidFill>
                <a:latin typeface="Aptos"/>
              </a:rPr>
              <a:t>E1  OMRON</a:t>
            </a:r>
          </a:p>
        </p:txBody>
      </p:sp>
      <p:sp>
        <p:nvSpPr>
          <p:cNvPr id="17" name="TEXT E5CC-TQX3A5M-000"/>
          <p:cNvSpPr txBox="1"/>
          <p:nvPr/>
        </p:nvSpPr>
        <p:spPr>
          <a:xfrm>
            <a:off x="3611880" y="3191256"/>
            <a:ext cx="2313432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E5CC-TQX3A5M-000</a:t>
            </a:r>
          </a:p>
        </p:txBody>
      </p:sp>
      <p:sp>
        <p:nvSpPr>
          <p:cNvPr id="18" name="TEXT 12 V SSR demand output; T"/>
          <p:cNvSpPr txBox="1"/>
          <p:nvPr/>
        </p:nvSpPr>
        <p:spPr>
          <a:xfrm>
            <a:off x="3611880" y="3465576"/>
            <a:ext cx="22860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12 V SSR demand output; TC input</a:t>
            </a:r>
          </a:p>
        </p:txBody>
      </p:sp>
      <p:sp>
        <p:nvSpPr>
          <p:cNvPr id="19" name="MFR LINK E1  OMRON"/>
          <p:cNvSpPr txBox="1"/>
          <p:nvPr/>
        </p:nvSpPr>
        <p:spPr>
          <a:xfrm>
            <a:off x="3611880" y="5998464"/>
            <a:ext cx="22860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W1  WEIDMÜLLER"/>
          <p:cNvSpPr/>
          <p:nvPr/>
        </p:nvSpPr>
        <p:spPr>
          <a:xfrm>
            <a:off x="6601968" y="2743200"/>
            <a:ext cx="2267712" cy="35661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W1  WEIDMÜLLER"/>
          <p:cNvSpPr txBox="1"/>
          <p:nvPr/>
        </p:nvSpPr>
        <p:spPr>
          <a:xfrm>
            <a:off x="6766559" y="2880360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W1  WEIDMÜLLER</a:t>
            </a:r>
          </a:p>
        </p:txBody>
      </p:sp>
      <p:sp>
        <p:nvSpPr>
          <p:cNvPr id="22" name="TEXT 8950770000"/>
          <p:cNvSpPr txBox="1"/>
          <p:nvPr/>
        </p:nvSpPr>
        <p:spPr>
          <a:xfrm>
            <a:off x="6766559" y="3191256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8950770000</a:t>
            </a:r>
          </a:p>
        </p:txBody>
      </p:sp>
      <p:sp>
        <p:nvSpPr>
          <p:cNvPr id="23" name="TEXT Transistor switch 13 (+) "/>
          <p:cNvSpPr txBox="1"/>
          <p:nvPr/>
        </p:nvSpPr>
        <p:spPr>
          <a:xfrm>
            <a:off x="6766559" y="3465576"/>
            <a:ext cx="1938528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Transistor switch 13 (+) / 14 (−)</a:t>
            </a:r>
          </a:p>
        </p:txBody>
      </p:sp>
      <p:sp>
        <p:nvSpPr>
          <p:cNvPr id="24" name="MFR LINK W1  WEIDMÜLLER"/>
          <p:cNvSpPr txBox="1"/>
          <p:nvPr/>
        </p:nvSpPr>
        <p:spPr>
          <a:xfrm>
            <a:off x="6766559" y="5998464"/>
            <a:ext cx="193852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1  CRYDOM"/>
          <p:cNvSpPr/>
          <p:nvPr/>
        </p:nvSpPr>
        <p:spPr>
          <a:xfrm>
            <a:off x="10744200" y="2176272"/>
            <a:ext cx="2743200" cy="203911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1  CRYDOM"/>
          <p:cNvSpPr txBox="1"/>
          <p:nvPr/>
        </p:nvSpPr>
        <p:spPr>
          <a:xfrm>
            <a:off x="10908792" y="2313432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20" b="1">
                <a:solidFill>
                  <a:srgbClr val="1F344E"/>
                </a:solidFill>
                <a:latin typeface="Aptos"/>
              </a:rPr>
              <a:t>SSR1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10908792" y="2624328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24 V control input (3+/4−"/>
          <p:cNvSpPr txBox="1"/>
          <p:nvPr/>
        </p:nvSpPr>
        <p:spPr>
          <a:xfrm>
            <a:off x="10908792" y="2898648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24 V control input (3+/4−)</a:t>
            </a:r>
          </a:p>
        </p:txBody>
      </p:sp>
      <p:sp>
        <p:nvSpPr>
          <p:cNvPr id="29" name="MFR LINK SSR1  CRYDOM"/>
          <p:cNvSpPr txBox="1"/>
          <p:nvPr/>
        </p:nvSpPr>
        <p:spPr>
          <a:xfrm>
            <a:off x="10908792" y="3904487"/>
            <a:ext cx="24140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HL1  ACTIVITY LED"/>
          <p:cNvSpPr/>
          <p:nvPr/>
        </p:nvSpPr>
        <p:spPr>
          <a:xfrm>
            <a:off x="10744200" y="5084064"/>
            <a:ext cx="2743200" cy="2459736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HL1  ACTIVITY LED"/>
          <p:cNvSpPr txBox="1"/>
          <p:nvPr/>
        </p:nvSpPr>
        <p:spPr>
          <a:xfrm>
            <a:off x="10908792" y="5221224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HL1  ACTIVITY LED</a:t>
            </a:r>
          </a:p>
        </p:txBody>
      </p:sp>
      <p:sp>
        <p:nvSpPr>
          <p:cNvPr id="32" name="TEXT 24 V DC, integrated resis"/>
          <p:cNvSpPr txBox="1"/>
          <p:nvPr/>
        </p:nvSpPr>
        <p:spPr>
          <a:xfrm>
            <a:off x="10908792" y="5532120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24 V DC, integrated resistor</a:t>
            </a:r>
          </a:p>
        </p:txBody>
      </p:sp>
      <p:sp>
        <p:nvSpPr>
          <p:cNvPr id="33" name="TEXT Selected part &amp; current T"/>
          <p:cNvSpPr txBox="1"/>
          <p:nvPr/>
        </p:nvSpPr>
        <p:spPr>
          <a:xfrm>
            <a:off x="10908792" y="5806440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  <a:hlinkClick r:id="rId5"/>
              </a:rPr>
              <a:t>RS 130-1086  •  20 mA max</a:t>
            </a:r>
          </a:p>
        </p:txBody>
      </p:sp>
      <p:sp>
        <p:nvSpPr>
          <p:cNvPr id="34" name="COMPONENT X3  GATED +24"/>
          <p:cNvSpPr/>
          <p:nvPr/>
        </p:nvSpPr>
        <p:spPr>
          <a:xfrm>
            <a:off x="722376" y="1975104"/>
            <a:ext cx="2020824" cy="67665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X3  GATED +24"/>
          <p:cNvSpPr txBox="1"/>
          <p:nvPr/>
        </p:nvSpPr>
        <p:spPr>
          <a:xfrm>
            <a:off x="886968" y="2112264"/>
            <a:ext cx="1719072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40" b="1">
                <a:solidFill>
                  <a:srgbClr val="1F344E"/>
                </a:solidFill>
                <a:latin typeface="Aptos"/>
              </a:rPr>
              <a:t>X3  GATED +24</a:t>
            </a:r>
          </a:p>
        </p:txBody>
      </p:sp>
      <p:sp>
        <p:nvSpPr>
          <p:cNvPr id="36" name="TEXT From selector"/>
          <p:cNvSpPr txBox="1"/>
          <p:nvPr/>
        </p:nvSpPr>
        <p:spPr>
          <a:xfrm>
            <a:off x="886968" y="2423160"/>
            <a:ext cx="1719072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From selector</a:t>
            </a:r>
          </a:p>
        </p:txBody>
      </p:sp>
      <p:sp>
        <p:nvSpPr>
          <p:cNvPr id="37" name="COMPONENT X2  0 V RETURN"/>
          <p:cNvSpPr/>
          <p:nvPr/>
        </p:nvSpPr>
        <p:spPr>
          <a:xfrm>
            <a:off x="6583680" y="7114032"/>
            <a:ext cx="2267712" cy="76809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 X2  0 V RETURN"/>
          <p:cNvSpPr txBox="1"/>
          <p:nvPr/>
        </p:nvSpPr>
        <p:spPr>
          <a:xfrm>
            <a:off x="6748272" y="7251192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X2  0 V RETURN</a:t>
            </a:r>
          </a:p>
        </p:txBody>
      </p:sp>
      <p:sp>
        <p:nvSpPr>
          <p:cNvPr id="39" name="TEXT Shared control return"/>
          <p:cNvSpPr txBox="1"/>
          <p:nvPr/>
        </p:nvSpPr>
        <p:spPr>
          <a:xfrm>
            <a:off x="6748272" y="7562088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Shared control return</a:t>
            </a:r>
          </a:p>
        </p:txBody>
      </p:sp>
      <p:sp>
        <p:nvSpPr>
          <p:cNvPr id="40" name="PORT TC+"/>
          <p:cNvSpPr/>
          <p:nvPr/>
        </p:nvSpPr>
        <p:spPr>
          <a:xfrm>
            <a:off x="2350008" y="373075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TC+"/>
          <p:cNvSpPr txBox="1"/>
          <p:nvPr/>
        </p:nvSpPr>
        <p:spPr>
          <a:xfrm>
            <a:off x="2363724" y="3744468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TC+</a:t>
            </a:r>
          </a:p>
        </p:txBody>
      </p:sp>
      <p:sp>
        <p:nvSpPr>
          <p:cNvPr id="42" name="PORT 6+"/>
          <p:cNvSpPr/>
          <p:nvPr/>
        </p:nvSpPr>
        <p:spPr>
          <a:xfrm>
            <a:off x="3319272" y="3730752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6+"/>
          <p:cNvSpPr txBox="1"/>
          <p:nvPr/>
        </p:nvSpPr>
        <p:spPr>
          <a:xfrm>
            <a:off x="3332988" y="3744468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6+</a:t>
            </a:r>
          </a:p>
        </p:txBody>
      </p:sp>
      <p:cxnSp>
        <p:nvCxnSpPr>
          <p:cNvPr id="44" name="PROPOSED WIRE pulse"/>
          <p:cNvCxnSpPr/>
          <p:nvPr/>
        </p:nvCxnSpPr>
        <p:spPr>
          <a:xfrm>
            <a:off x="2935224" y="3913632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ORT TC−"/>
          <p:cNvSpPr/>
          <p:nvPr/>
        </p:nvSpPr>
        <p:spPr>
          <a:xfrm>
            <a:off x="2350008" y="444398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 TC−"/>
          <p:cNvSpPr txBox="1"/>
          <p:nvPr/>
        </p:nvSpPr>
        <p:spPr>
          <a:xfrm>
            <a:off x="2363724" y="4457699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TC−</a:t>
            </a:r>
          </a:p>
        </p:txBody>
      </p:sp>
      <p:sp>
        <p:nvSpPr>
          <p:cNvPr id="47" name="PORT 5−"/>
          <p:cNvSpPr/>
          <p:nvPr/>
        </p:nvSpPr>
        <p:spPr>
          <a:xfrm>
            <a:off x="3319272" y="444398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 5−"/>
          <p:cNvSpPr txBox="1"/>
          <p:nvPr/>
        </p:nvSpPr>
        <p:spPr>
          <a:xfrm>
            <a:off x="3332988" y="445769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5−</a:t>
            </a:r>
          </a:p>
        </p:txBody>
      </p:sp>
      <p:cxnSp>
        <p:nvCxnSpPr>
          <p:cNvPr id="49" name="PROPOSED WIRE pulse"/>
          <p:cNvCxnSpPr/>
          <p:nvPr/>
        </p:nvCxnSpPr>
        <p:spPr>
          <a:xfrm>
            <a:off x="2935224" y="4626864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ORT 1+"/>
          <p:cNvSpPr/>
          <p:nvPr/>
        </p:nvSpPr>
        <p:spPr>
          <a:xfrm>
            <a:off x="5641848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 1+"/>
          <p:cNvSpPr txBox="1"/>
          <p:nvPr/>
        </p:nvSpPr>
        <p:spPr>
          <a:xfrm>
            <a:off x="5655564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1+</a:t>
            </a:r>
          </a:p>
        </p:txBody>
      </p:sp>
      <p:sp>
        <p:nvSpPr>
          <p:cNvPr id="52" name="PORT A1"/>
          <p:cNvSpPr/>
          <p:nvPr/>
        </p:nvSpPr>
        <p:spPr>
          <a:xfrm>
            <a:off x="6473952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A1"/>
          <p:cNvSpPr txBox="1"/>
          <p:nvPr/>
        </p:nvSpPr>
        <p:spPr>
          <a:xfrm>
            <a:off x="6487668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A1</a:t>
            </a:r>
          </a:p>
        </p:txBody>
      </p:sp>
      <p:cxnSp>
        <p:nvCxnSpPr>
          <p:cNvPr id="54" name="PROPOSED WIRE pulse"/>
          <p:cNvCxnSpPr/>
          <p:nvPr/>
        </p:nvCxnSpPr>
        <p:spPr>
          <a:xfrm>
            <a:off x="6190488" y="3822191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PORT 2−"/>
          <p:cNvSpPr/>
          <p:nvPr/>
        </p:nvSpPr>
        <p:spPr>
          <a:xfrm>
            <a:off x="5641848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 2−"/>
          <p:cNvSpPr txBox="1"/>
          <p:nvPr/>
        </p:nvSpPr>
        <p:spPr>
          <a:xfrm>
            <a:off x="5655564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2−</a:t>
            </a:r>
          </a:p>
        </p:txBody>
      </p:sp>
      <p:sp>
        <p:nvSpPr>
          <p:cNvPr id="57" name="PORT A2"/>
          <p:cNvSpPr/>
          <p:nvPr/>
        </p:nvSpPr>
        <p:spPr>
          <a:xfrm>
            <a:off x="6473952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 A2"/>
          <p:cNvSpPr txBox="1"/>
          <p:nvPr/>
        </p:nvSpPr>
        <p:spPr>
          <a:xfrm>
            <a:off x="6487668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A2</a:t>
            </a:r>
          </a:p>
        </p:txBody>
      </p:sp>
      <p:cxnSp>
        <p:nvCxnSpPr>
          <p:cNvPr id="59" name="PROPOSED WIRE pulse"/>
          <p:cNvCxnSpPr/>
          <p:nvPr/>
        </p:nvCxnSpPr>
        <p:spPr>
          <a:xfrm>
            <a:off x="6190488" y="4654296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PORT +24"/>
          <p:cNvSpPr/>
          <p:nvPr/>
        </p:nvSpPr>
        <p:spPr>
          <a:xfrm>
            <a:off x="2313432" y="21122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 +24"/>
          <p:cNvSpPr txBox="1"/>
          <p:nvPr/>
        </p:nvSpPr>
        <p:spPr>
          <a:xfrm>
            <a:off x="2327148" y="212597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62" name="PROPOSED WIRE v24"/>
          <p:cNvCxnSpPr/>
          <p:nvPr/>
        </p:nvCxnSpPr>
        <p:spPr>
          <a:xfrm>
            <a:off x="2871216" y="2295144"/>
            <a:ext cx="137160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PROPOSED WIRE v24"/>
          <p:cNvCxnSpPr/>
          <p:nvPr/>
        </p:nvCxnSpPr>
        <p:spPr>
          <a:xfrm flipV="1">
            <a:off x="3008376" y="1847088"/>
            <a:ext cx="0" cy="448056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v24"/>
          <p:cNvCxnSpPr/>
          <p:nvPr/>
        </p:nvCxnSpPr>
        <p:spPr>
          <a:xfrm>
            <a:off x="3008376" y="1847088"/>
            <a:ext cx="7260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v24"/>
          <p:cNvCxnSpPr/>
          <p:nvPr/>
        </p:nvCxnSpPr>
        <p:spPr>
          <a:xfrm>
            <a:off x="10268712" y="1847088"/>
            <a:ext cx="0" cy="4453128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PORT +3"/>
          <p:cNvSpPr/>
          <p:nvPr/>
        </p:nvSpPr>
        <p:spPr>
          <a:xfrm>
            <a:off x="10616184" y="27980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 +3"/>
          <p:cNvSpPr txBox="1"/>
          <p:nvPr/>
        </p:nvSpPr>
        <p:spPr>
          <a:xfrm>
            <a:off x="10629900" y="281177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+3</a:t>
            </a:r>
          </a:p>
        </p:txBody>
      </p:sp>
      <p:sp>
        <p:nvSpPr>
          <p:cNvPr id="68" name="PORT LED+"/>
          <p:cNvSpPr/>
          <p:nvPr/>
        </p:nvSpPr>
        <p:spPr>
          <a:xfrm>
            <a:off x="10616184" y="6117336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 LED+"/>
          <p:cNvSpPr txBox="1"/>
          <p:nvPr/>
        </p:nvSpPr>
        <p:spPr>
          <a:xfrm>
            <a:off x="10629900" y="6131051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70" name="PROPOSED WIRE v24"/>
          <p:cNvCxnSpPr/>
          <p:nvPr/>
        </p:nvCxnSpPr>
        <p:spPr>
          <a:xfrm>
            <a:off x="10268712" y="2980944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PROPOSED WIRE v24"/>
          <p:cNvCxnSpPr/>
          <p:nvPr/>
        </p:nvCxnSpPr>
        <p:spPr>
          <a:xfrm>
            <a:off x="10268712" y="6300216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ELECTRICAL JUNCTION"/>
          <p:cNvSpPr/>
          <p:nvPr/>
        </p:nvSpPr>
        <p:spPr>
          <a:xfrm>
            <a:off x="10235793" y="294802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PORT −4"/>
          <p:cNvSpPr/>
          <p:nvPr/>
        </p:nvSpPr>
        <p:spPr>
          <a:xfrm>
            <a:off x="13048488" y="3273551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−4"/>
          <p:cNvSpPr txBox="1"/>
          <p:nvPr/>
        </p:nvSpPr>
        <p:spPr>
          <a:xfrm>
            <a:off x="13062204" y="3287268"/>
            <a:ext cx="53949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−4</a:t>
            </a:r>
          </a:p>
        </p:txBody>
      </p:sp>
      <p:sp>
        <p:nvSpPr>
          <p:cNvPr id="75" name="PORT LED−"/>
          <p:cNvSpPr/>
          <p:nvPr/>
        </p:nvSpPr>
        <p:spPr>
          <a:xfrm>
            <a:off x="12975336" y="6729983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 LED−"/>
          <p:cNvSpPr txBox="1"/>
          <p:nvPr/>
        </p:nvSpPr>
        <p:spPr>
          <a:xfrm>
            <a:off x="12989052" y="674369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sp>
        <p:nvSpPr>
          <p:cNvPr id="77" name="PORT 13+"/>
          <p:cNvSpPr/>
          <p:nvPr/>
        </p:nvSpPr>
        <p:spPr>
          <a:xfrm>
            <a:off x="8385048" y="4800600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 13+"/>
          <p:cNvSpPr txBox="1"/>
          <p:nvPr/>
        </p:nvSpPr>
        <p:spPr>
          <a:xfrm>
            <a:off x="8398764" y="4814316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13+</a:t>
            </a:r>
          </a:p>
        </p:txBody>
      </p:sp>
      <p:cxnSp>
        <p:nvCxnSpPr>
          <p:cNvPr id="79" name="PROPOSED WIRE return"/>
          <p:cNvCxnSpPr/>
          <p:nvPr/>
        </p:nvCxnSpPr>
        <p:spPr>
          <a:xfrm>
            <a:off x="13615416" y="3456432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return"/>
          <p:cNvCxnSpPr/>
          <p:nvPr/>
        </p:nvCxnSpPr>
        <p:spPr>
          <a:xfrm>
            <a:off x="13807440" y="3456432"/>
            <a:ext cx="0" cy="4700016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return"/>
          <p:cNvCxnSpPr/>
          <p:nvPr/>
        </p:nvCxnSpPr>
        <p:spPr>
          <a:xfrm flipH="1">
            <a:off x="9253728" y="8156448"/>
            <a:ext cx="455371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return"/>
          <p:cNvCxnSpPr/>
          <p:nvPr/>
        </p:nvCxnSpPr>
        <p:spPr>
          <a:xfrm flipV="1">
            <a:off x="9253728" y="4983480"/>
            <a:ext cx="0" cy="3172968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PROPOSED WIRE return"/>
          <p:cNvCxnSpPr/>
          <p:nvPr/>
        </p:nvCxnSpPr>
        <p:spPr>
          <a:xfrm flipH="1">
            <a:off x="8997696" y="4983480"/>
            <a:ext cx="25603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PROPOSED WIRE return"/>
          <p:cNvCxnSpPr/>
          <p:nvPr/>
        </p:nvCxnSpPr>
        <p:spPr>
          <a:xfrm>
            <a:off x="13615416" y="6912864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ELECTRICAL JUNCTION"/>
          <p:cNvSpPr/>
          <p:nvPr/>
        </p:nvSpPr>
        <p:spPr>
          <a:xfrm>
            <a:off x="13774521" y="6879945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PORT 14−"/>
          <p:cNvSpPr/>
          <p:nvPr/>
        </p:nvSpPr>
        <p:spPr>
          <a:xfrm>
            <a:off x="8385048" y="5559552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14−"/>
          <p:cNvSpPr txBox="1"/>
          <p:nvPr/>
        </p:nvSpPr>
        <p:spPr>
          <a:xfrm>
            <a:off x="8398764" y="5573268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14−</a:t>
            </a:r>
          </a:p>
        </p:txBody>
      </p:sp>
      <p:sp>
        <p:nvSpPr>
          <p:cNvPr id="88" name="PORT 0 V"/>
          <p:cNvSpPr/>
          <p:nvPr/>
        </p:nvSpPr>
        <p:spPr>
          <a:xfrm>
            <a:off x="8394192" y="732434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"/>
          <p:cNvSpPr txBox="1"/>
          <p:nvPr/>
        </p:nvSpPr>
        <p:spPr>
          <a:xfrm>
            <a:off x="8407908" y="733806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90" name="PROPOSED WIRE return"/>
          <p:cNvCxnSpPr/>
          <p:nvPr/>
        </p:nvCxnSpPr>
        <p:spPr>
          <a:xfrm>
            <a:off x="8997696" y="5742432"/>
            <a:ext cx="822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PROPOSED WIRE return"/>
          <p:cNvCxnSpPr/>
          <p:nvPr/>
        </p:nvCxnSpPr>
        <p:spPr>
          <a:xfrm>
            <a:off x="9079992" y="5742432"/>
            <a:ext cx="0" cy="1764792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PROPOSED WIRE return"/>
          <p:cNvCxnSpPr/>
          <p:nvPr/>
        </p:nvCxnSpPr>
        <p:spPr>
          <a:xfrm flipH="1">
            <a:off x="8979408" y="7507224"/>
            <a:ext cx="10058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 W13: switched returns  | "/>
          <p:cNvSpPr txBox="1"/>
          <p:nvPr/>
        </p:nvSpPr>
        <p:spPr>
          <a:xfrm>
            <a:off x="9400032" y="7644383"/>
            <a:ext cx="4480560" cy="22860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607084"/>
                </a:solidFill>
                <a:latin typeface="Aptos"/>
              </a:rPr>
              <a:t>W13: switched returns  |  W14: 0 V</a:t>
            </a:r>
          </a:p>
        </p:txBody>
      </p:sp>
      <p:sp>
        <p:nvSpPr>
          <p:cNvPr id="94" name="TEXT Lamp follows heater deman"/>
          <p:cNvSpPr txBox="1"/>
          <p:nvPr/>
        </p:nvSpPr>
        <p:spPr>
          <a:xfrm>
            <a:off x="832104" y="5513832"/>
            <a:ext cx="2395728" cy="7132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1F344E"/>
                </a:solidFill>
                <a:latin typeface="Aptos"/>
              </a:rPr>
              <a:t>Lamp follows heater demand; it does NOT measure actual heater current.</a:t>
            </a:r>
          </a:p>
        </p:txBody>
      </p:sp>
      <p:sp>
        <p:nvSpPr>
          <p:cNvPr id="95" name="TEXT Electrical check: SSR inp"/>
          <p:cNvSpPr txBox="1"/>
          <p:nvPr/>
        </p:nvSpPr>
        <p:spPr>
          <a:xfrm>
            <a:off x="850392" y="6803136"/>
            <a:ext cx="5477256" cy="59436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A35B1B"/>
                </a:solidFill>
                <a:latin typeface="Aptos"/>
              </a:rPr>
              <a:t>Datasheet budget: SSR max 15 mA + HL yellow LED max 20 mA = 35 mA per channel; W1/W2 DC1 output max 100 mA. Verify live circuit.</a:t>
            </a:r>
          </a:p>
        </p:txBody>
      </p:sp>
      <p:sp>
        <p:nvSpPr>
          <p:cNvPr id="9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 TC / 12 V demand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TC / 12 V demand</a:t>
            </a:r>
          </a:p>
        </p:txBody>
      </p:sp>
      <p:sp>
        <p:nvSpPr>
          <p:cNvPr id="9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 24 V to both loads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24 V to both loads</a:t>
            </a:r>
          </a:p>
        </p:txBody>
      </p:sp>
      <p:sp>
        <p:nvSpPr>
          <p:cNvPr id="10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 Switched return"/>
          <p:cNvSpPr txBox="1"/>
          <p:nvPr/>
        </p:nvSpPr>
        <p:spPr>
          <a:xfrm>
            <a:off x="11548872" y="1142999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Switched return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6  /  CHANNEL 2 / SSR DR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06  /  CHANNEL 2 / SSR DRIVE + HEATER ACTIVITY LED</a:t>
            </a:r>
          </a:p>
        </p:txBody>
      </p:sp>
      <p:sp>
        <p:nvSpPr>
          <p:cNvPr id="3" name="TEXT Omron 12 V SSR demand con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Omron 12 V SSR demand controls an isolated Weidmüller interface switching both Crydom input and activity LED.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HERMOCOUPLE  /  PULSE IN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THERMOCOUPLE  /  PULSE INTERFACE  /  TWO PARALLEL 24 V LOADS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6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06</a:t>
            </a:r>
          </a:p>
        </p:txBody>
      </p:sp>
      <p:sp>
        <p:nvSpPr>
          <p:cNvPr id="10" name="TEXT LED is on the 24 V CONTRO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LED is on the 24 V CONTROL circuit, not the external heater: HL1/HL2 = RS 130-1086, yellow, 24 V DC, 20 mA max.</a:t>
            </a:r>
          </a:p>
        </p:txBody>
      </p:sp>
      <p:sp>
        <p:nvSpPr>
          <p:cNvPr id="11" name="COMPONENT JTC2  TYPE K"/>
          <p:cNvSpPr/>
          <p:nvPr/>
        </p:nvSpPr>
        <p:spPr>
          <a:xfrm>
            <a:off x="685800" y="2999232"/>
            <a:ext cx="2121408" cy="21945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TC2  TYPE K"/>
          <p:cNvSpPr txBox="1"/>
          <p:nvPr/>
        </p:nvSpPr>
        <p:spPr>
          <a:xfrm>
            <a:off x="850392" y="3136391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220" b="1">
                <a:solidFill>
                  <a:srgbClr val="1F344E"/>
                </a:solidFill>
                <a:latin typeface="Aptos"/>
              </a:rPr>
              <a:t>JTC2  TYPE K</a:t>
            </a:r>
          </a:p>
        </p:txBody>
      </p:sp>
      <p:sp>
        <p:nvSpPr>
          <p:cNvPr id="13" name="TEXT External sensor"/>
          <p:cNvSpPr txBox="1"/>
          <p:nvPr/>
        </p:nvSpPr>
        <p:spPr>
          <a:xfrm>
            <a:off x="850392" y="3447287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sensor</a:t>
            </a:r>
          </a:p>
        </p:txBody>
      </p:sp>
      <p:sp>
        <p:nvSpPr>
          <p:cNvPr id="14" name="TEXT Connector model TBD"/>
          <p:cNvSpPr txBox="1"/>
          <p:nvPr/>
        </p:nvSpPr>
        <p:spPr>
          <a:xfrm>
            <a:off x="850392" y="3721608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Connector model TBD</a:t>
            </a:r>
          </a:p>
        </p:txBody>
      </p:sp>
      <p:sp>
        <p:nvSpPr>
          <p:cNvPr id="15" name="COMPONENT E2  OMRON"/>
          <p:cNvSpPr/>
          <p:nvPr/>
        </p:nvSpPr>
        <p:spPr>
          <a:xfrm>
            <a:off x="3447288" y="2743200"/>
            <a:ext cx="2615184" cy="356616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E2  OMRON"/>
          <p:cNvSpPr txBox="1"/>
          <p:nvPr/>
        </p:nvSpPr>
        <p:spPr>
          <a:xfrm>
            <a:off x="3611880" y="2880360"/>
            <a:ext cx="2313432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40" b="1">
                <a:solidFill>
                  <a:srgbClr val="1F344E"/>
                </a:solidFill>
                <a:latin typeface="Aptos"/>
              </a:rPr>
              <a:t>E2  OMRON</a:t>
            </a:r>
          </a:p>
        </p:txBody>
      </p:sp>
      <p:sp>
        <p:nvSpPr>
          <p:cNvPr id="17" name="TEXT E5CC-TQX3A5M-003"/>
          <p:cNvSpPr txBox="1"/>
          <p:nvPr/>
        </p:nvSpPr>
        <p:spPr>
          <a:xfrm>
            <a:off x="3611880" y="3191256"/>
            <a:ext cx="2313432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E5CC-TQX3A5M-003</a:t>
            </a:r>
          </a:p>
        </p:txBody>
      </p:sp>
      <p:sp>
        <p:nvSpPr>
          <p:cNvPr id="18" name="TEXT 12 V SSR demand output; T"/>
          <p:cNvSpPr txBox="1"/>
          <p:nvPr/>
        </p:nvSpPr>
        <p:spPr>
          <a:xfrm>
            <a:off x="3611880" y="3465576"/>
            <a:ext cx="22860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12 V SSR demand output; TC input</a:t>
            </a:r>
          </a:p>
        </p:txBody>
      </p:sp>
      <p:sp>
        <p:nvSpPr>
          <p:cNvPr id="19" name="MFR LINK E2  OMRON"/>
          <p:cNvSpPr txBox="1"/>
          <p:nvPr/>
        </p:nvSpPr>
        <p:spPr>
          <a:xfrm>
            <a:off x="3611880" y="5998464"/>
            <a:ext cx="22860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W2  WEIDMÜLLER"/>
          <p:cNvSpPr/>
          <p:nvPr/>
        </p:nvSpPr>
        <p:spPr>
          <a:xfrm>
            <a:off x="6601968" y="2743200"/>
            <a:ext cx="2267712" cy="35661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W2  WEIDMÜLLER"/>
          <p:cNvSpPr txBox="1"/>
          <p:nvPr/>
        </p:nvSpPr>
        <p:spPr>
          <a:xfrm>
            <a:off x="6766559" y="2880360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W2  WEIDMÜLLER</a:t>
            </a:r>
          </a:p>
        </p:txBody>
      </p:sp>
      <p:sp>
        <p:nvSpPr>
          <p:cNvPr id="22" name="TEXT 8950770000"/>
          <p:cNvSpPr txBox="1"/>
          <p:nvPr/>
        </p:nvSpPr>
        <p:spPr>
          <a:xfrm>
            <a:off x="6766559" y="3191256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8950770000</a:t>
            </a:r>
          </a:p>
        </p:txBody>
      </p:sp>
      <p:sp>
        <p:nvSpPr>
          <p:cNvPr id="23" name="TEXT Transistor switch 13 (+) "/>
          <p:cNvSpPr txBox="1"/>
          <p:nvPr/>
        </p:nvSpPr>
        <p:spPr>
          <a:xfrm>
            <a:off x="6766559" y="3465576"/>
            <a:ext cx="1938528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Transistor switch 13 (+) / 14 (−)</a:t>
            </a:r>
          </a:p>
        </p:txBody>
      </p:sp>
      <p:sp>
        <p:nvSpPr>
          <p:cNvPr id="24" name="MFR LINK W2  WEIDMÜLLER"/>
          <p:cNvSpPr txBox="1"/>
          <p:nvPr/>
        </p:nvSpPr>
        <p:spPr>
          <a:xfrm>
            <a:off x="6766559" y="5998464"/>
            <a:ext cx="1938528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2  CRYDOM"/>
          <p:cNvSpPr/>
          <p:nvPr/>
        </p:nvSpPr>
        <p:spPr>
          <a:xfrm>
            <a:off x="10744200" y="2176272"/>
            <a:ext cx="2743200" cy="2039112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2  CRYDOM"/>
          <p:cNvSpPr txBox="1"/>
          <p:nvPr/>
        </p:nvSpPr>
        <p:spPr>
          <a:xfrm>
            <a:off x="10908792" y="2313432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20" b="1">
                <a:solidFill>
                  <a:srgbClr val="1F344E"/>
                </a:solidFill>
                <a:latin typeface="Aptos"/>
              </a:rPr>
              <a:t>SSR2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10908792" y="2624328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24 V control input (3+/4−"/>
          <p:cNvSpPr txBox="1"/>
          <p:nvPr/>
        </p:nvSpPr>
        <p:spPr>
          <a:xfrm>
            <a:off x="10908792" y="2898648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24 V control input (3+/4−)</a:t>
            </a:r>
          </a:p>
        </p:txBody>
      </p:sp>
      <p:sp>
        <p:nvSpPr>
          <p:cNvPr id="29" name="MFR LINK SSR2  CRYDOM"/>
          <p:cNvSpPr txBox="1"/>
          <p:nvPr/>
        </p:nvSpPr>
        <p:spPr>
          <a:xfrm>
            <a:off x="10908792" y="3904487"/>
            <a:ext cx="24140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HL2  ACTIVITY LED"/>
          <p:cNvSpPr/>
          <p:nvPr/>
        </p:nvSpPr>
        <p:spPr>
          <a:xfrm>
            <a:off x="10744200" y="5084064"/>
            <a:ext cx="2743200" cy="2459736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HL2  ACTIVITY LED"/>
          <p:cNvSpPr txBox="1"/>
          <p:nvPr/>
        </p:nvSpPr>
        <p:spPr>
          <a:xfrm>
            <a:off x="10908792" y="5221224"/>
            <a:ext cx="24414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F344E"/>
                </a:solidFill>
                <a:latin typeface="Aptos"/>
              </a:rPr>
              <a:t>HL2  ACTIVITY LED</a:t>
            </a:r>
          </a:p>
        </p:txBody>
      </p:sp>
      <p:sp>
        <p:nvSpPr>
          <p:cNvPr id="32" name="TEXT 24 V DC, integrated resis"/>
          <p:cNvSpPr txBox="1"/>
          <p:nvPr/>
        </p:nvSpPr>
        <p:spPr>
          <a:xfrm>
            <a:off x="10908792" y="5532120"/>
            <a:ext cx="24414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24 V DC, integrated resistor</a:t>
            </a:r>
          </a:p>
        </p:txBody>
      </p:sp>
      <p:sp>
        <p:nvSpPr>
          <p:cNvPr id="33" name="TEXT Selected part &amp; current T"/>
          <p:cNvSpPr txBox="1"/>
          <p:nvPr/>
        </p:nvSpPr>
        <p:spPr>
          <a:xfrm>
            <a:off x="10908792" y="5806440"/>
            <a:ext cx="24140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  <a:hlinkClick r:id="rId5"/>
              </a:rPr>
              <a:t>RS 130-1086  •  20 mA max</a:t>
            </a:r>
          </a:p>
        </p:txBody>
      </p:sp>
      <p:sp>
        <p:nvSpPr>
          <p:cNvPr id="34" name="COMPONENT X4  GATED +24"/>
          <p:cNvSpPr/>
          <p:nvPr/>
        </p:nvSpPr>
        <p:spPr>
          <a:xfrm>
            <a:off x="722376" y="1975104"/>
            <a:ext cx="2020824" cy="67665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X4  GATED +24"/>
          <p:cNvSpPr txBox="1"/>
          <p:nvPr/>
        </p:nvSpPr>
        <p:spPr>
          <a:xfrm>
            <a:off x="886968" y="2112264"/>
            <a:ext cx="1719072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40" b="1">
                <a:solidFill>
                  <a:srgbClr val="1F344E"/>
                </a:solidFill>
                <a:latin typeface="Aptos"/>
              </a:rPr>
              <a:t>X4  GATED +24</a:t>
            </a:r>
          </a:p>
        </p:txBody>
      </p:sp>
      <p:sp>
        <p:nvSpPr>
          <p:cNvPr id="36" name="TEXT From selector"/>
          <p:cNvSpPr txBox="1"/>
          <p:nvPr/>
        </p:nvSpPr>
        <p:spPr>
          <a:xfrm>
            <a:off x="886968" y="2423160"/>
            <a:ext cx="1719072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From selector</a:t>
            </a:r>
          </a:p>
        </p:txBody>
      </p:sp>
      <p:sp>
        <p:nvSpPr>
          <p:cNvPr id="37" name="COMPONENT X2  0 V RETURN"/>
          <p:cNvSpPr/>
          <p:nvPr/>
        </p:nvSpPr>
        <p:spPr>
          <a:xfrm>
            <a:off x="6583680" y="7114032"/>
            <a:ext cx="2267712" cy="768096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 X2  0 V RETURN"/>
          <p:cNvSpPr txBox="1"/>
          <p:nvPr/>
        </p:nvSpPr>
        <p:spPr>
          <a:xfrm>
            <a:off x="6748272" y="7251192"/>
            <a:ext cx="1965960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9" b="1">
                <a:solidFill>
                  <a:srgbClr val="1F344E"/>
                </a:solidFill>
                <a:latin typeface="Aptos"/>
              </a:rPr>
              <a:t>X2  0 V RETURN</a:t>
            </a:r>
          </a:p>
        </p:txBody>
      </p:sp>
      <p:sp>
        <p:nvSpPr>
          <p:cNvPr id="39" name="TEXT Shared control return"/>
          <p:cNvSpPr txBox="1"/>
          <p:nvPr/>
        </p:nvSpPr>
        <p:spPr>
          <a:xfrm>
            <a:off x="6748272" y="7562088"/>
            <a:ext cx="196596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Shared control return</a:t>
            </a:r>
          </a:p>
        </p:txBody>
      </p:sp>
      <p:sp>
        <p:nvSpPr>
          <p:cNvPr id="40" name="PORT TC+"/>
          <p:cNvSpPr/>
          <p:nvPr/>
        </p:nvSpPr>
        <p:spPr>
          <a:xfrm>
            <a:off x="2350008" y="3730752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TC+"/>
          <p:cNvSpPr txBox="1"/>
          <p:nvPr/>
        </p:nvSpPr>
        <p:spPr>
          <a:xfrm>
            <a:off x="2363724" y="3744468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TC+</a:t>
            </a:r>
          </a:p>
        </p:txBody>
      </p:sp>
      <p:sp>
        <p:nvSpPr>
          <p:cNvPr id="42" name="PORT 6+"/>
          <p:cNvSpPr/>
          <p:nvPr/>
        </p:nvSpPr>
        <p:spPr>
          <a:xfrm>
            <a:off x="3319272" y="3730752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6+"/>
          <p:cNvSpPr txBox="1"/>
          <p:nvPr/>
        </p:nvSpPr>
        <p:spPr>
          <a:xfrm>
            <a:off x="3332988" y="3744468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6+</a:t>
            </a:r>
          </a:p>
        </p:txBody>
      </p:sp>
      <p:cxnSp>
        <p:nvCxnSpPr>
          <p:cNvPr id="44" name="PROPOSED WIRE pulse"/>
          <p:cNvCxnSpPr/>
          <p:nvPr/>
        </p:nvCxnSpPr>
        <p:spPr>
          <a:xfrm>
            <a:off x="2935224" y="3913632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ORT TC−"/>
          <p:cNvSpPr/>
          <p:nvPr/>
        </p:nvSpPr>
        <p:spPr>
          <a:xfrm>
            <a:off x="2350008" y="4443983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 TC−"/>
          <p:cNvSpPr txBox="1"/>
          <p:nvPr/>
        </p:nvSpPr>
        <p:spPr>
          <a:xfrm>
            <a:off x="2363724" y="4457699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TC−</a:t>
            </a:r>
          </a:p>
        </p:txBody>
      </p:sp>
      <p:sp>
        <p:nvSpPr>
          <p:cNvPr id="47" name="PORT 5−"/>
          <p:cNvSpPr/>
          <p:nvPr/>
        </p:nvSpPr>
        <p:spPr>
          <a:xfrm>
            <a:off x="3319272" y="444398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 5−"/>
          <p:cNvSpPr txBox="1"/>
          <p:nvPr/>
        </p:nvSpPr>
        <p:spPr>
          <a:xfrm>
            <a:off x="3332988" y="445769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5−</a:t>
            </a:r>
          </a:p>
        </p:txBody>
      </p:sp>
      <p:cxnSp>
        <p:nvCxnSpPr>
          <p:cNvPr id="49" name="PROPOSED WIRE pulse"/>
          <p:cNvCxnSpPr/>
          <p:nvPr/>
        </p:nvCxnSpPr>
        <p:spPr>
          <a:xfrm>
            <a:off x="2935224" y="4626864"/>
            <a:ext cx="384048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ORT 1+"/>
          <p:cNvSpPr/>
          <p:nvPr/>
        </p:nvSpPr>
        <p:spPr>
          <a:xfrm>
            <a:off x="5641848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 1+"/>
          <p:cNvSpPr txBox="1"/>
          <p:nvPr/>
        </p:nvSpPr>
        <p:spPr>
          <a:xfrm>
            <a:off x="5655564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1+</a:t>
            </a:r>
          </a:p>
        </p:txBody>
      </p:sp>
      <p:sp>
        <p:nvSpPr>
          <p:cNvPr id="52" name="PORT A1"/>
          <p:cNvSpPr/>
          <p:nvPr/>
        </p:nvSpPr>
        <p:spPr>
          <a:xfrm>
            <a:off x="6473952" y="3639311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A1"/>
          <p:cNvSpPr txBox="1"/>
          <p:nvPr/>
        </p:nvSpPr>
        <p:spPr>
          <a:xfrm>
            <a:off x="6487668" y="3653027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A1</a:t>
            </a:r>
          </a:p>
        </p:txBody>
      </p:sp>
      <p:cxnSp>
        <p:nvCxnSpPr>
          <p:cNvPr id="54" name="PROPOSED WIRE pulse"/>
          <p:cNvCxnSpPr/>
          <p:nvPr/>
        </p:nvCxnSpPr>
        <p:spPr>
          <a:xfrm>
            <a:off x="6190488" y="3822191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PORT 2−"/>
          <p:cNvSpPr/>
          <p:nvPr/>
        </p:nvSpPr>
        <p:spPr>
          <a:xfrm>
            <a:off x="5641848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 2−"/>
          <p:cNvSpPr txBox="1"/>
          <p:nvPr/>
        </p:nvSpPr>
        <p:spPr>
          <a:xfrm>
            <a:off x="5655564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2−</a:t>
            </a:r>
          </a:p>
        </p:txBody>
      </p:sp>
      <p:sp>
        <p:nvSpPr>
          <p:cNvPr id="57" name="PORT A2"/>
          <p:cNvSpPr/>
          <p:nvPr/>
        </p:nvSpPr>
        <p:spPr>
          <a:xfrm>
            <a:off x="6473952" y="4471416"/>
            <a:ext cx="54864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 A2"/>
          <p:cNvSpPr txBox="1"/>
          <p:nvPr/>
        </p:nvSpPr>
        <p:spPr>
          <a:xfrm>
            <a:off x="6487668" y="4485131"/>
            <a:ext cx="52120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74EA3"/>
                </a:solidFill>
                <a:latin typeface="Aptos"/>
              </a:rPr>
              <a:t>A2</a:t>
            </a:r>
          </a:p>
        </p:txBody>
      </p:sp>
      <p:cxnSp>
        <p:nvCxnSpPr>
          <p:cNvPr id="59" name="PROPOSED WIRE pulse"/>
          <p:cNvCxnSpPr/>
          <p:nvPr/>
        </p:nvCxnSpPr>
        <p:spPr>
          <a:xfrm>
            <a:off x="6190488" y="4654296"/>
            <a:ext cx="283464" cy="0"/>
          </a:xfrm>
          <a:prstGeom prst="line">
            <a:avLst/>
          </a:prstGeom>
          <a:ln w="27305">
            <a:solidFill>
              <a:srgbClr val="674E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PORT +24"/>
          <p:cNvSpPr/>
          <p:nvPr/>
        </p:nvSpPr>
        <p:spPr>
          <a:xfrm>
            <a:off x="2313432" y="21122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 +24"/>
          <p:cNvSpPr txBox="1"/>
          <p:nvPr/>
        </p:nvSpPr>
        <p:spPr>
          <a:xfrm>
            <a:off x="2327148" y="212597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+24</a:t>
            </a:r>
          </a:p>
        </p:txBody>
      </p:sp>
      <p:cxnSp>
        <p:nvCxnSpPr>
          <p:cNvPr id="62" name="PROPOSED WIRE v24"/>
          <p:cNvCxnSpPr/>
          <p:nvPr/>
        </p:nvCxnSpPr>
        <p:spPr>
          <a:xfrm>
            <a:off x="2871216" y="2295144"/>
            <a:ext cx="137160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PROPOSED WIRE v24"/>
          <p:cNvCxnSpPr/>
          <p:nvPr/>
        </p:nvCxnSpPr>
        <p:spPr>
          <a:xfrm flipV="1">
            <a:off x="3008376" y="1847088"/>
            <a:ext cx="0" cy="448056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v24"/>
          <p:cNvCxnSpPr/>
          <p:nvPr/>
        </p:nvCxnSpPr>
        <p:spPr>
          <a:xfrm>
            <a:off x="3008376" y="1847088"/>
            <a:ext cx="7260336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v24"/>
          <p:cNvCxnSpPr/>
          <p:nvPr/>
        </p:nvCxnSpPr>
        <p:spPr>
          <a:xfrm>
            <a:off x="10268712" y="1847088"/>
            <a:ext cx="0" cy="4453128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PORT +3"/>
          <p:cNvSpPr/>
          <p:nvPr/>
        </p:nvSpPr>
        <p:spPr>
          <a:xfrm>
            <a:off x="10616184" y="2798063"/>
            <a:ext cx="557784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 +3"/>
          <p:cNvSpPr txBox="1"/>
          <p:nvPr/>
        </p:nvSpPr>
        <p:spPr>
          <a:xfrm>
            <a:off x="10629900" y="2811779"/>
            <a:ext cx="530352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+3</a:t>
            </a:r>
          </a:p>
        </p:txBody>
      </p:sp>
      <p:sp>
        <p:nvSpPr>
          <p:cNvPr id="68" name="PORT LED+"/>
          <p:cNvSpPr/>
          <p:nvPr/>
        </p:nvSpPr>
        <p:spPr>
          <a:xfrm>
            <a:off x="10616184" y="6117336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 LED+"/>
          <p:cNvSpPr txBox="1"/>
          <p:nvPr/>
        </p:nvSpPr>
        <p:spPr>
          <a:xfrm>
            <a:off x="10629900" y="6131051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008192"/>
                </a:solidFill>
                <a:latin typeface="Aptos"/>
              </a:rPr>
              <a:t>LED+</a:t>
            </a:r>
          </a:p>
        </p:txBody>
      </p:sp>
      <p:cxnSp>
        <p:nvCxnSpPr>
          <p:cNvPr id="70" name="PROPOSED WIRE v24"/>
          <p:cNvCxnSpPr/>
          <p:nvPr/>
        </p:nvCxnSpPr>
        <p:spPr>
          <a:xfrm>
            <a:off x="10268712" y="2980944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PROPOSED WIRE v24"/>
          <p:cNvCxnSpPr/>
          <p:nvPr/>
        </p:nvCxnSpPr>
        <p:spPr>
          <a:xfrm>
            <a:off x="10268712" y="6300216"/>
            <a:ext cx="347472" cy="0"/>
          </a:xfrm>
          <a:prstGeom prst="line">
            <a:avLst/>
          </a:prstGeom>
          <a:ln w="27305">
            <a:solidFill>
              <a:srgbClr val="008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ELECTRICAL JUNCTION"/>
          <p:cNvSpPr/>
          <p:nvPr/>
        </p:nvSpPr>
        <p:spPr>
          <a:xfrm>
            <a:off x="10235793" y="2948025"/>
            <a:ext cx="65836" cy="658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PORT −4"/>
          <p:cNvSpPr/>
          <p:nvPr/>
        </p:nvSpPr>
        <p:spPr>
          <a:xfrm>
            <a:off x="13048488" y="3273551"/>
            <a:ext cx="56692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 −4"/>
          <p:cNvSpPr txBox="1"/>
          <p:nvPr/>
        </p:nvSpPr>
        <p:spPr>
          <a:xfrm>
            <a:off x="13062204" y="3287268"/>
            <a:ext cx="53949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−4</a:t>
            </a:r>
          </a:p>
        </p:txBody>
      </p:sp>
      <p:sp>
        <p:nvSpPr>
          <p:cNvPr id="75" name="PORT LED−"/>
          <p:cNvSpPr/>
          <p:nvPr/>
        </p:nvSpPr>
        <p:spPr>
          <a:xfrm>
            <a:off x="12975336" y="6729983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 LED−"/>
          <p:cNvSpPr txBox="1"/>
          <p:nvPr/>
        </p:nvSpPr>
        <p:spPr>
          <a:xfrm>
            <a:off x="12989052" y="6743699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LED−</a:t>
            </a:r>
          </a:p>
        </p:txBody>
      </p:sp>
      <p:sp>
        <p:nvSpPr>
          <p:cNvPr id="77" name="PORT 13+"/>
          <p:cNvSpPr/>
          <p:nvPr/>
        </p:nvSpPr>
        <p:spPr>
          <a:xfrm>
            <a:off x="8385048" y="4800600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 13+"/>
          <p:cNvSpPr txBox="1"/>
          <p:nvPr/>
        </p:nvSpPr>
        <p:spPr>
          <a:xfrm>
            <a:off x="8398764" y="4814316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13+</a:t>
            </a:r>
          </a:p>
        </p:txBody>
      </p:sp>
      <p:cxnSp>
        <p:nvCxnSpPr>
          <p:cNvPr id="79" name="PROPOSED WIRE return"/>
          <p:cNvCxnSpPr/>
          <p:nvPr/>
        </p:nvCxnSpPr>
        <p:spPr>
          <a:xfrm>
            <a:off x="13615416" y="3456432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return"/>
          <p:cNvCxnSpPr/>
          <p:nvPr/>
        </p:nvCxnSpPr>
        <p:spPr>
          <a:xfrm>
            <a:off x="13807440" y="3456432"/>
            <a:ext cx="0" cy="4700016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return"/>
          <p:cNvCxnSpPr/>
          <p:nvPr/>
        </p:nvCxnSpPr>
        <p:spPr>
          <a:xfrm flipH="1">
            <a:off x="9253728" y="8156448"/>
            <a:ext cx="455371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return"/>
          <p:cNvCxnSpPr/>
          <p:nvPr/>
        </p:nvCxnSpPr>
        <p:spPr>
          <a:xfrm flipV="1">
            <a:off x="9253728" y="4983480"/>
            <a:ext cx="0" cy="3172968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PROPOSED WIRE return"/>
          <p:cNvCxnSpPr/>
          <p:nvPr/>
        </p:nvCxnSpPr>
        <p:spPr>
          <a:xfrm flipH="1">
            <a:off x="8997696" y="4983480"/>
            <a:ext cx="256032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PROPOSED WIRE return"/>
          <p:cNvCxnSpPr/>
          <p:nvPr/>
        </p:nvCxnSpPr>
        <p:spPr>
          <a:xfrm>
            <a:off x="13615416" y="6912864"/>
            <a:ext cx="19202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ELECTRICAL JUNCTION"/>
          <p:cNvSpPr/>
          <p:nvPr/>
        </p:nvSpPr>
        <p:spPr>
          <a:xfrm>
            <a:off x="13774521" y="6879945"/>
            <a:ext cx="65836" cy="658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PORT 14−"/>
          <p:cNvSpPr/>
          <p:nvPr/>
        </p:nvSpPr>
        <p:spPr>
          <a:xfrm>
            <a:off x="8385048" y="5559552"/>
            <a:ext cx="612648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14−"/>
          <p:cNvSpPr txBox="1"/>
          <p:nvPr/>
        </p:nvSpPr>
        <p:spPr>
          <a:xfrm>
            <a:off x="8398764" y="5573268"/>
            <a:ext cx="585216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14−</a:t>
            </a:r>
          </a:p>
        </p:txBody>
      </p:sp>
      <p:sp>
        <p:nvSpPr>
          <p:cNvPr id="88" name="PORT 0 V"/>
          <p:cNvSpPr/>
          <p:nvPr/>
        </p:nvSpPr>
        <p:spPr>
          <a:xfrm>
            <a:off x="8394192" y="732434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0 V"/>
          <p:cNvSpPr txBox="1"/>
          <p:nvPr/>
        </p:nvSpPr>
        <p:spPr>
          <a:xfrm>
            <a:off x="8407908" y="733806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0 V</a:t>
            </a:r>
          </a:p>
        </p:txBody>
      </p:sp>
      <p:cxnSp>
        <p:nvCxnSpPr>
          <p:cNvPr id="90" name="PROPOSED WIRE return"/>
          <p:cNvCxnSpPr/>
          <p:nvPr/>
        </p:nvCxnSpPr>
        <p:spPr>
          <a:xfrm>
            <a:off x="8997696" y="5742432"/>
            <a:ext cx="82296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PROPOSED WIRE return"/>
          <p:cNvCxnSpPr/>
          <p:nvPr/>
        </p:nvCxnSpPr>
        <p:spPr>
          <a:xfrm>
            <a:off x="9079992" y="5742432"/>
            <a:ext cx="0" cy="1764792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PROPOSED WIRE return"/>
          <p:cNvCxnSpPr/>
          <p:nvPr/>
        </p:nvCxnSpPr>
        <p:spPr>
          <a:xfrm flipH="1">
            <a:off x="8979408" y="7507224"/>
            <a:ext cx="100584" cy="0"/>
          </a:xfrm>
          <a:prstGeom prst="line">
            <a:avLst/>
          </a:prstGeom>
          <a:ln w="27940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 W13: switched returns  | "/>
          <p:cNvSpPr txBox="1"/>
          <p:nvPr/>
        </p:nvSpPr>
        <p:spPr>
          <a:xfrm>
            <a:off x="9400032" y="7644383"/>
            <a:ext cx="4480560" cy="22860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5" b="1">
                <a:solidFill>
                  <a:srgbClr val="607084"/>
                </a:solidFill>
                <a:latin typeface="Aptos"/>
              </a:rPr>
              <a:t>W13: switched returns  |  W14: 0 V</a:t>
            </a:r>
          </a:p>
        </p:txBody>
      </p:sp>
      <p:sp>
        <p:nvSpPr>
          <p:cNvPr id="94" name="TEXT Lamp follows heater deman"/>
          <p:cNvSpPr txBox="1"/>
          <p:nvPr/>
        </p:nvSpPr>
        <p:spPr>
          <a:xfrm>
            <a:off x="832104" y="5513832"/>
            <a:ext cx="2395728" cy="71323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880" b="0">
                <a:solidFill>
                  <a:srgbClr val="1F344E"/>
                </a:solidFill>
                <a:latin typeface="Aptos"/>
              </a:rPr>
              <a:t>Lamp follows heater demand; it does NOT measure actual heater current.</a:t>
            </a:r>
          </a:p>
        </p:txBody>
      </p:sp>
      <p:sp>
        <p:nvSpPr>
          <p:cNvPr id="95" name="TEXT Electrical check: SSR inp"/>
          <p:cNvSpPr txBox="1"/>
          <p:nvPr/>
        </p:nvSpPr>
        <p:spPr>
          <a:xfrm>
            <a:off x="850392" y="6803136"/>
            <a:ext cx="5477256" cy="594360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A35B1B"/>
                </a:solidFill>
                <a:latin typeface="Aptos"/>
              </a:rPr>
              <a:t>Datasheet budget: SSR max 15 mA + HL yellow LED max 20 mA = 35 mA per channel; W1/W2 DC1 output max 100 mA. Verify live circuit.</a:t>
            </a:r>
          </a:p>
        </p:txBody>
      </p:sp>
      <p:sp>
        <p:nvSpPr>
          <p:cNvPr id="9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674EA3"/>
          </a:solidFill>
          <a:ln w="1270">
            <a:solidFill>
              <a:srgbClr val="674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 TC / 12 V demand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TC / 12 V demand</a:t>
            </a:r>
          </a:p>
        </p:txBody>
      </p:sp>
      <p:sp>
        <p:nvSpPr>
          <p:cNvPr id="9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 24 V to both loads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24 V to both loads</a:t>
            </a:r>
          </a:p>
        </p:txBody>
      </p:sp>
      <p:sp>
        <p:nvSpPr>
          <p:cNvPr id="100" name="KEY"/>
          <p:cNvSpPr/>
          <p:nvPr/>
        </p:nvSpPr>
        <p:spPr>
          <a:xfrm>
            <a:off x="11155680" y="1243584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 Switched return"/>
          <p:cNvSpPr txBox="1"/>
          <p:nvPr/>
        </p:nvSpPr>
        <p:spPr>
          <a:xfrm>
            <a:off x="11548872" y="1142999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Switched return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7  /  CHANNEL 1 / COMPLE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07  /  CHANNEL 1 / COMPLETE DC HEATER POWER LOOP</a:t>
            </a:r>
          </a:p>
        </p:txBody>
      </p:sp>
      <p:sp>
        <p:nvSpPr>
          <p:cNvPr id="3" name="TEXT External 0–60 V DC supply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External 0–60 V DC supply, breaker, polarity-sensitive Finder DC relay, Crydom SSR and direct return.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INDEPENDENT HEATER SUPPLY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INDEPENDENT HEATER SUPPLY  /  15 A MAX DESIGN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7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07</a:t>
            </a:r>
          </a:p>
        </p:txBody>
      </p:sp>
      <p:sp>
        <p:nvSpPr>
          <p:cNvPr id="10" name="TEXT Finder contact 34 (+) → 1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Finder contact 34 (+) → 14 (−) and SSR load +1 → −2 are both in the POSITIVE current path.</a:t>
            </a:r>
          </a:p>
        </p:txBody>
      </p:sp>
      <p:sp>
        <p:nvSpPr>
          <p:cNvPr id="11" name="COMPONENT JP1-IN  DC SUPPLY"/>
          <p:cNvSpPr/>
          <p:nvPr/>
        </p:nvSpPr>
        <p:spPr>
          <a:xfrm>
            <a:off x="640080" y="2505456"/>
            <a:ext cx="2121408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P1-IN  DC SUPPLY"/>
          <p:cNvSpPr txBox="1"/>
          <p:nvPr/>
        </p:nvSpPr>
        <p:spPr>
          <a:xfrm>
            <a:off x="804671" y="2642616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JP1-IN  DC SUPPLY</a:t>
            </a:r>
          </a:p>
        </p:txBody>
      </p:sp>
      <p:sp>
        <p:nvSpPr>
          <p:cNvPr id="13" name="TEXT 0–60 V / up to 15 A"/>
          <p:cNvSpPr txBox="1"/>
          <p:nvPr/>
        </p:nvSpPr>
        <p:spPr>
          <a:xfrm>
            <a:off x="804671" y="2953512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0–60 V / up to 15 A</a:t>
            </a:r>
          </a:p>
        </p:txBody>
      </p:sp>
      <p:sp>
        <p:nvSpPr>
          <p:cNvPr id="14" name="TEXT Connector &amp; cable TBD"/>
          <p:cNvSpPr txBox="1"/>
          <p:nvPr/>
        </p:nvSpPr>
        <p:spPr>
          <a:xfrm>
            <a:off x="804671" y="3227832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Connector &amp; cable TBD</a:t>
            </a:r>
          </a:p>
        </p:txBody>
      </p:sp>
      <p:sp>
        <p:nvSpPr>
          <p:cNvPr id="15" name="COMPONENT QF1  LOVATO"/>
          <p:cNvSpPr/>
          <p:nvPr/>
        </p:nvSpPr>
        <p:spPr>
          <a:xfrm>
            <a:off x="3282696" y="2505456"/>
            <a:ext cx="1929384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QF1  LOVATO"/>
          <p:cNvSpPr txBox="1"/>
          <p:nvPr/>
        </p:nvSpPr>
        <p:spPr>
          <a:xfrm>
            <a:off x="3447288" y="2642616"/>
            <a:ext cx="1627631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QF1  LOVATO</a:t>
            </a:r>
          </a:p>
        </p:txBody>
      </p:sp>
      <p:sp>
        <p:nvSpPr>
          <p:cNvPr id="17" name="TEXT P1MB1PC16"/>
          <p:cNvSpPr txBox="1"/>
          <p:nvPr/>
        </p:nvSpPr>
        <p:spPr>
          <a:xfrm>
            <a:off x="3447288" y="2953512"/>
            <a:ext cx="1627631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P1MB1PC16</a:t>
            </a:r>
          </a:p>
        </p:txBody>
      </p:sp>
      <p:sp>
        <p:nvSpPr>
          <p:cNvPr id="18" name="TEXT 16 A / 80 V DC MCB"/>
          <p:cNvSpPr txBox="1"/>
          <p:nvPr/>
        </p:nvSpPr>
        <p:spPr>
          <a:xfrm>
            <a:off x="3447288" y="3227832"/>
            <a:ext cx="16002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16 A / 80 V DC MCB</a:t>
            </a:r>
          </a:p>
        </p:txBody>
      </p:sp>
      <p:sp>
        <p:nvSpPr>
          <p:cNvPr id="19" name="MFR LINK QF1  LOVATO"/>
          <p:cNvSpPr txBox="1"/>
          <p:nvPr/>
        </p:nvSpPr>
        <p:spPr>
          <a:xfrm>
            <a:off x="3447288" y="5212080"/>
            <a:ext cx="16002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K3/SK3  62.31"/>
          <p:cNvSpPr/>
          <p:nvPr/>
        </p:nvSpPr>
        <p:spPr>
          <a:xfrm>
            <a:off x="5724144" y="2505456"/>
            <a:ext cx="2286000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K3/SK3  62.31"/>
          <p:cNvSpPr txBox="1"/>
          <p:nvPr/>
        </p:nvSpPr>
        <p:spPr>
          <a:xfrm>
            <a:off x="5888736" y="264261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K3/SK3  62.31</a:t>
            </a:r>
          </a:p>
        </p:txBody>
      </p:sp>
      <p:sp>
        <p:nvSpPr>
          <p:cNvPr id="22" name="TEXT 62.31.9.024.4800"/>
          <p:cNvSpPr txBox="1"/>
          <p:nvPr/>
        </p:nvSpPr>
        <p:spPr>
          <a:xfrm>
            <a:off x="5888736" y="295351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3" name="TEXT 92.03-family socket; actu"/>
          <p:cNvSpPr txBox="1"/>
          <p:nvPr/>
        </p:nvSpPr>
        <p:spPr>
          <a:xfrm>
            <a:off x="5888736" y="3227832"/>
            <a:ext cx="19568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92.03-family socket; actual type TBD</a:t>
            </a:r>
          </a:p>
        </p:txBody>
      </p:sp>
      <p:sp>
        <p:nvSpPr>
          <p:cNvPr id="24" name="MFR LINK K3/SK3  62.31"/>
          <p:cNvSpPr txBox="1"/>
          <p:nvPr/>
        </p:nvSpPr>
        <p:spPr>
          <a:xfrm>
            <a:off x="5888736" y="5212080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1  CRYDOM"/>
          <p:cNvSpPr/>
          <p:nvPr/>
        </p:nvSpPr>
        <p:spPr>
          <a:xfrm>
            <a:off x="8522208" y="2505456"/>
            <a:ext cx="2167128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1  CRYDOM"/>
          <p:cNvSpPr txBox="1"/>
          <p:nvPr/>
        </p:nvSpPr>
        <p:spPr>
          <a:xfrm>
            <a:off x="8686800" y="2642616"/>
            <a:ext cx="1865376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SSR1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8686800" y="2953512"/>
            <a:ext cx="1865376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Solid-state DC switch"/>
          <p:cNvSpPr txBox="1"/>
          <p:nvPr/>
        </p:nvSpPr>
        <p:spPr>
          <a:xfrm>
            <a:off x="8686800" y="3227832"/>
            <a:ext cx="183794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Solid-state DC switch</a:t>
            </a:r>
          </a:p>
        </p:txBody>
      </p:sp>
      <p:sp>
        <p:nvSpPr>
          <p:cNvPr id="29" name="MFR LINK SSR1  CRYDOM"/>
          <p:cNvSpPr txBox="1"/>
          <p:nvPr/>
        </p:nvSpPr>
        <p:spPr>
          <a:xfrm>
            <a:off x="8686800" y="5212080"/>
            <a:ext cx="1837944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JP1-OUT  HEATER"/>
          <p:cNvSpPr/>
          <p:nvPr/>
        </p:nvSpPr>
        <p:spPr>
          <a:xfrm>
            <a:off x="11219688" y="2505456"/>
            <a:ext cx="2697480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JP1-OUT  HEATER"/>
          <p:cNvSpPr txBox="1"/>
          <p:nvPr/>
        </p:nvSpPr>
        <p:spPr>
          <a:xfrm>
            <a:off x="11384280" y="2642616"/>
            <a:ext cx="239572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90" b="1">
                <a:solidFill>
                  <a:srgbClr val="1F344E"/>
                </a:solidFill>
                <a:latin typeface="Aptos"/>
              </a:rPr>
              <a:t>JP1-OUT  HEATER</a:t>
            </a:r>
          </a:p>
        </p:txBody>
      </p:sp>
      <p:sp>
        <p:nvSpPr>
          <p:cNvPr id="32" name="TEXT External resistive load"/>
          <p:cNvSpPr txBox="1"/>
          <p:nvPr/>
        </p:nvSpPr>
        <p:spPr>
          <a:xfrm>
            <a:off x="11384280" y="2953512"/>
            <a:ext cx="239572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resistive load</a:t>
            </a:r>
          </a:p>
        </p:txBody>
      </p:sp>
      <p:sp>
        <p:nvSpPr>
          <p:cNvPr id="33" name="TEXT Connector &amp; cable TBD"/>
          <p:cNvSpPr txBox="1"/>
          <p:nvPr/>
        </p:nvSpPr>
        <p:spPr>
          <a:xfrm>
            <a:off x="11384280" y="3227832"/>
            <a:ext cx="236829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Connector &amp; cable TBD</a:t>
            </a:r>
          </a:p>
        </p:txBody>
      </p:sp>
      <p:sp>
        <p:nvSpPr>
          <p:cNvPr id="34" name="PORT DC+"/>
          <p:cNvSpPr/>
          <p:nvPr/>
        </p:nvSpPr>
        <p:spPr>
          <a:xfrm>
            <a:off x="230428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DC+"/>
          <p:cNvSpPr txBox="1"/>
          <p:nvPr/>
        </p:nvSpPr>
        <p:spPr>
          <a:xfrm>
            <a:off x="231800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DC+</a:t>
            </a:r>
          </a:p>
        </p:txBody>
      </p:sp>
      <p:sp>
        <p:nvSpPr>
          <p:cNvPr id="36" name="PORT 1"/>
          <p:cNvSpPr/>
          <p:nvPr/>
        </p:nvSpPr>
        <p:spPr>
          <a:xfrm>
            <a:off x="3154679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1"/>
          <p:cNvSpPr txBox="1"/>
          <p:nvPr/>
        </p:nvSpPr>
        <p:spPr>
          <a:xfrm>
            <a:off x="31683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</a:t>
            </a:r>
          </a:p>
        </p:txBody>
      </p:sp>
      <p:cxnSp>
        <p:nvCxnSpPr>
          <p:cNvPr id="38" name="PROPOSED WIRE P1-01"/>
          <p:cNvCxnSpPr/>
          <p:nvPr/>
        </p:nvCxnSpPr>
        <p:spPr>
          <a:xfrm>
            <a:off x="2889504" y="4215384"/>
            <a:ext cx="265175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 P1-01"/>
          <p:cNvSpPr txBox="1"/>
          <p:nvPr/>
        </p:nvSpPr>
        <p:spPr>
          <a:xfrm>
            <a:off x="2820923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P1-01</a:t>
            </a:r>
          </a:p>
        </p:txBody>
      </p:sp>
      <p:sp>
        <p:nvSpPr>
          <p:cNvPr id="40" name="PORT 2"/>
          <p:cNvSpPr/>
          <p:nvPr/>
        </p:nvSpPr>
        <p:spPr>
          <a:xfrm>
            <a:off x="4754880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2"/>
          <p:cNvSpPr txBox="1"/>
          <p:nvPr/>
        </p:nvSpPr>
        <p:spPr>
          <a:xfrm>
            <a:off x="47685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2</a:t>
            </a:r>
          </a:p>
        </p:txBody>
      </p:sp>
      <p:sp>
        <p:nvSpPr>
          <p:cNvPr id="42" name="PORT 34+"/>
          <p:cNvSpPr/>
          <p:nvPr/>
        </p:nvSpPr>
        <p:spPr>
          <a:xfrm>
            <a:off x="559612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34+"/>
          <p:cNvSpPr txBox="1"/>
          <p:nvPr/>
        </p:nvSpPr>
        <p:spPr>
          <a:xfrm>
            <a:off x="560984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34+</a:t>
            </a:r>
          </a:p>
        </p:txBody>
      </p:sp>
      <p:cxnSp>
        <p:nvCxnSpPr>
          <p:cNvPr id="44" name="PROPOSED WIRE P1-02"/>
          <p:cNvCxnSpPr/>
          <p:nvPr/>
        </p:nvCxnSpPr>
        <p:spPr>
          <a:xfrm>
            <a:off x="5340096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1-02"/>
          <p:cNvSpPr txBox="1"/>
          <p:nvPr/>
        </p:nvSpPr>
        <p:spPr>
          <a:xfrm>
            <a:off x="52669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P1-02</a:t>
            </a:r>
          </a:p>
        </p:txBody>
      </p:sp>
      <p:sp>
        <p:nvSpPr>
          <p:cNvPr id="46" name="PORT 14−"/>
          <p:cNvSpPr/>
          <p:nvPr/>
        </p:nvSpPr>
        <p:spPr>
          <a:xfrm>
            <a:off x="7552944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 14−"/>
          <p:cNvSpPr txBox="1"/>
          <p:nvPr/>
        </p:nvSpPr>
        <p:spPr>
          <a:xfrm>
            <a:off x="7566660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14−</a:t>
            </a:r>
          </a:p>
        </p:txBody>
      </p:sp>
      <p:sp>
        <p:nvSpPr>
          <p:cNvPr id="48" name="PORT +1"/>
          <p:cNvSpPr/>
          <p:nvPr/>
        </p:nvSpPr>
        <p:spPr>
          <a:xfrm>
            <a:off x="839419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+1"/>
          <p:cNvSpPr txBox="1"/>
          <p:nvPr/>
        </p:nvSpPr>
        <p:spPr>
          <a:xfrm>
            <a:off x="840790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+1</a:t>
            </a:r>
          </a:p>
        </p:txBody>
      </p:sp>
      <p:cxnSp>
        <p:nvCxnSpPr>
          <p:cNvPr id="50" name="PROPOSED WIRE P1-03"/>
          <p:cNvCxnSpPr/>
          <p:nvPr/>
        </p:nvCxnSpPr>
        <p:spPr>
          <a:xfrm>
            <a:off x="8138160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 P1-03"/>
          <p:cNvSpPr txBox="1"/>
          <p:nvPr/>
        </p:nvSpPr>
        <p:spPr>
          <a:xfrm>
            <a:off x="8065007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P1-03</a:t>
            </a:r>
          </a:p>
        </p:txBody>
      </p:sp>
      <p:sp>
        <p:nvSpPr>
          <p:cNvPr id="52" name="PORT −2"/>
          <p:cNvSpPr/>
          <p:nvPr/>
        </p:nvSpPr>
        <p:spPr>
          <a:xfrm>
            <a:off x="10232136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−2"/>
          <p:cNvSpPr txBox="1"/>
          <p:nvPr/>
        </p:nvSpPr>
        <p:spPr>
          <a:xfrm>
            <a:off x="10245852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−2</a:t>
            </a:r>
          </a:p>
        </p:txBody>
      </p:sp>
      <p:sp>
        <p:nvSpPr>
          <p:cNvPr id="54" name="PORT H+"/>
          <p:cNvSpPr/>
          <p:nvPr/>
        </p:nvSpPr>
        <p:spPr>
          <a:xfrm>
            <a:off x="1109167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H+"/>
          <p:cNvSpPr txBox="1"/>
          <p:nvPr/>
        </p:nvSpPr>
        <p:spPr>
          <a:xfrm>
            <a:off x="1110538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H+</a:t>
            </a:r>
          </a:p>
        </p:txBody>
      </p:sp>
      <p:cxnSp>
        <p:nvCxnSpPr>
          <p:cNvPr id="56" name="PROPOSED WIRE P1-04"/>
          <p:cNvCxnSpPr/>
          <p:nvPr/>
        </p:nvCxnSpPr>
        <p:spPr>
          <a:xfrm>
            <a:off x="10817352" y="4215384"/>
            <a:ext cx="274320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 P1-04"/>
          <p:cNvSpPr txBox="1"/>
          <p:nvPr/>
        </p:nvSpPr>
        <p:spPr>
          <a:xfrm>
            <a:off x="107533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P1-04</a:t>
            </a:r>
          </a:p>
        </p:txBody>
      </p:sp>
      <p:cxnSp>
        <p:nvCxnSpPr>
          <p:cNvPr id="58" name="PROPOSED WIRE heater"/>
          <p:cNvCxnSpPr/>
          <p:nvPr/>
        </p:nvCxnSpPr>
        <p:spPr>
          <a:xfrm>
            <a:off x="3749039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ROPOSED WIRE heater"/>
          <p:cNvCxnSpPr/>
          <p:nvPr/>
        </p:nvCxnSpPr>
        <p:spPr>
          <a:xfrm>
            <a:off x="4379976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PROPOSED WIRE heater"/>
          <p:cNvCxnSpPr/>
          <p:nvPr/>
        </p:nvCxnSpPr>
        <p:spPr>
          <a:xfrm flipV="1">
            <a:off x="4105655" y="4114800"/>
            <a:ext cx="205741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ONTACT TERMINAL DOT"/>
          <p:cNvSpPr/>
          <p:nvPr/>
        </p:nvSpPr>
        <p:spPr>
          <a:xfrm>
            <a:off x="408096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ONTACT TERMINAL DOT"/>
          <p:cNvSpPr/>
          <p:nvPr/>
        </p:nvSpPr>
        <p:spPr>
          <a:xfrm>
            <a:off x="435528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PROPOSED WIRE heater"/>
          <p:cNvCxnSpPr/>
          <p:nvPr/>
        </p:nvCxnSpPr>
        <p:spPr>
          <a:xfrm>
            <a:off x="6181344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heater"/>
          <p:cNvCxnSpPr/>
          <p:nvPr/>
        </p:nvCxnSpPr>
        <p:spPr>
          <a:xfrm>
            <a:off x="6999732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heater"/>
          <p:cNvCxnSpPr/>
          <p:nvPr/>
        </p:nvCxnSpPr>
        <p:spPr>
          <a:xfrm flipV="1">
            <a:off x="6725412" y="4114800"/>
            <a:ext cx="205740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ONTACT TERMINAL DOT"/>
          <p:cNvSpPr/>
          <p:nvPr/>
        </p:nvSpPr>
        <p:spPr>
          <a:xfrm>
            <a:off x="670072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ONTACT TERMINAL DOT"/>
          <p:cNvSpPr/>
          <p:nvPr/>
        </p:nvSpPr>
        <p:spPr>
          <a:xfrm>
            <a:off x="697504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PROPOSED WIRE heater"/>
          <p:cNvCxnSpPr/>
          <p:nvPr/>
        </p:nvCxnSpPr>
        <p:spPr>
          <a:xfrm>
            <a:off x="8979408" y="4215384"/>
            <a:ext cx="338328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NTERNAL SSR SWITCH SYMBOL"/>
          <p:cNvSpPr/>
          <p:nvPr/>
        </p:nvSpPr>
        <p:spPr>
          <a:xfrm>
            <a:off x="9317736" y="4023360"/>
            <a:ext cx="658368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SSR"/>
          <p:cNvSpPr txBox="1"/>
          <p:nvPr/>
        </p:nvSpPr>
        <p:spPr>
          <a:xfrm>
            <a:off x="9345168" y="4069080"/>
            <a:ext cx="60350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69" b="1">
                <a:solidFill>
                  <a:srgbClr val="B23E4C"/>
                </a:solidFill>
                <a:latin typeface="Aptos"/>
              </a:rPr>
              <a:t>SSR</a:t>
            </a:r>
          </a:p>
        </p:txBody>
      </p:sp>
      <p:cxnSp>
        <p:nvCxnSpPr>
          <p:cNvPr id="71" name="PROPOSED WIRE heater"/>
          <p:cNvCxnSpPr/>
          <p:nvPr/>
        </p:nvCxnSpPr>
        <p:spPr>
          <a:xfrm>
            <a:off x="9976104" y="4215384"/>
            <a:ext cx="256032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 NO contact"/>
          <p:cNvSpPr txBox="1"/>
          <p:nvPr/>
        </p:nvSpPr>
        <p:spPr>
          <a:xfrm>
            <a:off x="6117336" y="4965192"/>
            <a:ext cx="158191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NO contact</a:t>
            </a:r>
          </a:p>
        </p:txBody>
      </p:sp>
      <p:sp>
        <p:nvSpPr>
          <p:cNvPr id="73" name="TEXT Electronic switch"/>
          <p:cNvSpPr txBox="1"/>
          <p:nvPr/>
        </p:nvSpPr>
        <p:spPr>
          <a:xfrm>
            <a:off x="8915400" y="4965192"/>
            <a:ext cx="14356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1">
                <a:solidFill>
                  <a:srgbClr val="607084"/>
                </a:solidFill>
                <a:latin typeface="Aptos"/>
              </a:rPr>
              <a:t>Electronic switch</a:t>
            </a:r>
          </a:p>
        </p:txBody>
      </p:sp>
      <p:sp>
        <p:nvSpPr>
          <p:cNvPr id="74" name="PORT DC−"/>
          <p:cNvSpPr/>
          <p:nvPr/>
        </p:nvSpPr>
        <p:spPr>
          <a:xfrm>
            <a:off x="2249424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 DC−"/>
          <p:cNvSpPr txBox="1"/>
          <p:nvPr/>
        </p:nvSpPr>
        <p:spPr>
          <a:xfrm>
            <a:off x="2263140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DC−</a:t>
            </a:r>
          </a:p>
        </p:txBody>
      </p:sp>
      <p:sp>
        <p:nvSpPr>
          <p:cNvPr id="76" name="PORT H−"/>
          <p:cNvSpPr/>
          <p:nvPr/>
        </p:nvSpPr>
        <p:spPr>
          <a:xfrm>
            <a:off x="11091672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 H−"/>
          <p:cNvSpPr txBox="1"/>
          <p:nvPr/>
        </p:nvSpPr>
        <p:spPr>
          <a:xfrm>
            <a:off x="11105388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H−</a:t>
            </a:r>
          </a:p>
        </p:txBody>
      </p:sp>
      <p:cxnSp>
        <p:nvCxnSpPr>
          <p:cNvPr id="78" name="PROPOSED WIRE SEPARATE DC NEGATIVE"/>
          <p:cNvCxnSpPr/>
          <p:nvPr/>
        </p:nvCxnSpPr>
        <p:spPr>
          <a:xfrm>
            <a:off x="2889504" y="4965192"/>
            <a:ext cx="246888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PROPOSED WIRE SEPARATE DC NEGATIVE"/>
          <p:cNvCxnSpPr/>
          <p:nvPr/>
        </p:nvCxnSpPr>
        <p:spPr>
          <a:xfrm>
            <a:off x="3136392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SEPARATE DC NEGATIVE"/>
          <p:cNvCxnSpPr/>
          <p:nvPr/>
        </p:nvCxnSpPr>
        <p:spPr>
          <a:xfrm>
            <a:off x="3136392" y="6647688"/>
            <a:ext cx="7690104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SEPARATE DC NEGATIVE"/>
          <p:cNvCxnSpPr/>
          <p:nvPr/>
        </p:nvCxnSpPr>
        <p:spPr>
          <a:xfrm flipV="1">
            <a:off x="10826496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SEPARATE DC NEGATIVE"/>
          <p:cNvCxnSpPr/>
          <p:nvPr/>
        </p:nvCxnSpPr>
        <p:spPr>
          <a:xfrm>
            <a:off x="10826496" y="4965192"/>
            <a:ext cx="265176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 DC NEGATIVE RETURN  —  SE"/>
          <p:cNvSpPr txBox="1"/>
          <p:nvPr/>
        </p:nvSpPr>
        <p:spPr>
          <a:xfrm>
            <a:off x="5157216" y="6803136"/>
            <a:ext cx="598932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607184"/>
                </a:solidFill>
                <a:latin typeface="Aptos"/>
              </a:rPr>
              <a:t>DC NEGATIVE RETURN  —  SEPARATE FROM SWITCHED POSITIVE</a:t>
            </a:r>
          </a:p>
        </p:txBody>
      </p:sp>
      <p:sp>
        <p:nvSpPr>
          <p:cNvPr id="84" name="DC POWER REVIEW NOTE"/>
          <p:cNvSpPr/>
          <p:nvPr/>
        </p:nvSpPr>
        <p:spPr>
          <a:xfrm>
            <a:off x="795528" y="7516368"/>
            <a:ext cx="13386816" cy="74066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271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 Finder terminal 14 (−) an"/>
          <p:cNvSpPr txBox="1"/>
          <p:nvPr/>
        </p:nvSpPr>
        <p:spPr>
          <a:xfrm>
            <a:off x="978408" y="7626096"/>
            <a:ext cx="12893040" cy="44805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35" b="0">
                <a:solidFill>
                  <a:srgbClr val="1F344E"/>
                </a:solidFill>
                <a:latin typeface="Aptos"/>
              </a:rPr>
              <a:t>Finder terminal 14 (−) and SSR load −2 remain in the POSITIVE conductor — neither is the supply 0 V.
Breaker coordination, socket/contact derating and SSR heat dissipation require design approval.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B23E4C"/>
          </a:solidFill>
          <a:ln w="127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Switched positive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Switched positive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Separate DC−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Separate DC− return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8  /  CHANNEL 2 / COMPLE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08  /  CHANNEL 2 / COMPLETE DC HEATER POWER LOOP</a:t>
            </a:r>
          </a:p>
        </p:txBody>
      </p:sp>
      <p:sp>
        <p:nvSpPr>
          <p:cNvPr id="3" name="TEXT External 0–60 V DC supply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External 0–60 V DC supply, breaker, polarity-sensitive Finder DC relay, Crydom SSR and direct return.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INDEPENDENT HEATER SUPPLY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INDEPENDENT HEATER SUPPLY  /  15 A MAX DESIGN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8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08</a:t>
            </a:r>
          </a:p>
        </p:txBody>
      </p:sp>
      <p:sp>
        <p:nvSpPr>
          <p:cNvPr id="10" name="TEXT Finder contact 34 (+) → 1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Finder contact 34 (+) → 14 (−) and SSR load +1 → −2 are both in the POSITIVE current path.</a:t>
            </a:r>
          </a:p>
        </p:txBody>
      </p:sp>
      <p:sp>
        <p:nvSpPr>
          <p:cNvPr id="11" name="COMPONENT JP2-IN  DC SUPPLY"/>
          <p:cNvSpPr/>
          <p:nvPr/>
        </p:nvSpPr>
        <p:spPr>
          <a:xfrm>
            <a:off x="640080" y="2505456"/>
            <a:ext cx="2121408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JP2-IN  DC SUPPLY"/>
          <p:cNvSpPr txBox="1"/>
          <p:nvPr/>
        </p:nvSpPr>
        <p:spPr>
          <a:xfrm>
            <a:off x="804671" y="2642616"/>
            <a:ext cx="1819655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JP2-IN  DC SUPPLY</a:t>
            </a:r>
          </a:p>
        </p:txBody>
      </p:sp>
      <p:sp>
        <p:nvSpPr>
          <p:cNvPr id="13" name="TEXT 0–60 V / up to 15 A"/>
          <p:cNvSpPr txBox="1"/>
          <p:nvPr/>
        </p:nvSpPr>
        <p:spPr>
          <a:xfrm>
            <a:off x="804671" y="2953512"/>
            <a:ext cx="1819655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0–60 V / up to 15 A</a:t>
            </a:r>
          </a:p>
        </p:txBody>
      </p:sp>
      <p:sp>
        <p:nvSpPr>
          <p:cNvPr id="14" name="TEXT Connector &amp; cable TBD"/>
          <p:cNvSpPr txBox="1"/>
          <p:nvPr/>
        </p:nvSpPr>
        <p:spPr>
          <a:xfrm>
            <a:off x="804671" y="3227832"/>
            <a:ext cx="179222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Connector &amp; cable TBD</a:t>
            </a:r>
          </a:p>
        </p:txBody>
      </p:sp>
      <p:sp>
        <p:nvSpPr>
          <p:cNvPr id="15" name="COMPONENT QF2  LOVATO"/>
          <p:cNvSpPr/>
          <p:nvPr/>
        </p:nvSpPr>
        <p:spPr>
          <a:xfrm>
            <a:off x="3282696" y="2505456"/>
            <a:ext cx="1929384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QF2  LOVATO"/>
          <p:cNvSpPr txBox="1"/>
          <p:nvPr/>
        </p:nvSpPr>
        <p:spPr>
          <a:xfrm>
            <a:off x="3447288" y="2642616"/>
            <a:ext cx="1627631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QF2  LOVATO</a:t>
            </a:r>
          </a:p>
        </p:txBody>
      </p:sp>
      <p:sp>
        <p:nvSpPr>
          <p:cNvPr id="17" name="TEXT P1MB1PC16"/>
          <p:cNvSpPr txBox="1"/>
          <p:nvPr/>
        </p:nvSpPr>
        <p:spPr>
          <a:xfrm>
            <a:off x="3447288" y="2953512"/>
            <a:ext cx="1627631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P1MB1PC16</a:t>
            </a:r>
          </a:p>
        </p:txBody>
      </p:sp>
      <p:sp>
        <p:nvSpPr>
          <p:cNvPr id="18" name="TEXT 16 A / 80 V DC MCB"/>
          <p:cNvSpPr txBox="1"/>
          <p:nvPr/>
        </p:nvSpPr>
        <p:spPr>
          <a:xfrm>
            <a:off x="3447288" y="3227832"/>
            <a:ext cx="1600200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16 A / 80 V DC MCB</a:t>
            </a:r>
          </a:p>
        </p:txBody>
      </p:sp>
      <p:sp>
        <p:nvSpPr>
          <p:cNvPr id="19" name="MFR LINK QF2  LOVATO"/>
          <p:cNvSpPr txBox="1"/>
          <p:nvPr/>
        </p:nvSpPr>
        <p:spPr>
          <a:xfrm>
            <a:off x="3447288" y="5212080"/>
            <a:ext cx="1600200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2"/>
              </a:rPr>
              <a:t>Manufacturer datasheet  ↗</a:t>
            </a:r>
          </a:p>
        </p:txBody>
      </p:sp>
      <p:sp>
        <p:nvSpPr>
          <p:cNvPr id="20" name="COMPONENT K4/SK4  62.31"/>
          <p:cNvSpPr/>
          <p:nvPr/>
        </p:nvSpPr>
        <p:spPr>
          <a:xfrm>
            <a:off x="5724144" y="2505456"/>
            <a:ext cx="2286000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K4/SK4  62.31"/>
          <p:cNvSpPr txBox="1"/>
          <p:nvPr/>
        </p:nvSpPr>
        <p:spPr>
          <a:xfrm>
            <a:off x="5888736" y="2642616"/>
            <a:ext cx="198424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K4/SK4  62.31</a:t>
            </a:r>
          </a:p>
        </p:txBody>
      </p:sp>
      <p:sp>
        <p:nvSpPr>
          <p:cNvPr id="22" name="TEXT 62.31.9.024.4800"/>
          <p:cNvSpPr txBox="1"/>
          <p:nvPr/>
        </p:nvSpPr>
        <p:spPr>
          <a:xfrm>
            <a:off x="5888736" y="2953512"/>
            <a:ext cx="198424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62.31.9.024.4800</a:t>
            </a:r>
          </a:p>
        </p:txBody>
      </p:sp>
      <p:sp>
        <p:nvSpPr>
          <p:cNvPr id="23" name="TEXT 92.03-family socket; actu"/>
          <p:cNvSpPr txBox="1"/>
          <p:nvPr/>
        </p:nvSpPr>
        <p:spPr>
          <a:xfrm>
            <a:off x="5888736" y="3227832"/>
            <a:ext cx="195681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92.03-family socket; actual type TBD</a:t>
            </a:r>
          </a:p>
        </p:txBody>
      </p:sp>
      <p:sp>
        <p:nvSpPr>
          <p:cNvPr id="24" name="MFR LINK K4/SK4  62.31"/>
          <p:cNvSpPr txBox="1"/>
          <p:nvPr/>
        </p:nvSpPr>
        <p:spPr>
          <a:xfrm>
            <a:off x="5888736" y="5212080"/>
            <a:ext cx="1956816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3"/>
              </a:rPr>
              <a:t>Manufacturer datasheet  ↗</a:t>
            </a:r>
          </a:p>
        </p:txBody>
      </p:sp>
      <p:sp>
        <p:nvSpPr>
          <p:cNvPr id="25" name="COMPONENT SSR2  CRYDOM"/>
          <p:cNvSpPr/>
          <p:nvPr/>
        </p:nvSpPr>
        <p:spPr>
          <a:xfrm>
            <a:off x="8522208" y="2505456"/>
            <a:ext cx="2167128" cy="3017520"/>
          </a:xfrm>
          <a:prstGeom prst="roundRect">
            <a:avLst>
              <a:gd name="adj" fmla="val 5500"/>
            </a:avLst>
          </a:prstGeom>
          <a:solidFill>
            <a:srgbClr val="EBF6FA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SSR2  CRYDOM"/>
          <p:cNvSpPr txBox="1"/>
          <p:nvPr/>
        </p:nvSpPr>
        <p:spPr>
          <a:xfrm>
            <a:off x="8686800" y="2642616"/>
            <a:ext cx="1865376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50" b="1">
                <a:solidFill>
                  <a:srgbClr val="1F344E"/>
                </a:solidFill>
                <a:latin typeface="Aptos"/>
              </a:rPr>
              <a:t>SSR2  CRYDOM</a:t>
            </a:r>
          </a:p>
        </p:txBody>
      </p:sp>
      <p:sp>
        <p:nvSpPr>
          <p:cNvPr id="27" name="TEXT DR2220D30U"/>
          <p:cNvSpPr txBox="1"/>
          <p:nvPr/>
        </p:nvSpPr>
        <p:spPr>
          <a:xfrm>
            <a:off x="8686800" y="2953512"/>
            <a:ext cx="1865376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DR2220D30U</a:t>
            </a:r>
          </a:p>
        </p:txBody>
      </p:sp>
      <p:sp>
        <p:nvSpPr>
          <p:cNvPr id="28" name="TEXT Solid-state DC switch"/>
          <p:cNvSpPr txBox="1"/>
          <p:nvPr/>
        </p:nvSpPr>
        <p:spPr>
          <a:xfrm>
            <a:off x="8686800" y="3227832"/>
            <a:ext cx="183794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Solid-state DC switch</a:t>
            </a:r>
          </a:p>
        </p:txBody>
      </p:sp>
      <p:sp>
        <p:nvSpPr>
          <p:cNvPr id="29" name="MFR LINK SSR2  CRYDOM"/>
          <p:cNvSpPr txBox="1"/>
          <p:nvPr/>
        </p:nvSpPr>
        <p:spPr>
          <a:xfrm>
            <a:off x="8686800" y="5212080"/>
            <a:ext cx="1837944" cy="19202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0" b="0" u="sng">
                <a:solidFill>
                  <a:srgbClr val="1D599B"/>
                </a:solidFill>
                <a:latin typeface="Aptos"/>
                <a:hlinkClick r:id="rId4"/>
              </a:rPr>
              <a:t>Manufacturer datasheet  ↗</a:t>
            </a:r>
          </a:p>
        </p:txBody>
      </p:sp>
      <p:sp>
        <p:nvSpPr>
          <p:cNvPr id="30" name="COMPONENT JP2-OUT  HEATER"/>
          <p:cNvSpPr/>
          <p:nvPr/>
        </p:nvSpPr>
        <p:spPr>
          <a:xfrm>
            <a:off x="11219688" y="2505456"/>
            <a:ext cx="2697480" cy="301752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1320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JP2-OUT  HEATER"/>
          <p:cNvSpPr txBox="1"/>
          <p:nvPr/>
        </p:nvSpPr>
        <p:spPr>
          <a:xfrm>
            <a:off x="11384280" y="2642616"/>
            <a:ext cx="2395728" cy="27432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90" b="1">
                <a:solidFill>
                  <a:srgbClr val="1F344E"/>
                </a:solidFill>
                <a:latin typeface="Aptos"/>
              </a:rPr>
              <a:t>JP2-OUT  HEATER</a:t>
            </a:r>
          </a:p>
        </p:txBody>
      </p:sp>
      <p:sp>
        <p:nvSpPr>
          <p:cNvPr id="32" name="TEXT External resistive load"/>
          <p:cNvSpPr txBox="1"/>
          <p:nvPr/>
        </p:nvSpPr>
        <p:spPr>
          <a:xfrm>
            <a:off x="11384280" y="2953512"/>
            <a:ext cx="2395728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50" b="0">
                <a:solidFill>
                  <a:srgbClr val="607084"/>
                </a:solidFill>
                <a:latin typeface="Aptos"/>
              </a:rPr>
              <a:t>External resistive load</a:t>
            </a:r>
          </a:p>
        </p:txBody>
      </p:sp>
      <p:sp>
        <p:nvSpPr>
          <p:cNvPr id="33" name="TEXT Connector &amp; cable TBD"/>
          <p:cNvSpPr txBox="1"/>
          <p:nvPr/>
        </p:nvSpPr>
        <p:spPr>
          <a:xfrm>
            <a:off x="11384280" y="3227832"/>
            <a:ext cx="2368296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85" b="0">
                <a:solidFill>
                  <a:srgbClr val="607084"/>
                </a:solidFill>
                <a:latin typeface="Aptos"/>
              </a:rPr>
              <a:t>Connector &amp; cable TBD</a:t>
            </a:r>
          </a:p>
        </p:txBody>
      </p:sp>
      <p:sp>
        <p:nvSpPr>
          <p:cNvPr id="34" name="PORT DC+"/>
          <p:cNvSpPr/>
          <p:nvPr/>
        </p:nvSpPr>
        <p:spPr>
          <a:xfrm>
            <a:off x="230428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 DC+"/>
          <p:cNvSpPr txBox="1"/>
          <p:nvPr/>
        </p:nvSpPr>
        <p:spPr>
          <a:xfrm>
            <a:off x="231800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DC+</a:t>
            </a:r>
          </a:p>
        </p:txBody>
      </p:sp>
      <p:sp>
        <p:nvSpPr>
          <p:cNvPr id="36" name="PORT 1"/>
          <p:cNvSpPr/>
          <p:nvPr/>
        </p:nvSpPr>
        <p:spPr>
          <a:xfrm>
            <a:off x="3154679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1"/>
          <p:cNvSpPr txBox="1"/>
          <p:nvPr/>
        </p:nvSpPr>
        <p:spPr>
          <a:xfrm>
            <a:off x="31683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</a:t>
            </a:r>
          </a:p>
        </p:txBody>
      </p:sp>
      <p:cxnSp>
        <p:nvCxnSpPr>
          <p:cNvPr id="38" name="PROPOSED WIRE P2-01"/>
          <p:cNvCxnSpPr/>
          <p:nvPr/>
        </p:nvCxnSpPr>
        <p:spPr>
          <a:xfrm>
            <a:off x="2889504" y="4215384"/>
            <a:ext cx="265175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 P2-01"/>
          <p:cNvSpPr txBox="1"/>
          <p:nvPr/>
        </p:nvSpPr>
        <p:spPr>
          <a:xfrm>
            <a:off x="2820923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P2-01</a:t>
            </a:r>
          </a:p>
        </p:txBody>
      </p:sp>
      <p:sp>
        <p:nvSpPr>
          <p:cNvPr id="40" name="PORT 2"/>
          <p:cNvSpPr/>
          <p:nvPr/>
        </p:nvSpPr>
        <p:spPr>
          <a:xfrm>
            <a:off x="4754880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2"/>
          <p:cNvSpPr txBox="1"/>
          <p:nvPr/>
        </p:nvSpPr>
        <p:spPr>
          <a:xfrm>
            <a:off x="4768596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2</a:t>
            </a:r>
          </a:p>
        </p:txBody>
      </p:sp>
      <p:sp>
        <p:nvSpPr>
          <p:cNvPr id="42" name="PORT 34+"/>
          <p:cNvSpPr/>
          <p:nvPr/>
        </p:nvSpPr>
        <p:spPr>
          <a:xfrm>
            <a:off x="5596128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34+"/>
          <p:cNvSpPr txBox="1"/>
          <p:nvPr/>
        </p:nvSpPr>
        <p:spPr>
          <a:xfrm>
            <a:off x="5609844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34+</a:t>
            </a:r>
          </a:p>
        </p:txBody>
      </p:sp>
      <p:cxnSp>
        <p:nvCxnSpPr>
          <p:cNvPr id="44" name="PROPOSED WIRE P2-02"/>
          <p:cNvCxnSpPr/>
          <p:nvPr/>
        </p:nvCxnSpPr>
        <p:spPr>
          <a:xfrm>
            <a:off x="5340096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2-02"/>
          <p:cNvSpPr txBox="1"/>
          <p:nvPr/>
        </p:nvSpPr>
        <p:spPr>
          <a:xfrm>
            <a:off x="52669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P2-02</a:t>
            </a:r>
          </a:p>
        </p:txBody>
      </p:sp>
      <p:sp>
        <p:nvSpPr>
          <p:cNvPr id="46" name="PORT 14−"/>
          <p:cNvSpPr/>
          <p:nvPr/>
        </p:nvSpPr>
        <p:spPr>
          <a:xfrm>
            <a:off x="7552944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 14−"/>
          <p:cNvSpPr txBox="1"/>
          <p:nvPr/>
        </p:nvSpPr>
        <p:spPr>
          <a:xfrm>
            <a:off x="7566660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14−</a:t>
            </a:r>
          </a:p>
        </p:txBody>
      </p:sp>
      <p:sp>
        <p:nvSpPr>
          <p:cNvPr id="48" name="PORT +1"/>
          <p:cNvSpPr/>
          <p:nvPr/>
        </p:nvSpPr>
        <p:spPr>
          <a:xfrm>
            <a:off x="839419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+1"/>
          <p:cNvSpPr txBox="1"/>
          <p:nvPr/>
        </p:nvSpPr>
        <p:spPr>
          <a:xfrm>
            <a:off x="840790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+1</a:t>
            </a:r>
          </a:p>
        </p:txBody>
      </p:sp>
      <p:cxnSp>
        <p:nvCxnSpPr>
          <p:cNvPr id="50" name="PROPOSED WIRE P2-03"/>
          <p:cNvCxnSpPr/>
          <p:nvPr/>
        </p:nvCxnSpPr>
        <p:spPr>
          <a:xfrm>
            <a:off x="8138160" y="4215384"/>
            <a:ext cx="256032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 P2-03"/>
          <p:cNvSpPr txBox="1"/>
          <p:nvPr/>
        </p:nvSpPr>
        <p:spPr>
          <a:xfrm>
            <a:off x="8065007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P2-03</a:t>
            </a:r>
          </a:p>
        </p:txBody>
      </p:sp>
      <p:sp>
        <p:nvSpPr>
          <p:cNvPr id="52" name="PORT −2"/>
          <p:cNvSpPr/>
          <p:nvPr/>
        </p:nvSpPr>
        <p:spPr>
          <a:xfrm>
            <a:off x="10232136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 −2"/>
          <p:cNvSpPr txBox="1"/>
          <p:nvPr/>
        </p:nvSpPr>
        <p:spPr>
          <a:xfrm>
            <a:off x="10245852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−2</a:t>
            </a:r>
          </a:p>
        </p:txBody>
      </p:sp>
      <p:sp>
        <p:nvSpPr>
          <p:cNvPr id="54" name="PORT H+"/>
          <p:cNvSpPr/>
          <p:nvPr/>
        </p:nvSpPr>
        <p:spPr>
          <a:xfrm>
            <a:off x="11091672" y="4032504"/>
            <a:ext cx="585216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H+"/>
          <p:cNvSpPr txBox="1"/>
          <p:nvPr/>
        </p:nvSpPr>
        <p:spPr>
          <a:xfrm>
            <a:off x="11105388" y="4046220"/>
            <a:ext cx="557784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B23E4C"/>
                </a:solidFill>
                <a:latin typeface="Aptos"/>
              </a:rPr>
              <a:t>H+</a:t>
            </a:r>
          </a:p>
        </p:txBody>
      </p:sp>
      <p:cxnSp>
        <p:nvCxnSpPr>
          <p:cNvPr id="56" name="PROPOSED WIRE P2-04"/>
          <p:cNvCxnSpPr/>
          <p:nvPr/>
        </p:nvCxnSpPr>
        <p:spPr>
          <a:xfrm>
            <a:off x="10817352" y="4215384"/>
            <a:ext cx="274320" cy="0"/>
          </a:xfrm>
          <a:prstGeom prst="line">
            <a:avLst/>
          </a:prstGeom>
          <a:ln w="342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 P2-04"/>
          <p:cNvSpPr txBox="1"/>
          <p:nvPr/>
        </p:nvSpPr>
        <p:spPr>
          <a:xfrm>
            <a:off x="10753344" y="3831336"/>
            <a:ext cx="402336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770" b="1">
                <a:solidFill>
                  <a:srgbClr val="B23E4C"/>
                </a:solidFill>
                <a:latin typeface="Aptos"/>
              </a:rPr>
              <a:t>P2-04</a:t>
            </a:r>
          </a:p>
        </p:txBody>
      </p:sp>
      <p:cxnSp>
        <p:nvCxnSpPr>
          <p:cNvPr id="58" name="PROPOSED WIRE heater"/>
          <p:cNvCxnSpPr/>
          <p:nvPr/>
        </p:nvCxnSpPr>
        <p:spPr>
          <a:xfrm>
            <a:off x="3749039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ROPOSED WIRE heater"/>
          <p:cNvCxnSpPr/>
          <p:nvPr/>
        </p:nvCxnSpPr>
        <p:spPr>
          <a:xfrm>
            <a:off x="4379976" y="4215384"/>
            <a:ext cx="356616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PROPOSED WIRE heater"/>
          <p:cNvCxnSpPr/>
          <p:nvPr/>
        </p:nvCxnSpPr>
        <p:spPr>
          <a:xfrm flipV="1">
            <a:off x="4105655" y="4114800"/>
            <a:ext cx="205741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ONTACT TERMINAL DOT"/>
          <p:cNvSpPr/>
          <p:nvPr/>
        </p:nvSpPr>
        <p:spPr>
          <a:xfrm>
            <a:off x="408096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ONTACT TERMINAL DOT"/>
          <p:cNvSpPr/>
          <p:nvPr/>
        </p:nvSpPr>
        <p:spPr>
          <a:xfrm>
            <a:off x="4355287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PROPOSED WIRE heater"/>
          <p:cNvCxnSpPr/>
          <p:nvPr/>
        </p:nvCxnSpPr>
        <p:spPr>
          <a:xfrm>
            <a:off x="6181344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ROPOSED WIRE heater"/>
          <p:cNvCxnSpPr/>
          <p:nvPr/>
        </p:nvCxnSpPr>
        <p:spPr>
          <a:xfrm>
            <a:off x="6999732" y="4215384"/>
            <a:ext cx="544068" cy="0"/>
          </a:xfrm>
          <a:prstGeom prst="line">
            <a:avLst/>
          </a:prstGeom>
          <a:ln w="2413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ROPOSED WIRE heater"/>
          <p:cNvCxnSpPr/>
          <p:nvPr/>
        </p:nvCxnSpPr>
        <p:spPr>
          <a:xfrm flipV="1">
            <a:off x="6725412" y="4114800"/>
            <a:ext cx="205740" cy="100584"/>
          </a:xfrm>
          <a:prstGeom prst="line">
            <a:avLst/>
          </a:prstGeom>
          <a:ln w="2159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ONTACT TERMINAL DOT"/>
          <p:cNvSpPr/>
          <p:nvPr/>
        </p:nvSpPr>
        <p:spPr>
          <a:xfrm>
            <a:off x="670072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ONTACT TERMINAL DOT"/>
          <p:cNvSpPr/>
          <p:nvPr/>
        </p:nvSpPr>
        <p:spPr>
          <a:xfrm>
            <a:off x="6975043" y="4190695"/>
            <a:ext cx="49377" cy="4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PROPOSED WIRE heater"/>
          <p:cNvCxnSpPr/>
          <p:nvPr/>
        </p:nvCxnSpPr>
        <p:spPr>
          <a:xfrm>
            <a:off x="8979408" y="4215384"/>
            <a:ext cx="338328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INTERNAL SSR SWITCH SYMBOL"/>
          <p:cNvSpPr/>
          <p:nvPr/>
        </p:nvSpPr>
        <p:spPr>
          <a:xfrm>
            <a:off x="9317736" y="4023360"/>
            <a:ext cx="658368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 SSR"/>
          <p:cNvSpPr txBox="1"/>
          <p:nvPr/>
        </p:nvSpPr>
        <p:spPr>
          <a:xfrm>
            <a:off x="9345168" y="4069080"/>
            <a:ext cx="603504" cy="28346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869" b="1">
                <a:solidFill>
                  <a:srgbClr val="B23E4C"/>
                </a:solidFill>
                <a:latin typeface="Aptos"/>
              </a:rPr>
              <a:t>SSR</a:t>
            </a:r>
          </a:p>
        </p:txBody>
      </p:sp>
      <p:cxnSp>
        <p:nvCxnSpPr>
          <p:cNvPr id="71" name="PROPOSED WIRE heater"/>
          <p:cNvCxnSpPr/>
          <p:nvPr/>
        </p:nvCxnSpPr>
        <p:spPr>
          <a:xfrm>
            <a:off x="9976104" y="4215384"/>
            <a:ext cx="256032" cy="0"/>
          </a:xfrm>
          <a:prstGeom prst="line">
            <a:avLst/>
          </a:prstGeom>
          <a:ln w="22860">
            <a:solidFill>
              <a:srgbClr val="B23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 NO contact"/>
          <p:cNvSpPr txBox="1"/>
          <p:nvPr/>
        </p:nvSpPr>
        <p:spPr>
          <a:xfrm>
            <a:off x="6117336" y="4965192"/>
            <a:ext cx="1581912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1">
                <a:solidFill>
                  <a:srgbClr val="607084"/>
                </a:solidFill>
                <a:latin typeface="Aptos"/>
              </a:rPr>
              <a:t>NO contact</a:t>
            </a:r>
          </a:p>
        </p:txBody>
      </p:sp>
      <p:sp>
        <p:nvSpPr>
          <p:cNvPr id="73" name="TEXT Electronic switch"/>
          <p:cNvSpPr txBox="1"/>
          <p:nvPr/>
        </p:nvSpPr>
        <p:spPr>
          <a:xfrm>
            <a:off x="8915400" y="4965192"/>
            <a:ext cx="143560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10" b="1">
                <a:solidFill>
                  <a:srgbClr val="607084"/>
                </a:solidFill>
                <a:latin typeface="Aptos"/>
              </a:rPr>
              <a:t>Electronic switch</a:t>
            </a:r>
          </a:p>
        </p:txBody>
      </p:sp>
      <p:sp>
        <p:nvSpPr>
          <p:cNvPr id="74" name="PORT DC−"/>
          <p:cNvSpPr/>
          <p:nvPr/>
        </p:nvSpPr>
        <p:spPr>
          <a:xfrm>
            <a:off x="2249424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 DC−"/>
          <p:cNvSpPr txBox="1"/>
          <p:nvPr/>
        </p:nvSpPr>
        <p:spPr>
          <a:xfrm>
            <a:off x="2263140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DC−</a:t>
            </a:r>
          </a:p>
        </p:txBody>
      </p:sp>
      <p:sp>
        <p:nvSpPr>
          <p:cNvPr id="76" name="PORT H−"/>
          <p:cNvSpPr/>
          <p:nvPr/>
        </p:nvSpPr>
        <p:spPr>
          <a:xfrm>
            <a:off x="11091672" y="4782312"/>
            <a:ext cx="640080" cy="365760"/>
          </a:xfrm>
          <a:prstGeom prst="rect">
            <a:avLst/>
          </a:prstGeom>
          <a:solidFill>
            <a:srgbClr val="FFFFFF"/>
          </a:solidFill>
          <a:ln w="17272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 H−"/>
          <p:cNvSpPr txBox="1"/>
          <p:nvPr/>
        </p:nvSpPr>
        <p:spPr>
          <a:xfrm>
            <a:off x="11105388" y="4796027"/>
            <a:ext cx="612647" cy="33832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19" b="1">
                <a:solidFill>
                  <a:srgbClr val="607184"/>
                </a:solidFill>
                <a:latin typeface="Aptos"/>
              </a:rPr>
              <a:t>H−</a:t>
            </a:r>
          </a:p>
        </p:txBody>
      </p:sp>
      <p:cxnSp>
        <p:nvCxnSpPr>
          <p:cNvPr id="78" name="PROPOSED WIRE SEPARATE DC NEGATIVE"/>
          <p:cNvCxnSpPr/>
          <p:nvPr/>
        </p:nvCxnSpPr>
        <p:spPr>
          <a:xfrm>
            <a:off x="2889504" y="4965192"/>
            <a:ext cx="246888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PROPOSED WIRE SEPARATE DC NEGATIVE"/>
          <p:cNvCxnSpPr/>
          <p:nvPr/>
        </p:nvCxnSpPr>
        <p:spPr>
          <a:xfrm>
            <a:off x="3136392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ROPOSED WIRE SEPARATE DC NEGATIVE"/>
          <p:cNvCxnSpPr/>
          <p:nvPr/>
        </p:nvCxnSpPr>
        <p:spPr>
          <a:xfrm>
            <a:off x="3136392" y="6647688"/>
            <a:ext cx="7690104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PROPOSED WIRE SEPARATE DC NEGATIVE"/>
          <p:cNvCxnSpPr/>
          <p:nvPr/>
        </p:nvCxnSpPr>
        <p:spPr>
          <a:xfrm flipV="1">
            <a:off x="10826496" y="4965192"/>
            <a:ext cx="0" cy="1682496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PROPOSED WIRE SEPARATE DC NEGATIVE"/>
          <p:cNvCxnSpPr/>
          <p:nvPr/>
        </p:nvCxnSpPr>
        <p:spPr>
          <a:xfrm>
            <a:off x="10826496" y="4965192"/>
            <a:ext cx="265176" cy="0"/>
          </a:xfrm>
          <a:prstGeom prst="line">
            <a:avLst/>
          </a:prstGeom>
          <a:ln w="31115">
            <a:solidFill>
              <a:srgbClr val="60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 DC NEGATIVE RETURN  —  SE"/>
          <p:cNvSpPr txBox="1"/>
          <p:nvPr/>
        </p:nvSpPr>
        <p:spPr>
          <a:xfrm>
            <a:off x="5157216" y="6803136"/>
            <a:ext cx="5989320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ctr"/>
            <a:r>
              <a:rPr sz="900" b="1">
                <a:solidFill>
                  <a:srgbClr val="607184"/>
                </a:solidFill>
                <a:latin typeface="Aptos"/>
              </a:rPr>
              <a:t>DC NEGATIVE RETURN  —  SEPARATE FROM SWITCHED POSITIVE</a:t>
            </a:r>
          </a:p>
        </p:txBody>
      </p:sp>
      <p:sp>
        <p:nvSpPr>
          <p:cNvPr id="84" name="DC POWER REVIEW NOTE"/>
          <p:cNvSpPr/>
          <p:nvPr/>
        </p:nvSpPr>
        <p:spPr>
          <a:xfrm>
            <a:off x="795528" y="7516368"/>
            <a:ext cx="13386816" cy="74066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271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 Finder terminal 14 (−) an"/>
          <p:cNvSpPr txBox="1"/>
          <p:nvPr/>
        </p:nvSpPr>
        <p:spPr>
          <a:xfrm>
            <a:off x="978408" y="7626096"/>
            <a:ext cx="12893040" cy="44805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35" b="0">
                <a:solidFill>
                  <a:srgbClr val="1F344E"/>
                </a:solidFill>
                <a:latin typeface="Aptos"/>
              </a:rPr>
              <a:t>Finder terminal 14 (−) and SSR load −2 remain in the POSITIVE conductor — neither is the supply 0 V.
Breaker coordination, socket/contact derating and SSR heat dissipation require design approval.</a:t>
            </a:r>
          </a:p>
        </p:txBody>
      </p:sp>
      <p:sp>
        <p:nvSpPr>
          <p:cNvPr id="86" name="KEY"/>
          <p:cNvSpPr/>
          <p:nvPr/>
        </p:nvSpPr>
        <p:spPr>
          <a:xfrm>
            <a:off x="11155680" y="640080"/>
            <a:ext cx="320040" cy="27432"/>
          </a:xfrm>
          <a:prstGeom prst="rect">
            <a:avLst/>
          </a:prstGeom>
          <a:solidFill>
            <a:srgbClr val="B23E4C"/>
          </a:solidFill>
          <a:ln w="1270">
            <a:solidFill>
              <a:srgbClr val="B2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 Switched positive"/>
          <p:cNvSpPr txBox="1"/>
          <p:nvPr/>
        </p:nvSpPr>
        <p:spPr>
          <a:xfrm>
            <a:off x="11548872" y="539496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Switched positive</a:t>
            </a:r>
          </a:p>
        </p:txBody>
      </p:sp>
      <p:sp>
        <p:nvSpPr>
          <p:cNvPr id="88" name="KEY"/>
          <p:cNvSpPr/>
          <p:nvPr/>
        </p:nvSpPr>
        <p:spPr>
          <a:xfrm>
            <a:off x="11155680" y="941832"/>
            <a:ext cx="320040" cy="27432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 Separate DC− return"/>
          <p:cNvSpPr txBox="1"/>
          <p:nvPr/>
        </p:nvSpPr>
        <p:spPr>
          <a:xfrm>
            <a:off x="11548872" y="841248"/>
            <a:ext cx="2532888" cy="21031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Separate DC− return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9  /  CONNECTION SCHEDUL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09  /  CONNECTION SCHEDULE / MAINS + 24 V DISTRIBUTION</a:t>
            </a:r>
          </a:p>
        </p:txBody>
      </p:sp>
      <p:sp>
        <p:nvSpPr>
          <p:cNvPr id="3" name="TEXT Functional point-to-point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Functional point-to-point net destinations for the component-port diagrams (not a physical ferrule/cable schedule).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ERMINAL-LEVEL REFERENCE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TERMINAL-LEVEL REFERENCE   /   MAINS AND 24 V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09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09</a:t>
            </a:r>
          </a:p>
        </p:txBody>
      </p:sp>
      <p:sp>
        <p:nvSpPr>
          <p:cNvPr id="10" name="TEXT Any X1–X4 numbers are log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Any X1–X4 numbers are logical net references until actual terminal blocks/jumpers are documented.</a:t>
            </a:r>
          </a:p>
        </p:txBody>
      </p:sp>
      <p:sp>
        <p:nvSpPr>
          <p:cNvPr id="11" name="NET ROW AC01"/>
          <p:cNvSpPr/>
          <p:nvPr/>
        </p:nvSpPr>
        <p:spPr>
          <a:xfrm>
            <a:off x="832104" y="1883664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MPONENT"/>
          <p:cNvSpPr/>
          <p:nvPr/>
        </p:nvSpPr>
        <p:spPr>
          <a:xfrm>
            <a:off x="950976" y="2002536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AC01"/>
          <p:cNvSpPr txBox="1"/>
          <p:nvPr/>
        </p:nvSpPr>
        <p:spPr>
          <a:xfrm>
            <a:off x="1197864" y="1947672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AC01</a:t>
            </a:r>
          </a:p>
        </p:txBody>
      </p:sp>
      <p:sp>
        <p:nvSpPr>
          <p:cNvPr id="14" name="TEXT J1 switched fused L"/>
          <p:cNvSpPr txBox="1"/>
          <p:nvPr/>
        </p:nvSpPr>
        <p:spPr>
          <a:xfrm>
            <a:off x="2194560" y="1947672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J1 switched fused L</a:t>
            </a:r>
          </a:p>
        </p:txBody>
      </p:sp>
      <p:sp>
        <p:nvSpPr>
          <p:cNvPr id="15" name="TEXT →"/>
          <p:cNvSpPr txBox="1"/>
          <p:nvPr/>
        </p:nvSpPr>
        <p:spPr>
          <a:xfrm>
            <a:off x="7424927" y="1956816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16" name="TEXT X1:L bus"/>
          <p:cNvSpPr txBox="1"/>
          <p:nvPr/>
        </p:nvSpPr>
        <p:spPr>
          <a:xfrm>
            <a:off x="7790688" y="1947672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X1:L bus</a:t>
            </a:r>
          </a:p>
        </p:txBody>
      </p:sp>
      <p:sp>
        <p:nvSpPr>
          <p:cNvPr id="17" name="NET ROW AC02"/>
          <p:cNvSpPr/>
          <p:nvPr/>
        </p:nvSpPr>
        <p:spPr>
          <a:xfrm>
            <a:off x="832104" y="2368296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OMPONENT"/>
          <p:cNvSpPr/>
          <p:nvPr/>
        </p:nvSpPr>
        <p:spPr>
          <a:xfrm>
            <a:off x="950976" y="2487168"/>
            <a:ext cx="118872" cy="173736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 AC02"/>
          <p:cNvSpPr txBox="1"/>
          <p:nvPr/>
        </p:nvSpPr>
        <p:spPr>
          <a:xfrm>
            <a:off x="1197864" y="2432303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AC02</a:t>
            </a:r>
          </a:p>
        </p:txBody>
      </p:sp>
      <p:sp>
        <p:nvSpPr>
          <p:cNvPr id="20" name="TEXT J1 switched N"/>
          <p:cNvSpPr txBox="1"/>
          <p:nvPr/>
        </p:nvSpPr>
        <p:spPr>
          <a:xfrm>
            <a:off x="2194560" y="2432303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J1 switched N</a:t>
            </a:r>
          </a:p>
        </p:txBody>
      </p:sp>
      <p:sp>
        <p:nvSpPr>
          <p:cNvPr id="21" name="TEXT →"/>
          <p:cNvSpPr txBox="1"/>
          <p:nvPr/>
        </p:nvSpPr>
        <p:spPr>
          <a:xfrm>
            <a:off x="7424927" y="2441448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A5BAE"/>
                </a:solidFill>
                <a:latin typeface="Aptos"/>
              </a:rPr>
              <a:t>→</a:t>
            </a:r>
          </a:p>
        </p:txBody>
      </p:sp>
      <p:sp>
        <p:nvSpPr>
          <p:cNvPr id="22" name="TEXT X1:N bus"/>
          <p:cNvSpPr txBox="1"/>
          <p:nvPr/>
        </p:nvSpPr>
        <p:spPr>
          <a:xfrm>
            <a:off x="7790688" y="2432303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X1:N bus</a:t>
            </a:r>
          </a:p>
        </p:txBody>
      </p:sp>
      <p:sp>
        <p:nvSpPr>
          <p:cNvPr id="23" name="NET ROW AC03"/>
          <p:cNvSpPr/>
          <p:nvPr/>
        </p:nvSpPr>
        <p:spPr>
          <a:xfrm>
            <a:off x="832104" y="2852928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OMPONENT"/>
          <p:cNvSpPr/>
          <p:nvPr/>
        </p:nvSpPr>
        <p:spPr>
          <a:xfrm>
            <a:off x="950976" y="2971800"/>
            <a:ext cx="118872" cy="173736"/>
          </a:xfrm>
          <a:prstGeom prst="rect">
            <a:avLst/>
          </a:prstGeom>
          <a:solidFill>
            <a:srgbClr val="16834A"/>
          </a:solidFill>
          <a:ln w="1270">
            <a:solidFill>
              <a:srgbClr val="168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 AC03"/>
          <p:cNvSpPr txBox="1"/>
          <p:nvPr/>
        </p:nvSpPr>
        <p:spPr>
          <a:xfrm>
            <a:off x="1197864" y="2916936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AC03</a:t>
            </a:r>
          </a:p>
        </p:txBody>
      </p:sp>
      <p:sp>
        <p:nvSpPr>
          <p:cNvPr id="26" name="TEXT J1:PE"/>
          <p:cNvSpPr txBox="1"/>
          <p:nvPr/>
        </p:nvSpPr>
        <p:spPr>
          <a:xfrm>
            <a:off x="2194560" y="2916936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J1:PE</a:t>
            </a:r>
          </a:p>
        </p:txBody>
      </p:sp>
      <p:sp>
        <p:nvSpPr>
          <p:cNvPr id="27" name="TEXT →"/>
          <p:cNvSpPr txBox="1"/>
          <p:nvPr/>
        </p:nvSpPr>
        <p:spPr>
          <a:xfrm>
            <a:off x="7424927" y="2926080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6834A"/>
                </a:solidFill>
                <a:latin typeface="Aptos"/>
              </a:rPr>
              <a:t>→</a:t>
            </a:r>
          </a:p>
        </p:txBody>
      </p:sp>
      <p:sp>
        <p:nvSpPr>
          <p:cNvPr id="28" name="TEXT X1:PE + chassis bonds"/>
          <p:cNvSpPr txBox="1"/>
          <p:nvPr/>
        </p:nvSpPr>
        <p:spPr>
          <a:xfrm>
            <a:off x="7790688" y="2916936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X1:PE + chassis bonds</a:t>
            </a:r>
          </a:p>
        </p:txBody>
      </p:sp>
      <p:sp>
        <p:nvSpPr>
          <p:cNvPr id="29" name="NET ROW AC04"/>
          <p:cNvSpPr/>
          <p:nvPr/>
        </p:nvSpPr>
        <p:spPr>
          <a:xfrm>
            <a:off x="832104" y="3337560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OMPONENT"/>
          <p:cNvSpPr/>
          <p:nvPr/>
        </p:nvSpPr>
        <p:spPr>
          <a:xfrm>
            <a:off x="950976" y="3456432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AC04"/>
          <p:cNvSpPr txBox="1"/>
          <p:nvPr/>
        </p:nvSpPr>
        <p:spPr>
          <a:xfrm>
            <a:off x="1197864" y="3401568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AC04</a:t>
            </a:r>
          </a:p>
        </p:txBody>
      </p:sp>
      <p:sp>
        <p:nvSpPr>
          <p:cNvPr id="32" name="TEXT X1:L / N / PE"/>
          <p:cNvSpPr txBox="1"/>
          <p:nvPr/>
        </p:nvSpPr>
        <p:spPr>
          <a:xfrm>
            <a:off x="2194560" y="3401568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X1:L / N / PE</a:t>
            </a:r>
          </a:p>
        </p:txBody>
      </p:sp>
      <p:sp>
        <p:nvSpPr>
          <p:cNvPr id="33" name="TEXT →"/>
          <p:cNvSpPr txBox="1"/>
          <p:nvPr/>
        </p:nvSpPr>
        <p:spPr>
          <a:xfrm>
            <a:off x="7424927" y="3410712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34" name="TEXT PS1:C1 / C2 / C3"/>
          <p:cNvSpPr txBox="1"/>
          <p:nvPr/>
        </p:nvSpPr>
        <p:spPr>
          <a:xfrm>
            <a:off x="7790688" y="3401568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PS1:C1 / C2 / C3</a:t>
            </a:r>
          </a:p>
        </p:txBody>
      </p:sp>
      <p:sp>
        <p:nvSpPr>
          <p:cNvPr id="35" name="NET ROW AC05"/>
          <p:cNvSpPr/>
          <p:nvPr/>
        </p:nvSpPr>
        <p:spPr>
          <a:xfrm>
            <a:off x="832104" y="3822191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OMPONENT"/>
          <p:cNvSpPr/>
          <p:nvPr/>
        </p:nvSpPr>
        <p:spPr>
          <a:xfrm>
            <a:off x="950976" y="3941063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 AC05"/>
          <p:cNvSpPr txBox="1"/>
          <p:nvPr/>
        </p:nvSpPr>
        <p:spPr>
          <a:xfrm>
            <a:off x="1197864" y="3886200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AC05</a:t>
            </a:r>
          </a:p>
        </p:txBody>
      </p:sp>
      <p:sp>
        <p:nvSpPr>
          <p:cNvPr id="38" name="TEXT X1:L → S1-A:13/14"/>
          <p:cNvSpPr txBox="1"/>
          <p:nvPr/>
        </p:nvSpPr>
        <p:spPr>
          <a:xfrm>
            <a:off x="2194560" y="3886200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X1:L → S1-A:13/14</a:t>
            </a:r>
          </a:p>
        </p:txBody>
      </p:sp>
      <p:sp>
        <p:nvSpPr>
          <p:cNvPr id="39" name="TEXT →"/>
          <p:cNvSpPr txBox="1"/>
          <p:nvPr/>
        </p:nvSpPr>
        <p:spPr>
          <a:xfrm>
            <a:off x="7424927" y="3895344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40" name="TEXT E1:11 (L)"/>
          <p:cNvSpPr txBox="1"/>
          <p:nvPr/>
        </p:nvSpPr>
        <p:spPr>
          <a:xfrm>
            <a:off x="7790688" y="3886200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E1:11 (L)</a:t>
            </a:r>
          </a:p>
        </p:txBody>
      </p:sp>
      <p:sp>
        <p:nvSpPr>
          <p:cNvPr id="41" name="NET ROW AC06"/>
          <p:cNvSpPr/>
          <p:nvPr/>
        </p:nvSpPr>
        <p:spPr>
          <a:xfrm>
            <a:off x="832104" y="4306824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OMPONENT"/>
          <p:cNvSpPr/>
          <p:nvPr/>
        </p:nvSpPr>
        <p:spPr>
          <a:xfrm>
            <a:off x="950976" y="4425696"/>
            <a:ext cx="118872" cy="173736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AC06"/>
          <p:cNvSpPr txBox="1"/>
          <p:nvPr/>
        </p:nvSpPr>
        <p:spPr>
          <a:xfrm>
            <a:off x="1197864" y="4370832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AC06</a:t>
            </a:r>
          </a:p>
        </p:txBody>
      </p:sp>
      <p:sp>
        <p:nvSpPr>
          <p:cNvPr id="44" name="TEXT X1:N bus"/>
          <p:cNvSpPr txBox="1"/>
          <p:nvPr/>
        </p:nvSpPr>
        <p:spPr>
          <a:xfrm>
            <a:off x="2194560" y="4370832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X1:N bus</a:t>
            </a:r>
          </a:p>
        </p:txBody>
      </p:sp>
      <p:sp>
        <p:nvSpPr>
          <p:cNvPr id="45" name="TEXT →"/>
          <p:cNvSpPr txBox="1"/>
          <p:nvPr/>
        </p:nvSpPr>
        <p:spPr>
          <a:xfrm>
            <a:off x="7424927" y="4379976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A5BAE"/>
                </a:solidFill>
                <a:latin typeface="Aptos"/>
              </a:rPr>
              <a:t>→</a:t>
            </a:r>
          </a:p>
        </p:txBody>
      </p:sp>
      <p:sp>
        <p:nvSpPr>
          <p:cNvPr id="46" name="TEXT E1:12 (N)"/>
          <p:cNvSpPr txBox="1"/>
          <p:nvPr/>
        </p:nvSpPr>
        <p:spPr>
          <a:xfrm>
            <a:off x="7790688" y="4370832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E1:12 (N)</a:t>
            </a:r>
          </a:p>
        </p:txBody>
      </p:sp>
      <p:sp>
        <p:nvSpPr>
          <p:cNvPr id="47" name="NET ROW AC07"/>
          <p:cNvSpPr/>
          <p:nvPr/>
        </p:nvSpPr>
        <p:spPr>
          <a:xfrm>
            <a:off x="832104" y="4791456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OMPONENT"/>
          <p:cNvSpPr/>
          <p:nvPr/>
        </p:nvSpPr>
        <p:spPr>
          <a:xfrm>
            <a:off x="950976" y="4910328"/>
            <a:ext cx="118872" cy="173736"/>
          </a:xfrm>
          <a:prstGeom prst="rect">
            <a:avLst/>
          </a:prstGeom>
          <a:solidFill>
            <a:srgbClr val="9A5127"/>
          </a:solidFill>
          <a:ln w="1270">
            <a:solidFill>
              <a:srgbClr val="9A51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AC07"/>
          <p:cNvSpPr txBox="1"/>
          <p:nvPr/>
        </p:nvSpPr>
        <p:spPr>
          <a:xfrm>
            <a:off x="1197864" y="4855464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AC07</a:t>
            </a:r>
          </a:p>
        </p:txBody>
      </p:sp>
      <p:sp>
        <p:nvSpPr>
          <p:cNvPr id="50" name="TEXT X1:L → S2-A:13/14"/>
          <p:cNvSpPr txBox="1"/>
          <p:nvPr/>
        </p:nvSpPr>
        <p:spPr>
          <a:xfrm>
            <a:off x="2194560" y="4855464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X1:L → S2-A:13/14</a:t>
            </a:r>
          </a:p>
        </p:txBody>
      </p:sp>
      <p:sp>
        <p:nvSpPr>
          <p:cNvPr id="51" name="TEXT →"/>
          <p:cNvSpPr txBox="1"/>
          <p:nvPr/>
        </p:nvSpPr>
        <p:spPr>
          <a:xfrm>
            <a:off x="7424927" y="4864608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9A5127"/>
                </a:solidFill>
                <a:latin typeface="Aptos"/>
              </a:rPr>
              <a:t>→</a:t>
            </a:r>
          </a:p>
        </p:txBody>
      </p:sp>
      <p:sp>
        <p:nvSpPr>
          <p:cNvPr id="52" name="TEXT E2:11 (L)"/>
          <p:cNvSpPr txBox="1"/>
          <p:nvPr/>
        </p:nvSpPr>
        <p:spPr>
          <a:xfrm>
            <a:off x="7790688" y="4855464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E2:11 (L)</a:t>
            </a:r>
          </a:p>
        </p:txBody>
      </p:sp>
      <p:sp>
        <p:nvSpPr>
          <p:cNvPr id="53" name="NET ROW AC08"/>
          <p:cNvSpPr/>
          <p:nvPr/>
        </p:nvSpPr>
        <p:spPr>
          <a:xfrm>
            <a:off x="832104" y="5276088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OMPONENT"/>
          <p:cNvSpPr/>
          <p:nvPr/>
        </p:nvSpPr>
        <p:spPr>
          <a:xfrm>
            <a:off x="950976" y="5394959"/>
            <a:ext cx="118872" cy="173736"/>
          </a:xfrm>
          <a:prstGeom prst="rect">
            <a:avLst/>
          </a:prstGeom>
          <a:solidFill>
            <a:srgbClr val="1A5BAE"/>
          </a:solidFill>
          <a:ln w="1270">
            <a:solidFill>
              <a:srgbClr val="1A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AC08"/>
          <p:cNvSpPr txBox="1"/>
          <p:nvPr/>
        </p:nvSpPr>
        <p:spPr>
          <a:xfrm>
            <a:off x="1197864" y="5340096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AC08</a:t>
            </a:r>
          </a:p>
        </p:txBody>
      </p:sp>
      <p:sp>
        <p:nvSpPr>
          <p:cNvPr id="56" name="TEXT X1:N bus"/>
          <p:cNvSpPr txBox="1"/>
          <p:nvPr/>
        </p:nvSpPr>
        <p:spPr>
          <a:xfrm>
            <a:off x="2194560" y="5340096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X1:N bus</a:t>
            </a:r>
          </a:p>
        </p:txBody>
      </p:sp>
      <p:sp>
        <p:nvSpPr>
          <p:cNvPr id="57" name="TEXT →"/>
          <p:cNvSpPr txBox="1"/>
          <p:nvPr/>
        </p:nvSpPr>
        <p:spPr>
          <a:xfrm>
            <a:off x="7424927" y="5349240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1A5BAE"/>
                </a:solidFill>
                <a:latin typeface="Aptos"/>
              </a:rPr>
              <a:t>→</a:t>
            </a:r>
          </a:p>
        </p:txBody>
      </p:sp>
      <p:sp>
        <p:nvSpPr>
          <p:cNvPr id="58" name="TEXT E2:12 (N)"/>
          <p:cNvSpPr txBox="1"/>
          <p:nvPr/>
        </p:nvSpPr>
        <p:spPr>
          <a:xfrm>
            <a:off x="7790688" y="5340096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E2:12 (N)</a:t>
            </a:r>
          </a:p>
        </p:txBody>
      </p:sp>
      <p:sp>
        <p:nvSpPr>
          <p:cNvPr id="59" name="NET ROW DC01"/>
          <p:cNvSpPr/>
          <p:nvPr/>
        </p:nvSpPr>
        <p:spPr>
          <a:xfrm>
            <a:off x="832104" y="5760720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OMPONENT"/>
          <p:cNvSpPr/>
          <p:nvPr/>
        </p:nvSpPr>
        <p:spPr>
          <a:xfrm>
            <a:off x="950976" y="5879592"/>
            <a:ext cx="118872" cy="1737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 DC01"/>
          <p:cNvSpPr txBox="1"/>
          <p:nvPr/>
        </p:nvSpPr>
        <p:spPr>
          <a:xfrm>
            <a:off x="1197864" y="5824728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DC01</a:t>
            </a:r>
          </a:p>
        </p:txBody>
      </p:sp>
      <p:sp>
        <p:nvSpPr>
          <p:cNvPr id="62" name="TEXT PS1:A1 +Vo"/>
          <p:cNvSpPr txBox="1"/>
          <p:nvPr/>
        </p:nvSpPr>
        <p:spPr>
          <a:xfrm>
            <a:off x="2194560" y="5824728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PS1:A1 +Vo</a:t>
            </a:r>
          </a:p>
        </p:txBody>
      </p:sp>
      <p:sp>
        <p:nvSpPr>
          <p:cNvPr id="63" name="TEXT →"/>
          <p:cNvSpPr txBox="1"/>
          <p:nvPr/>
        </p:nvSpPr>
        <p:spPr>
          <a:xfrm>
            <a:off x="7424927" y="5833872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008192"/>
                </a:solidFill>
                <a:latin typeface="Aptos"/>
              </a:rPr>
              <a:t>→</a:t>
            </a:r>
          </a:p>
        </p:txBody>
      </p:sp>
      <p:sp>
        <p:nvSpPr>
          <p:cNvPr id="64" name="TEXT X2:+24 V shared"/>
          <p:cNvSpPr txBox="1"/>
          <p:nvPr/>
        </p:nvSpPr>
        <p:spPr>
          <a:xfrm>
            <a:off x="7790688" y="5824728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X2:+24 V shared</a:t>
            </a:r>
          </a:p>
        </p:txBody>
      </p:sp>
      <p:sp>
        <p:nvSpPr>
          <p:cNvPr id="65" name="NET ROW DC02"/>
          <p:cNvSpPr/>
          <p:nvPr/>
        </p:nvSpPr>
        <p:spPr>
          <a:xfrm>
            <a:off x="832104" y="6245352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COMPONENT"/>
          <p:cNvSpPr/>
          <p:nvPr/>
        </p:nvSpPr>
        <p:spPr>
          <a:xfrm>
            <a:off x="950976" y="6364224"/>
            <a:ext cx="118872" cy="1737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 DC02"/>
          <p:cNvSpPr txBox="1"/>
          <p:nvPr/>
        </p:nvSpPr>
        <p:spPr>
          <a:xfrm>
            <a:off x="1197864" y="6309360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DC02</a:t>
            </a:r>
          </a:p>
        </p:txBody>
      </p:sp>
      <p:sp>
        <p:nvSpPr>
          <p:cNvPr id="68" name="TEXT PS1:A2/A3 −Vo"/>
          <p:cNvSpPr txBox="1"/>
          <p:nvPr/>
        </p:nvSpPr>
        <p:spPr>
          <a:xfrm>
            <a:off x="2194560" y="6309360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PS1:A2/A3 −Vo</a:t>
            </a:r>
          </a:p>
        </p:txBody>
      </p:sp>
      <p:sp>
        <p:nvSpPr>
          <p:cNvPr id="69" name="TEXT →"/>
          <p:cNvSpPr txBox="1"/>
          <p:nvPr/>
        </p:nvSpPr>
        <p:spPr>
          <a:xfrm>
            <a:off x="7424927" y="6318504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607184"/>
                </a:solidFill>
                <a:latin typeface="Aptos"/>
              </a:rPr>
              <a:t>→</a:t>
            </a:r>
          </a:p>
        </p:txBody>
      </p:sp>
      <p:sp>
        <p:nvSpPr>
          <p:cNvPr id="70" name="TEXT X2:0 V shared"/>
          <p:cNvSpPr txBox="1"/>
          <p:nvPr/>
        </p:nvSpPr>
        <p:spPr>
          <a:xfrm>
            <a:off x="7790688" y="6309360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X2:0 V shared</a:t>
            </a:r>
          </a:p>
        </p:txBody>
      </p:sp>
      <p:sp>
        <p:nvSpPr>
          <p:cNvPr id="71" name="NET ROW DC03"/>
          <p:cNvSpPr/>
          <p:nvPr/>
        </p:nvSpPr>
        <p:spPr>
          <a:xfrm>
            <a:off x="832104" y="6729984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COMPONENT"/>
          <p:cNvSpPr/>
          <p:nvPr/>
        </p:nvSpPr>
        <p:spPr>
          <a:xfrm>
            <a:off x="950976" y="6848856"/>
            <a:ext cx="118872" cy="1737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 DC03"/>
          <p:cNvSpPr txBox="1"/>
          <p:nvPr/>
        </p:nvSpPr>
        <p:spPr>
          <a:xfrm>
            <a:off x="1197864" y="6793992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DC03</a:t>
            </a:r>
          </a:p>
        </p:txBody>
      </p:sp>
      <p:sp>
        <p:nvSpPr>
          <p:cNvPr id="74" name="TEXT X2:+24 → S1-B NO"/>
          <p:cNvSpPr txBox="1"/>
          <p:nvPr/>
        </p:nvSpPr>
        <p:spPr>
          <a:xfrm>
            <a:off x="2194560" y="6793992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X2:+24 → S1-B:23/24*</a:t>
            </a:r>
          </a:p>
        </p:txBody>
      </p:sp>
      <p:sp>
        <p:nvSpPr>
          <p:cNvPr id="75" name="TEXT →"/>
          <p:cNvSpPr txBox="1"/>
          <p:nvPr/>
        </p:nvSpPr>
        <p:spPr>
          <a:xfrm>
            <a:off x="7424927" y="6803136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008192"/>
                </a:solidFill>
                <a:latin typeface="Aptos"/>
              </a:rPr>
              <a:t>→</a:t>
            </a:r>
          </a:p>
        </p:txBody>
      </p:sp>
      <p:sp>
        <p:nvSpPr>
          <p:cNvPr id="76" name="TEXT X3:CH1 gated +24"/>
          <p:cNvSpPr txBox="1"/>
          <p:nvPr/>
        </p:nvSpPr>
        <p:spPr>
          <a:xfrm>
            <a:off x="7790688" y="6793992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X3:CH1 gated +24</a:t>
            </a:r>
          </a:p>
        </p:txBody>
      </p:sp>
      <p:sp>
        <p:nvSpPr>
          <p:cNvPr id="77" name="NET ROW DC04"/>
          <p:cNvSpPr/>
          <p:nvPr/>
        </p:nvSpPr>
        <p:spPr>
          <a:xfrm>
            <a:off x="832104" y="7214616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OMPONENT"/>
          <p:cNvSpPr/>
          <p:nvPr/>
        </p:nvSpPr>
        <p:spPr>
          <a:xfrm>
            <a:off x="950976" y="7333488"/>
            <a:ext cx="118872" cy="173736"/>
          </a:xfrm>
          <a:prstGeom prst="rect">
            <a:avLst/>
          </a:prstGeom>
          <a:solidFill>
            <a:srgbClr val="008192"/>
          </a:solidFill>
          <a:ln w="1270">
            <a:solidFill>
              <a:srgbClr val="008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 DC04"/>
          <p:cNvSpPr txBox="1"/>
          <p:nvPr/>
        </p:nvSpPr>
        <p:spPr>
          <a:xfrm>
            <a:off x="1197864" y="7278624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DC04</a:t>
            </a:r>
          </a:p>
        </p:txBody>
      </p:sp>
      <p:sp>
        <p:nvSpPr>
          <p:cNvPr id="80" name="TEXT X2:+24 → S2-B NO"/>
          <p:cNvSpPr txBox="1"/>
          <p:nvPr/>
        </p:nvSpPr>
        <p:spPr>
          <a:xfrm>
            <a:off x="2194560" y="7278624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X2:+24 → S2-B:23/24*</a:t>
            </a:r>
          </a:p>
        </p:txBody>
      </p:sp>
      <p:sp>
        <p:nvSpPr>
          <p:cNvPr id="81" name="TEXT →"/>
          <p:cNvSpPr txBox="1"/>
          <p:nvPr/>
        </p:nvSpPr>
        <p:spPr>
          <a:xfrm>
            <a:off x="7424927" y="7287768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008192"/>
                </a:solidFill>
                <a:latin typeface="Aptos"/>
              </a:rPr>
              <a:t>→</a:t>
            </a:r>
          </a:p>
        </p:txBody>
      </p:sp>
      <p:sp>
        <p:nvSpPr>
          <p:cNvPr id="82" name="TEXT X4:CH2 gated +24"/>
          <p:cNvSpPr txBox="1"/>
          <p:nvPr/>
        </p:nvSpPr>
        <p:spPr>
          <a:xfrm>
            <a:off x="7790688" y="7278624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X4:CH2 gated +24</a:t>
            </a:r>
          </a:p>
        </p:txBody>
      </p:sp>
      <p:sp>
        <p:nvSpPr>
          <p:cNvPr id="83" name="NET ROW DC05"/>
          <p:cNvSpPr/>
          <p:nvPr/>
        </p:nvSpPr>
        <p:spPr>
          <a:xfrm>
            <a:off x="832104" y="7699248"/>
            <a:ext cx="13231368" cy="429768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255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OMPONENT"/>
          <p:cNvSpPr/>
          <p:nvPr/>
        </p:nvSpPr>
        <p:spPr>
          <a:xfrm>
            <a:off x="950976" y="7818120"/>
            <a:ext cx="118872" cy="173736"/>
          </a:xfrm>
          <a:prstGeom prst="rect">
            <a:avLst/>
          </a:prstGeom>
          <a:solidFill>
            <a:srgbClr val="607184"/>
          </a:solidFill>
          <a:ln w="1270">
            <a:solidFill>
              <a:srgbClr val="60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 DC05"/>
          <p:cNvSpPr txBox="1"/>
          <p:nvPr/>
        </p:nvSpPr>
        <p:spPr>
          <a:xfrm>
            <a:off x="1197864" y="7763256"/>
            <a:ext cx="923544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1D599B"/>
                </a:solidFill>
                <a:latin typeface="Aptos"/>
              </a:rPr>
              <a:t>DC05</a:t>
            </a:r>
          </a:p>
        </p:txBody>
      </p:sp>
      <p:sp>
        <p:nvSpPr>
          <p:cNvPr id="86" name="TEXT X2:0 V shared"/>
          <p:cNvSpPr txBox="1"/>
          <p:nvPr/>
        </p:nvSpPr>
        <p:spPr>
          <a:xfrm>
            <a:off x="2194560" y="7763256"/>
            <a:ext cx="516636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X2:0 V shared</a:t>
            </a:r>
          </a:p>
        </p:txBody>
      </p:sp>
      <p:sp>
        <p:nvSpPr>
          <p:cNvPr id="87" name="TEXT →"/>
          <p:cNvSpPr txBox="1"/>
          <p:nvPr/>
        </p:nvSpPr>
        <p:spPr>
          <a:xfrm>
            <a:off x="7424927" y="7772400"/>
            <a:ext cx="256032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00" b="1">
                <a:solidFill>
                  <a:srgbClr val="607184"/>
                </a:solidFill>
                <a:latin typeface="Aptos"/>
              </a:rPr>
              <a:t>→</a:t>
            </a:r>
          </a:p>
        </p:txBody>
      </p:sp>
      <p:sp>
        <p:nvSpPr>
          <p:cNvPr id="88" name="TEXT X3 / X4 returns"/>
          <p:cNvSpPr txBox="1"/>
          <p:nvPr/>
        </p:nvSpPr>
        <p:spPr>
          <a:xfrm>
            <a:off x="7790688" y="7763256"/>
            <a:ext cx="595274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X3 / X4 returns</a:t>
            </a:r>
          </a:p>
        </p:txBody>
      </p:sp>
      <p:sp>
        <p:nvSpPr>
          <p:cNvPr id="89" name="TEXT Required before wiring: J"/>
          <p:cNvSpPr txBox="1"/>
          <p:nvPr/>
        </p:nvSpPr>
        <p:spPr>
          <a:xfrm>
            <a:off x="960120" y="8394192"/>
            <a:ext cx="12490704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A35B1B"/>
                </a:solidFill>
                <a:latin typeface="Aptos"/>
              </a:rPr>
              <a:t>Before wiring: confirm selector B contact-block stamps (*23/24 IEC proposed), J1 tabs, PE, X1–X4 blocks/jumpers and mains/24 V fuses.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  /  CONNECTION SCHEDUL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10  /  CONNECTION SCHEDULE / CONTROLS + HEATER</a:t>
            </a:r>
          </a:p>
        </p:txBody>
      </p:sp>
      <p:sp>
        <p:nvSpPr>
          <p:cNvPr id="3" name="TEXT Both channels follow equi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Both channels follow equivalent functional nets; this summary complements the illustrated component-port sheets.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TERMINAL-LEVEL REFERENCE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TERMINAL-LEVEL REFERENCE   /   CHANNELS 1 AND 2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10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10</a:t>
            </a:r>
          </a:p>
        </p:txBody>
      </p:sp>
      <p:sp>
        <p:nvSpPr>
          <p:cNvPr id="10" name="TEXT The Finder 13.61 power-up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The Finder 13.61 power-up OFF state, switch actual terminals and DC protection must still be verified.</a:t>
            </a:r>
          </a:p>
        </p:txBody>
      </p:sp>
      <p:sp>
        <p:nvSpPr>
          <p:cNvPr id="11" name="COMPONENT"/>
          <p:cNvSpPr/>
          <p:nvPr/>
        </p:nvSpPr>
        <p:spPr>
          <a:xfrm>
            <a:off x="795528" y="1865376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ENABLE / EACH CH"/>
          <p:cNvSpPr txBox="1"/>
          <p:nvPr/>
        </p:nvSpPr>
        <p:spPr>
          <a:xfrm>
            <a:off x="950976" y="1993392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ENABLE / EACH CH</a:t>
            </a:r>
          </a:p>
        </p:txBody>
      </p:sp>
      <p:sp>
        <p:nvSpPr>
          <p:cNvPr id="13" name="TEXT X3/4:+24 → Finder 13.61 p"/>
          <p:cNvSpPr txBox="1"/>
          <p:nvPr/>
        </p:nvSpPr>
        <p:spPr>
          <a:xfrm>
            <a:off x="3931920" y="1947672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X3/4:+24 → Finder 13.61 power &amp; 11; button C.  X2:0V → Finder supply return, SK3/4:A2 and EAO LED−.</a:t>
            </a:r>
          </a:p>
        </p:txBody>
      </p:sp>
      <p:sp>
        <p:nvSpPr>
          <p:cNvPr id="14" name="COMPONENT"/>
          <p:cNvSpPr/>
          <p:nvPr/>
        </p:nvSpPr>
        <p:spPr>
          <a:xfrm>
            <a:off x="795528" y="2569464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MOMENTARY INPUT"/>
          <p:cNvSpPr txBox="1"/>
          <p:nvPr/>
        </p:nvSpPr>
        <p:spPr>
          <a:xfrm>
            <a:off x="950976" y="2697480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MOMENTARY INPUT</a:t>
            </a:r>
          </a:p>
        </p:txBody>
      </p:sp>
      <p:sp>
        <p:nvSpPr>
          <p:cNvPr id="16" name="TEXT EAO SB1/2:NO → Finder K1/"/>
          <p:cNvSpPr txBox="1"/>
          <p:nvPr/>
        </p:nvSpPr>
        <p:spPr>
          <a:xfrm>
            <a:off x="3931920" y="2651760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EAO SB1/2:NO → Finder K1/2:3 impulse; EAO C uses channel-gated +24 V.</a:t>
            </a:r>
          </a:p>
        </p:txBody>
      </p:sp>
      <p:sp>
        <p:nvSpPr>
          <p:cNvPr id="17" name="COMPONENT"/>
          <p:cNvSpPr/>
          <p:nvPr/>
        </p:nvSpPr>
        <p:spPr>
          <a:xfrm>
            <a:off x="795528" y="3273552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FINDER OUTPUT"/>
          <p:cNvSpPr txBox="1"/>
          <p:nvPr/>
        </p:nvSpPr>
        <p:spPr>
          <a:xfrm>
            <a:off x="950976" y="3401568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FINDER OUTPUT</a:t>
            </a:r>
          </a:p>
        </p:txBody>
      </p:sp>
      <p:sp>
        <p:nvSpPr>
          <p:cNvPr id="19" name="TEXT K1/2:14 (NO) → Finder 62."/>
          <p:cNvSpPr txBox="1"/>
          <p:nvPr/>
        </p:nvSpPr>
        <p:spPr>
          <a:xfrm>
            <a:off x="3931920" y="3355848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K1/2:14 (NO) → Finder 62.31 SOCKET SK3/4:A1 and EAO LED+; 11 COM fed from gated +24 V.</a:t>
            </a:r>
          </a:p>
        </p:txBody>
      </p:sp>
      <p:sp>
        <p:nvSpPr>
          <p:cNvPr id="20" name="COMPONENT"/>
          <p:cNvSpPr/>
          <p:nvPr/>
        </p:nvSpPr>
        <p:spPr>
          <a:xfrm>
            <a:off x="795528" y="3977639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THERMOCOUPLE"/>
          <p:cNvSpPr txBox="1"/>
          <p:nvPr/>
        </p:nvSpPr>
        <p:spPr>
          <a:xfrm>
            <a:off x="950976" y="4105655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THERMOCOUPLE</a:t>
            </a:r>
          </a:p>
        </p:txBody>
      </p:sp>
      <p:sp>
        <p:nvSpPr>
          <p:cNvPr id="22" name="TEXT Type K sensor (+) → E1/E2"/>
          <p:cNvSpPr txBox="1"/>
          <p:nvPr/>
        </p:nvSpPr>
        <p:spPr>
          <a:xfrm>
            <a:off x="3931920" y="4059935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Type K sensor (+) → E1/E2:6; sensor (−) → E1/E2:5.</a:t>
            </a:r>
          </a:p>
        </p:txBody>
      </p:sp>
      <p:sp>
        <p:nvSpPr>
          <p:cNvPr id="23" name="COMPONENT"/>
          <p:cNvSpPr/>
          <p:nvPr/>
        </p:nvSpPr>
        <p:spPr>
          <a:xfrm>
            <a:off x="795528" y="4681728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 OMRON / WEIDMÜLLER"/>
          <p:cNvSpPr txBox="1"/>
          <p:nvPr/>
        </p:nvSpPr>
        <p:spPr>
          <a:xfrm>
            <a:off x="950976" y="4809744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OMRON / WEIDMÜLLER</a:t>
            </a:r>
          </a:p>
        </p:txBody>
      </p:sp>
      <p:sp>
        <p:nvSpPr>
          <p:cNvPr id="25" name="TEXT E1/E2 SSR pulse terminals"/>
          <p:cNvSpPr txBox="1"/>
          <p:nvPr/>
        </p:nvSpPr>
        <p:spPr>
          <a:xfrm>
            <a:off x="3931920" y="4764024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E1/E2 SSR pulse terminals 1 (+),2 (−) → W1/W2 A1 (+),A2 (−).</a:t>
            </a:r>
          </a:p>
        </p:txBody>
      </p:sp>
      <p:sp>
        <p:nvSpPr>
          <p:cNvPr id="26" name="COMPONENT"/>
          <p:cNvSpPr/>
          <p:nvPr/>
        </p:nvSpPr>
        <p:spPr>
          <a:xfrm>
            <a:off x="795528" y="5385816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WEID / SSR DRIVE"/>
          <p:cNvSpPr txBox="1"/>
          <p:nvPr/>
        </p:nvSpPr>
        <p:spPr>
          <a:xfrm>
            <a:off x="950976" y="5513832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WEID / SSR DRIVE</a:t>
            </a:r>
          </a:p>
        </p:txBody>
      </p:sp>
      <p:sp>
        <p:nvSpPr>
          <p:cNvPr id="28" name="TEXT Gated +24 → SSR+3 AND act"/>
          <p:cNvSpPr txBox="1"/>
          <p:nvPr/>
        </p:nvSpPr>
        <p:spPr>
          <a:xfrm>
            <a:off x="3931920" y="5468112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Gated +24 → SSR+3 AND activity HL+; SSR−4 AND activity HL− → W:13; W:14 → 0V.</a:t>
            </a:r>
          </a:p>
        </p:txBody>
      </p:sp>
      <p:sp>
        <p:nvSpPr>
          <p:cNvPr id="29" name="COMPONENT"/>
          <p:cNvSpPr/>
          <p:nvPr/>
        </p:nvSpPr>
        <p:spPr>
          <a:xfrm>
            <a:off x="795528" y="6089904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DC POSITIVE"/>
          <p:cNvSpPr txBox="1"/>
          <p:nvPr/>
        </p:nvSpPr>
        <p:spPr>
          <a:xfrm>
            <a:off x="950976" y="6217920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DC POSITIVE</a:t>
            </a:r>
          </a:p>
        </p:txBody>
      </p:sp>
      <p:sp>
        <p:nvSpPr>
          <p:cNvPr id="31" name="TEXT Supply DC+ → Lovato 1→2 →"/>
          <p:cNvSpPr txBox="1"/>
          <p:nvPr/>
        </p:nvSpPr>
        <p:spPr>
          <a:xfrm>
            <a:off x="3931920" y="6172200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Supply DC+ → Lovato 1→2 → Finder 62.31 contact 34 (+)→14 (−) → SSR +1→−2 → heater+.</a:t>
            </a:r>
          </a:p>
        </p:txBody>
      </p:sp>
      <p:sp>
        <p:nvSpPr>
          <p:cNvPr id="32" name="COMPONENT"/>
          <p:cNvSpPr/>
          <p:nvPr/>
        </p:nvSpPr>
        <p:spPr>
          <a:xfrm>
            <a:off x="795528" y="6793992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 DC RETURN"/>
          <p:cNvSpPr txBox="1"/>
          <p:nvPr/>
        </p:nvSpPr>
        <p:spPr>
          <a:xfrm>
            <a:off x="950976" y="6922008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DC RETURN</a:t>
            </a:r>
          </a:p>
        </p:txBody>
      </p:sp>
      <p:sp>
        <p:nvSpPr>
          <p:cNvPr id="34" name="TEXT Heater− → matching extern"/>
          <p:cNvSpPr txBox="1"/>
          <p:nvPr/>
        </p:nvSpPr>
        <p:spPr>
          <a:xfrm>
            <a:off x="3931920" y="6876288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Heater− → matching external DC supply−; Finder 14 and SSR −2 are NOT DC−.</a:t>
            </a:r>
          </a:p>
        </p:txBody>
      </p:sp>
      <p:sp>
        <p:nvSpPr>
          <p:cNvPr id="35" name="COMPONENT"/>
          <p:cNvSpPr/>
          <p:nvPr/>
        </p:nvSpPr>
        <p:spPr>
          <a:xfrm>
            <a:off x="795528" y="7498079"/>
            <a:ext cx="13523976" cy="594360"/>
          </a:xfrm>
          <a:prstGeom prst="roundRect">
            <a:avLst>
              <a:gd name="adj" fmla="val 5500"/>
            </a:avLst>
          </a:prstGeom>
          <a:solidFill>
            <a:srgbClr val="F1F6FB"/>
          </a:solidFill>
          <a:ln w="8636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 DC COIL"/>
          <p:cNvSpPr txBox="1"/>
          <p:nvPr/>
        </p:nvSpPr>
        <p:spPr>
          <a:xfrm>
            <a:off x="950976" y="7626096"/>
            <a:ext cx="2935224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D599B"/>
                </a:solidFill>
                <a:latin typeface="Aptos"/>
              </a:rPr>
              <a:t>DC COIL</a:t>
            </a:r>
          </a:p>
        </p:txBody>
      </p:sp>
      <p:sp>
        <p:nvSpPr>
          <p:cNvPr id="37" name="TEXT Finder 62.31 uses socket "/>
          <p:cNvSpPr txBox="1"/>
          <p:nvPr/>
        </p:nvSpPr>
        <p:spPr>
          <a:xfrm>
            <a:off x="3931920" y="7580375"/>
            <a:ext cx="10104120" cy="39319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69" b="0">
                <a:solidFill>
                  <a:srgbClr val="1F344E"/>
                </a:solidFill>
                <a:latin typeface="Aptos"/>
              </a:rPr>
              <a:t>Finder 62.31 uses socket SK3/4: coil A1/A2, contact 34(+)/14(−). Actual 92.03 suffix and suppressor TBD.</a:t>
            </a:r>
          </a:p>
        </p:txBody>
      </p:sp>
      <p:sp>
        <p:nvSpPr>
          <p:cNvPr id="38" name="TEXT These are net-level circu"/>
          <p:cNvSpPr txBox="1"/>
          <p:nvPr/>
        </p:nvSpPr>
        <p:spPr>
          <a:xfrm>
            <a:off x="877824" y="8458200"/>
            <a:ext cx="12984480" cy="26517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00" b="0">
                <a:solidFill>
                  <a:srgbClr val="A35B1B"/>
                </a:solidFill>
                <a:latin typeface="Aptos"/>
              </a:rPr>
              <a:t>These are net-level circuit proposals, NOT numbered physical wires. Final wire IDs, conductor sizes, terminations and current ratings remain to be assigned.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  /  MANUFACTURER DOCUM"/>
          <p:cNvSpPr txBox="1"/>
          <p:nvPr/>
        </p:nvSpPr>
        <p:spPr>
          <a:xfrm>
            <a:off x="566928" y="320040"/>
            <a:ext cx="13917168" cy="44805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2200" b="1">
                <a:solidFill>
                  <a:srgbClr val="1F344E"/>
                </a:solidFill>
                <a:latin typeface="Aptos"/>
              </a:rPr>
              <a:t>11  /  MANUFACTURER DOCUMENTS &amp; RELEASE CHECKS</a:t>
            </a:r>
          </a:p>
        </p:txBody>
      </p:sp>
      <p:sp>
        <p:nvSpPr>
          <p:cNvPr id="3" name="TEXT Clickable component docum"/>
          <p:cNvSpPr txBox="1"/>
          <p:nvPr/>
        </p:nvSpPr>
        <p:spPr>
          <a:xfrm>
            <a:off x="585216" y="886968"/>
            <a:ext cx="13752576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60" b="0">
                <a:solidFill>
                  <a:srgbClr val="607084"/>
                </a:solidFill>
                <a:latin typeface="Aptos"/>
              </a:rPr>
              <a:t>Clickable component documents are embedded inside each named component block throughout the PowerPoint.</a:t>
            </a:r>
          </a:p>
        </p:txBody>
      </p:sp>
      <p:sp>
        <p:nvSpPr>
          <p:cNvPr id="4" name="HEADER RULE"/>
          <p:cNvSpPr/>
          <p:nvPr/>
        </p:nvSpPr>
        <p:spPr>
          <a:xfrm>
            <a:off x="566928" y="1325880"/>
            <a:ext cx="13953744" cy="32004"/>
          </a:xfrm>
          <a:prstGeom prst="rect">
            <a:avLst/>
          </a:prstGeom>
          <a:solidFill>
            <a:srgbClr val="1D599B"/>
          </a:solidFill>
          <a:ln w="1270">
            <a:solidFill>
              <a:srgbClr val="1D5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COMPONENT REGISTER   /   "/>
          <p:cNvSpPr txBox="1"/>
          <p:nvPr/>
        </p:nvSpPr>
        <p:spPr>
          <a:xfrm>
            <a:off x="603504" y="1490472"/>
            <a:ext cx="13533120" cy="237744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010" b="1">
                <a:solidFill>
                  <a:srgbClr val="1D599B"/>
                </a:solidFill>
                <a:latin typeface="Aptos"/>
              </a:rPr>
              <a:t>COMPONENT REGISTER   /   TECHNICAL REVIEW</a:t>
            </a:r>
          </a:p>
        </p:txBody>
      </p:sp>
      <p:sp>
        <p:nvSpPr>
          <p:cNvPr id="6" name="ENGINEERING REVIEW NOTE"/>
          <p:cNvSpPr/>
          <p:nvPr/>
        </p:nvSpPr>
        <p:spPr>
          <a:xfrm>
            <a:off x="658368" y="8979408"/>
            <a:ext cx="13533120" cy="566928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9525">
            <a:solidFill>
              <a:srgbClr val="DAB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DESIGN REVIEW ONLY  |  Te"/>
          <p:cNvSpPr txBox="1"/>
          <p:nvPr/>
        </p:nvSpPr>
        <p:spPr>
          <a:xfrm>
            <a:off x="822960" y="9079992"/>
            <a:ext cx="13167360" cy="31089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94" b="1">
                <a:solidFill>
                  <a:srgbClr val="A35B1B"/>
                </a:solidFill>
                <a:latin typeface="Aptos"/>
              </a:rPr>
              <a:t>DESIGN REVIEW ONLY  |  Terminal references are proposed where physical hardware is unidentified. Not approved for wiring / energising.</a:t>
            </a:r>
          </a:p>
        </p:txBody>
      </p:sp>
      <p:sp>
        <p:nvSpPr>
          <p:cNvPr id="8" name="TEXT HEATING RATE CONTROLLER  "/>
          <p:cNvSpPr txBox="1"/>
          <p:nvPr/>
        </p:nvSpPr>
        <p:spPr>
          <a:xfrm>
            <a:off x="649224" y="9820656"/>
            <a:ext cx="117043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60" b="1">
                <a:solidFill>
                  <a:srgbClr val="607084"/>
                </a:solidFill>
                <a:latin typeface="Aptos"/>
              </a:rPr>
              <a:t>HEATING RATE CONTROLLER   /   D12 BLOCK + PORT SCHEMATICS   /   EDITABLE POWERPOINT</a:t>
            </a:r>
          </a:p>
        </p:txBody>
      </p:sp>
      <p:sp>
        <p:nvSpPr>
          <p:cNvPr id="9" name="TEXT SHEET 11"/>
          <p:cNvSpPr txBox="1"/>
          <p:nvPr/>
        </p:nvSpPr>
        <p:spPr>
          <a:xfrm>
            <a:off x="12984480" y="9820656"/>
            <a:ext cx="1188720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r"/>
            <a:r>
              <a:rPr sz="860" b="1">
                <a:solidFill>
                  <a:srgbClr val="607084"/>
                </a:solidFill>
                <a:latin typeface="Aptos"/>
              </a:rPr>
              <a:t>SHEET 11</a:t>
            </a:r>
          </a:p>
        </p:txBody>
      </p:sp>
      <p:sp>
        <p:nvSpPr>
          <p:cNvPr id="10" name="TEXT Manufacturer sources are "/>
          <p:cNvSpPr txBox="1"/>
          <p:nvPr/>
        </p:nvSpPr>
        <p:spPr>
          <a:xfrm>
            <a:off x="667512" y="9537192"/>
            <a:ext cx="13560552" cy="182880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35" b="0">
                <a:solidFill>
                  <a:srgbClr val="607084"/>
                </a:solidFill>
                <a:latin typeface="Aptos"/>
              </a:rPr>
              <a:t>Manufacturer sources are reference points, not proof that the integrated design has passed electrical safety review.</a:t>
            </a:r>
          </a:p>
        </p:txBody>
      </p:sp>
      <p:sp>
        <p:nvSpPr>
          <p:cNvPr id="11" name="COMPONENT REGISTER Schurter DD11.0111.1110"/>
          <p:cNvSpPr/>
          <p:nvPr/>
        </p:nvSpPr>
        <p:spPr>
          <a:xfrm>
            <a:off x="822960" y="1920240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Schurter DD11.0111.1110"/>
          <p:cNvSpPr txBox="1"/>
          <p:nvPr/>
        </p:nvSpPr>
        <p:spPr>
          <a:xfrm>
            <a:off x="960120" y="2011680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Schurter DD11.0111.1110</a:t>
            </a:r>
          </a:p>
        </p:txBody>
      </p:sp>
      <p:sp>
        <p:nvSpPr>
          <p:cNvPr id="13" name="TEXT Datasheet ↗"/>
          <p:cNvSpPr txBox="1"/>
          <p:nvPr/>
        </p:nvSpPr>
        <p:spPr>
          <a:xfrm>
            <a:off x="5806440" y="2011680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2"/>
              </a:rPr>
              <a:t>Datasheet ↗</a:t>
            </a:r>
          </a:p>
        </p:txBody>
      </p:sp>
      <p:sp>
        <p:nvSpPr>
          <p:cNvPr id="14" name="COMPONENT REGISTER Mean Well XDR-120E-24"/>
          <p:cNvSpPr/>
          <p:nvPr/>
        </p:nvSpPr>
        <p:spPr>
          <a:xfrm>
            <a:off x="7607808" y="1920240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Mean Well XDR-120E-24"/>
          <p:cNvSpPr txBox="1"/>
          <p:nvPr/>
        </p:nvSpPr>
        <p:spPr>
          <a:xfrm>
            <a:off x="7744968" y="2011680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Mean Well XDR-120E-24</a:t>
            </a:r>
          </a:p>
        </p:txBody>
      </p:sp>
      <p:sp>
        <p:nvSpPr>
          <p:cNvPr id="16" name="TEXT Datasheet ↗"/>
          <p:cNvSpPr txBox="1"/>
          <p:nvPr/>
        </p:nvSpPr>
        <p:spPr>
          <a:xfrm>
            <a:off x="12591288" y="2011680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3"/>
              </a:rPr>
              <a:t>Datasheet ↗</a:t>
            </a:r>
          </a:p>
        </p:txBody>
      </p:sp>
      <p:sp>
        <p:nvSpPr>
          <p:cNvPr id="17" name="COMPONENT REGISTER Schneider XB5AD23 ×2"/>
          <p:cNvSpPr/>
          <p:nvPr/>
        </p:nvSpPr>
        <p:spPr>
          <a:xfrm>
            <a:off x="822960" y="2587752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 Schneider XB5AD23 ×2"/>
          <p:cNvSpPr txBox="1"/>
          <p:nvPr/>
        </p:nvSpPr>
        <p:spPr>
          <a:xfrm>
            <a:off x="960120" y="2679192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Schneider XB5AD23 ×2</a:t>
            </a:r>
          </a:p>
        </p:txBody>
      </p:sp>
      <p:sp>
        <p:nvSpPr>
          <p:cNvPr id="19" name="TEXT Datasheet ↗"/>
          <p:cNvSpPr txBox="1"/>
          <p:nvPr/>
        </p:nvSpPr>
        <p:spPr>
          <a:xfrm>
            <a:off x="5806440" y="2679192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4"/>
              </a:rPr>
              <a:t>Datasheet ↗</a:t>
            </a:r>
          </a:p>
        </p:txBody>
      </p:sp>
      <p:sp>
        <p:nvSpPr>
          <p:cNvPr id="20" name="COMPONENT REGISTER Omron E5CC-TQX3A5M-000 / -003"/>
          <p:cNvSpPr/>
          <p:nvPr/>
        </p:nvSpPr>
        <p:spPr>
          <a:xfrm>
            <a:off x="7607808" y="2587752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Omron E5CC-TQX3A5M-000 / "/>
          <p:cNvSpPr txBox="1"/>
          <p:nvPr/>
        </p:nvSpPr>
        <p:spPr>
          <a:xfrm>
            <a:off x="7744968" y="2679192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Omron E5CC-TQX3A5M-000 / -003</a:t>
            </a:r>
          </a:p>
        </p:txBody>
      </p:sp>
      <p:sp>
        <p:nvSpPr>
          <p:cNvPr id="22" name="TEXT Datasheet ↗"/>
          <p:cNvSpPr txBox="1"/>
          <p:nvPr/>
        </p:nvSpPr>
        <p:spPr>
          <a:xfrm>
            <a:off x="12591288" y="2679192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5"/>
              </a:rPr>
              <a:t>Datasheet ↗</a:t>
            </a:r>
          </a:p>
        </p:txBody>
      </p:sp>
      <p:sp>
        <p:nvSpPr>
          <p:cNvPr id="23" name="COMPONENT REGISTER EAO 82-4151.1134 ×2"/>
          <p:cNvSpPr/>
          <p:nvPr/>
        </p:nvSpPr>
        <p:spPr>
          <a:xfrm>
            <a:off x="822960" y="3255264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 EAO 82-4151.1134 ×2"/>
          <p:cNvSpPr txBox="1"/>
          <p:nvPr/>
        </p:nvSpPr>
        <p:spPr>
          <a:xfrm>
            <a:off x="960120" y="3346704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EAO 82-4151.1134 ×2</a:t>
            </a:r>
          </a:p>
        </p:txBody>
      </p:sp>
      <p:sp>
        <p:nvSpPr>
          <p:cNvPr id="25" name="TEXT Datasheet ↗"/>
          <p:cNvSpPr txBox="1"/>
          <p:nvPr/>
        </p:nvSpPr>
        <p:spPr>
          <a:xfrm>
            <a:off x="5806440" y="3346704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6"/>
              </a:rPr>
              <a:t>Datasheet ↗</a:t>
            </a:r>
          </a:p>
        </p:txBody>
      </p:sp>
      <p:sp>
        <p:nvSpPr>
          <p:cNvPr id="26" name="COMPONENT REGISTER Finder 13.61.0.024.0000 ×2"/>
          <p:cNvSpPr/>
          <p:nvPr/>
        </p:nvSpPr>
        <p:spPr>
          <a:xfrm>
            <a:off x="7607808" y="3255264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Finder 13.61.0.024.0000 ×"/>
          <p:cNvSpPr txBox="1"/>
          <p:nvPr/>
        </p:nvSpPr>
        <p:spPr>
          <a:xfrm>
            <a:off x="7744968" y="3346704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Finder 13.61.0.024.0000 ×2</a:t>
            </a:r>
          </a:p>
        </p:txBody>
      </p:sp>
      <p:sp>
        <p:nvSpPr>
          <p:cNvPr id="28" name="TEXT Datasheet ↗"/>
          <p:cNvSpPr txBox="1"/>
          <p:nvPr/>
        </p:nvSpPr>
        <p:spPr>
          <a:xfrm>
            <a:off x="12591288" y="3346704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7"/>
              </a:rPr>
              <a:t>Datasheet ↗</a:t>
            </a:r>
          </a:p>
        </p:txBody>
      </p:sp>
      <p:sp>
        <p:nvSpPr>
          <p:cNvPr id="29" name="COMPONENT REGISTER Finder 62.31.9.024.4800 ×2"/>
          <p:cNvSpPr/>
          <p:nvPr/>
        </p:nvSpPr>
        <p:spPr>
          <a:xfrm>
            <a:off x="822960" y="3922776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 Finder 62.31.9.024.4800 ×"/>
          <p:cNvSpPr txBox="1"/>
          <p:nvPr/>
        </p:nvSpPr>
        <p:spPr>
          <a:xfrm>
            <a:off x="960120" y="4014215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Finder 62.31.9.024.4800 ×2</a:t>
            </a:r>
          </a:p>
        </p:txBody>
      </p:sp>
      <p:sp>
        <p:nvSpPr>
          <p:cNvPr id="31" name="TEXT Datasheet ↗"/>
          <p:cNvSpPr txBox="1"/>
          <p:nvPr/>
        </p:nvSpPr>
        <p:spPr>
          <a:xfrm>
            <a:off x="5806440" y="4014215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8"/>
              </a:rPr>
              <a:t>Datasheet ↗</a:t>
            </a:r>
          </a:p>
        </p:txBody>
      </p:sp>
      <p:sp>
        <p:nvSpPr>
          <p:cNvPr id="32" name="COMPONENT REGISTER Weidmüller 8950770000 ×2"/>
          <p:cNvSpPr/>
          <p:nvPr/>
        </p:nvSpPr>
        <p:spPr>
          <a:xfrm>
            <a:off x="7607808" y="3922776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 Weidmüller 8950770000 ×2"/>
          <p:cNvSpPr txBox="1"/>
          <p:nvPr/>
        </p:nvSpPr>
        <p:spPr>
          <a:xfrm>
            <a:off x="7744968" y="4014215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Weidmüller 8950770000 ×2</a:t>
            </a:r>
          </a:p>
        </p:txBody>
      </p:sp>
      <p:sp>
        <p:nvSpPr>
          <p:cNvPr id="34" name="TEXT Datasheet ↗"/>
          <p:cNvSpPr txBox="1"/>
          <p:nvPr/>
        </p:nvSpPr>
        <p:spPr>
          <a:xfrm>
            <a:off x="12591288" y="4014215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9"/>
              </a:rPr>
              <a:t>Datasheet ↗</a:t>
            </a:r>
          </a:p>
        </p:txBody>
      </p:sp>
      <p:sp>
        <p:nvSpPr>
          <p:cNvPr id="35" name="COMPONENT REGISTER Crydom DR2220D30U ×2"/>
          <p:cNvSpPr/>
          <p:nvPr/>
        </p:nvSpPr>
        <p:spPr>
          <a:xfrm>
            <a:off x="822960" y="4590288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 Crydom DR2220D30U ×2"/>
          <p:cNvSpPr txBox="1"/>
          <p:nvPr/>
        </p:nvSpPr>
        <p:spPr>
          <a:xfrm>
            <a:off x="960120" y="4681727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Crydom DR2220D30U ×2</a:t>
            </a:r>
          </a:p>
        </p:txBody>
      </p:sp>
      <p:sp>
        <p:nvSpPr>
          <p:cNvPr id="37" name="TEXT Datasheet ↗"/>
          <p:cNvSpPr txBox="1"/>
          <p:nvPr/>
        </p:nvSpPr>
        <p:spPr>
          <a:xfrm>
            <a:off x="5806440" y="4681727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10"/>
              </a:rPr>
              <a:t>Datasheet ↗</a:t>
            </a:r>
          </a:p>
        </p:txBody>
      </p:sp>
      <p:sp>
        <p:nvSpPr>
          <p:cNvPr id="38" name="COMPONENT REGISTER Lovato P1MB1PC16 ×2"/>
          <p:cNvSpPr/>
          <p:nvPr/>
        </p:nvSpPr>
        <p:spPr>
          <a:xfrm>
            <a:off x="7607808" y="4590288"/>
            <a:ext cx="6428232" cy="548640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9398">
            <a:solidFill>
              <a:srgbClr val="94A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 Lovato P1MB1PC16 ×2"/>
          <p:cNvSpPr txBox="1"/>
          <p:nvPr/>
        </p:nvSpPr>
        <p:spPr>
          <a:xfrm>
            <a:off x="7744968" y="4681727"/>
            <a:ext cx="461772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9" b="1">
                <a:solidFill>
                  <a:srgbClr val="1F344E"/>
                </a:solidFill>
                <a:latin typeface="Aptos"/>
              </a:rPr>
              <a:t>Lovato P1MB1PC16 ×2</a:t>
            </a:r>
          </a:p>
        </p:txBody>
      </p:sp>
      <p:sp>
        <p:nvSpPr>
          <p:cNvPr id="40" name="TEXT Datasheet ↗"/>
          <p:cNvSpPr txBox="1"/>
          <p:nvPr/>
        </p:nvSpPr>
        <p:spPr>
          <a:xfrm>
            <a:off x="12591288" y="4681727"/>
            <a:ext cx="1280160" cy="24688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10" b="0" u="sng">
                <a:solidFill>
                  <a:srgbClr val="1D599B"/>
                </a:solidFill>
                <a:latin typeface="Aptos"/>
                <a:hlinkClick r:id="rId11"/>
              </a:rPr>
              <a:t>Datasheet ↗</a:t>
            </a:r>
          </a:p>
        </p:txBody>
      </p:sp>
      <p:sp>
        <p:nvSpPr>
          <p:cNvPr id="41" name="TEXT REMAINING DESIGN-RELEASE "/>
          <p:cNvSpPr txBox="1"/>
          <p:nvPr/>
        </p:nvSpPr>
        <p:spPr>
          <a:xfrm>
            <a:off x="932688" y="5715000"/>
            <a:ext cx="1316736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1130" b="1">
                <a:solidFill>
                  <a:srgbClr val="1D599B"/>
                </a:solidFill>
                <a:latin typeface="Aptos"/>
              </a:rPr>
              <a:t>REMAINING DESIGN-RELEASE BLOCKERS</a:t>
            </a:r>
          </a:p>
        </p:txBody>
      </p:sp>
      <p:sp>
        <p:nvSpPr>
          <p:cNvPr id="42" name="COMPONENT"/>
          <p:cNvSpPr/>
          <p:nvPr/>
        </p:nvSpPr>
        <p:spPr>
          <a:xfrm>
            <a:off x="896112" y="6108192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 01"/>
          <p:cNvSpPr txBox="1"/>
          <p:nvPr/>
        </p:nvSpPr>
        <p:spPr>
          <a:xfrm>
            <a:off x="1078992" y="6181344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01</a:t>
            </a:r>
          </a:p>
        </p:txBody>
      </p:sp>
      <p:sp>
        <p:nvSpPr>
          <p:cNvPr id="44" name="TEXT Finder 13.61 must remain "/>
          <p:cNvSpPr txBox="1"/>
          <p:nvPr/>
        </p:nvSpPr>
        <p:spPr>
          <a:xfrm>
            <a:off x="1572768" y="6163055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Finder 13.61 must remain OFF after loss and restoration of 24 V; prove minimum interruption and button held states.</a:t>
            </a:r>
          </a:p>
        </p:txBody>
      </p:sp>
      <p:sp>
        <p:nvSpPr>
          <p:cNvPr id="45" name="COMPONENT"/>
          <p:cNvSpPr/>
          <p:nvPr/>
        </p:nvSpPr>
        <p:spPr>
          <a:xfrm>
            <a:off x="896112" y="6647688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 02"/>
          <p:cNvSpPr txBox="1"/>
          <p:nvPr/>
        </p:nvSpPr>
        <p:spPr>
          <a:xfrm>
            <a:off x="1078992" y="6720840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02</a:t>
            </a:r>
          </a:p>
        </p:txBody>
      </p:sp>
      <p:sp>
        <p:nvSpPr>
          <p:cNvPr id="47" name="TEXT Confirm physical X1–X4 bl"/>
          <p:cNvSpPr txBox="1"/>
          <p:nvPr/>
        </p:nvSpPr>
        <p:spPr>
          <a:xfrm>
            <a:off x="1572768" y="6702551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Confirm X1–X4 blocks, Schneider S1/S2 B-contact terminal stamps (23/24* IEC intended), J1 tabs and Finder 62.31 sockets.</a:t>
            </a:r>
          </a:p>
        </p:txBody>
      </p:sp>
      <p:sp>
        <p:nvSpPr>
          <p:cNvPr id="48" name="COMPONENT"/>
          <p:cNvSpPr/>
          <p:nvPr/>
        </p:nvSpPr>
        <p:spPr>
          <a:xfrm>
            <a:off x="896112" y="7187183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 03"/>
          <p:cNvSpPr txBox="1"/>
          <p:nvPr/>
        </p:nvSpPr>
        <p:spPr>
          <a:xfrm>
            <a:off x="1078992" y="7260336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03</a:t>
            </a:r>
          </a:p>
        </p:txBody>
      </p:sp>
      <p:sp>
        <p:nvSpPr>
          <p:cNvPr id="50" name="TEXT Verify 15 A DC continuity"/>
          <p:cNvSpPr txBox="1"/>
          <p:nvPr/>
        </p:nvSpPr>
        <p:spPr>
          <a:xfrm>
            <a:off x="1572768" y="7242047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Verify 15 A DC continuity ratings, breaker/source fault coordination, cable size and connector ratings.</a:t>
            </a:r>
          </a:p>
        </p:txBody>
      </p:sp>
      <p:sp>
        <p:nvSpPr>
          <p:cNvPr id="51" name="COMPONENT"/>
          <p:cNvSpPr/>
          <p:nvPr/>
        </p:nvSpPr>
        <p:spPr>
          <a:xfrm>
            <a:off x="896112" y="7726679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 04"/>
          <p:cNvSpPr txBox="1"/>
          <p:nvPr/>
        </p:nvSpPr>
        <p:spPr>
          <a:xfrm>
            <a:off x="1078992" y="7799831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04</a:t>
            </a:r>
          </a:p>
        </p:txBody>
      </p:sp>
      <p:sp>
        <p:nvSpPr>
          <p:cNvPr id="53" name="TEXT Validate SSR heat sink, W"/>
          <p:cNvSpPr txBox="1"/>
          <p:nvPr/>
        </p:nvSpPr>
        <p:spPr>
          <a:xfrm>
            <a:off x="1572768" y="7781544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Validate SSR heat sink, W1/W2 100 mA output (SSR+LED 35 mA max calculated), PE and emergency disconnection.</a:t>
            </a:r>
          </a:p>
        </p:txBody>
      </p:sp>
      <p:sp>
        <p:nvSpPr>
          <p:cNvPr id="54" name="COMPONENT"/>
          <p:cNvSpPr/>
          <p:nvPr/>
        </p:nvSpPr>
        <p:spPr>
          <a:xfrm>
            <a:off x="896112" y="8266175"/>
            <a:ext cx="13267944" cy="438912"/>
          </a:xfrm>
          <a:prstGeom prst="roundRect">
            <a:avLst>
              <a:gd name="adj" fmla="val 5500"/>
            </a:avLst>
          </a:prstGeom>
          <a:solidFill>
            <a:srgbClr val="FFF7E9"/>
          </a:solidFill>
          <a:ln w="8636">
            <a:solidFill>
              <a:srgbClr val="D3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 05"/>
          <p:cNvSpPr txBox="1"/>
          <p:nvPr/>
        </p:nvSpPr>
        <p:spPr>
          <a:xfrm>
            <a:off x="1078992" y="8339327"/>
            <a:ext cx="411480" cy="256032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960" b="1">
                <a:solidFill>
                  <a:srgbClr val="A35B1B"/>
                </a:solidFill>
                <a:latin typeface="Aptos"/>
              </a:rPr>
              <a:t>05</a:t>
            </a:r>
          </a:p>
        </p:txBody>
      </p:sp>
      <p:sp>
        <p:nvSpPr>
          <p:cNvPr id="56" name="TEXT Independent safety design"/>
          <p:cNvSpPr txBox="1"/>
          <p:nvPr/>
        </p:nvSpPr>
        <p:spPr>
          <a:xfrm>
            <a:off x="1572768" y="8321040"/>
            <a:ext cx="12271248" cy="310896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910" b="0">
                <a:solidFill>
                  <a:srgbClr val="1F344E"/>
                </a:solidFill>
                <a:latin typeface="Aptos"/>
              </a:rPr>
              <a:t>Independent safety design review and pre-energisation electrical/function tests by a suitably competent person.</a:t>
            </a:r>
          </a:p>
        </p:txBody>
      </p:sp>
      <p:sp>
        <p:nvSpPr>
          <p:cNvPr id="57" name="TEXT HL1/HL2 activity indicato"/>
          <p:cNvSpPr txBox="1"/>
          <p:nvPr/>
        </p:nvSpPr>
        <p:spPr>
          <a:xfrm>
            <a:off x="886968" y="5385816"/>
            <a:ext cx="13011912" cy="17373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>
                <a:solidFill>
                  <a:srgbClr val="A35B1B"/>
                </a:solidFill>
                <a:latin typeface="Aptos"/>
                <a:hlinkClick r:id="rId13"/>
              </a:rPr>
              <a:t>HL1/HL2 specified: RS PRO 130-1086 yellow LED, 24 V DC, max 20 mA, IP67; 14 mm mounting hole.</a:t>
            </a:r>
          </a:p>
        </p:txBody>
      </p:sp>
      <p:sp>
        <p:nvSpPr>
          <p:cNvPr id="58" name="TEXT Finder 92.03-series socke"/>
          <p:cNvSpPr txBox="1"/>
          <p:nvPr/>
        </p:nvSpPr>
        <p:spPr>
          <a:xfrm>
            <a:off x="886968" y="8732520"/>
            <a:ext cx="13011912" cy="173736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850" b="0" u="sng">
                <a:solidFill>
                  <a:srgbClr val="1D599B"/>
                </a:solidFill>
                <a:latin typeface="Aptos"/>
                <a:hlinkClick r:id="rId12"/>
              </a:rPr>
              <a:t>Finder 92.03-series socket datasheet (actual fitted socket still unverified) 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2826</Words>
  <Application>Microsoft Office PowerPoint</Application>
  <PresentationFormat>Custom</PresentationFormat>
  <Paragraphs>529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Heating controller | D7 mains aligned component borders</dc:title>
  <dc:subject>Fully editable circuit presentation | Design review, not for construction</dc:subject>
  <dc:creator>Bogdan Alecsa</dc:creator>
  <cp:keywords/>
  <dc:description>generated using python-pptx</dc:description>
  <cp:lastModifiedBy>Alecsa, Bogdan</cp:lastModifiedBy>
  <cp:revision>2</cp:revision>
  <dcterms:created xsi:type="dcterms:W3CDTF">2013-01-27T09:14:16Z</dcterms:created>
  <dcterms:modified xsi:type="dcterms:W3CDTF">2026-10-13T12:56:49Z</dcterms:modified>
  <cp:category/>
</cp:coreProperties>
</file>